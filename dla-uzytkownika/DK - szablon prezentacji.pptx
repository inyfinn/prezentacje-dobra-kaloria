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0"/>
  </p:notesMasterIdLst>
  <p:sldIdLst>
    <p:sldId id="297" r:id="rId19"/>
    <p:sldId id="298" r:id="rId20"/>
    <p:sldId id="299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  <p:sldId id="312" r:id="rId34"/>
    <p:sldId id="313" r:id="rId35"/>
    <p:sldId id="314" r:id="rId36"/>
    <p:sldId id="315" r:id="rId37"/>
    <p:sldId id="316" r:id="rId38"/>
    <p:sldId id="317" r:id="rId39"/>
    <p:sldId id="318" r:id="rId40"/>
    <p:sldId id="319" r:id="rId41"/>
    <p:sldId id="320" r:id="rId42"/>
    <p:sldId id="321" r:id="rId43"/>
    <p:sldId id="322" r:id="rId44"/>
    <p:sldId id="323" r:id="rId45"/>
    <p:sldId id="324" r:id="rId46"/>
    <p:sldId id="325" r:id="rId47"/>
    <p:sldId id="326" r:id="rId48"/>
    <p:sldId id="327" r:id="rId49"/>
    <p:sldId id="328" r:id="rId50"/>
    <p:sldId id="329" r:id="rId51"/>
    <p:sldId id="330" r:id="rId52"/>
    <p:sldId id="331" r:id="rId53"/>
    <p:sldId id="332" r:id="rId54"/>
    <p:sldId id="333" r:id="rId55"/>
    <p:sldId id="334" r:id="rId56"/>
    <p:sldId id="335" r:id="rId57"/>
    <p:sldId id="336" r:id="rId58"/>
    <p:sldId id="337" r:id="rId59"/>
    <p:sldId id="338" r:id="rId60"/>
    <p:sldId id="339" r:id="rId61"/>
    <p:sldId id="340" r:id="rId62"/>
    <p:sldId id="341" r:id="rId63"/>
    <p:sldId id="342" r:id="rId64"/>
    <p:sldId id="343" r:id="rId65"/>
    <p:sldId id="344" r:id="rId66"/>
    <p:sldId id="345" r:id="rId67"/>
    <p:sldId id="346" r:id="rId68"/>
    <p:sldId id="347" r:id="rId69"/>
    <p:sldId id="348" r:id="rId70"/>
    <p:sldId id="349" r:id="rId71"/>
    <p:sldId id="350" r:id="rId72"/>
    <p:sldId id="351" r:id="rId73"/>
    <p:sldId id="352" r:id="rId74"/>
    <p:sldId id="353" r:id="rId75"/>
    <p:sldId id="354" r:id="rId76"/>
    <p:sldId id="355" r:id="rId77"/>
    <p:sldId id="356" r:id="rId78"/>
    <p:sldId id="357" r:id="rId79"/>
    <p:sldId id="358" r:id="rId80"/>
    <p:sldId id="359" r:id="rId81"/>
    <p:sldId id="360" r:id="rId82"/>
    <p:sldId id="361" r:id="rId83"/>
  </p:sldIdLst>
  <p:sldSz cx="12192000" cy="6858000"/>
  <p:notesSz cx="6858000" cy="9144000"/>
  <p:embeddedFontLst>
    <p:embeddedFont>
      <p:font typeface="Mindset" panose="02000503000000000000" pitchFamily="50" charset="-18"/>
      <p:regular r:id="rId11"/>
    </p:embeddedFont>
    <p:embeddedFont>
      <p:font typeface="Mindset Slim" panose="02000503000000000000" pitchFamily="50" charset="-18"/>
      <p:regular r:id="rId12"/>
    </p:embeddedFont>
  </p:embeddedFontLst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521415D9-36F7-43E2-AB2F-B90AF26B5E84}">
      <p14:sectionLst xmlns:p14="http://schemas.microsoft.com/office/powerpoint/2010/main">
        <p14:section name="Instrukcja" id="{B36A32C1-069F-4FBE-8021-B391104639DC}">
          <p14:sldIdLst>
            <p14:sldId id="297"/>
            <p14:sldId id="298"/>
          </p14:sldIdLst>
        </p14:section>
        <p14:section name="Powitanie" id="{FED727DF-3C13-4D44-9620-E30228D92A59}">
          <p14:sldIdLst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Struktura i tekst" id="{B8D9D6EE-BC69-4B98-82FE-2ECB09A6B4AA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Tekst i grafika" id="{26948233-5451-485E-A61B-BB99401F3AD3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Produkt" id="{E54A5DB0-E377-41C4-ACCB-92BCFA2BD501}">
          <p14:sldIdLst>
            <p14:sldId id="326"/>
            <p14:sldId id="327"/>
            <p14:sldId id="328"/>
            <p14:sldId id="329"/>
            <p14:sldId id="330"/>
            <p14:sldId id="331"/>
            <p14:sldId id="332"/>
          </p14:sldIdLst>
        </p14:section>
        <p14:section name="Dane" id="{16E67F3C-93EB-4783-9372-23CB4197F61B}">
          <p14:sldIdLst>
            <p14:sldId id="333"/>
            <p14:sldId id="334"/>
            <p14:sldId id="335"/>
            <p14:sldId id="336"/>
            <p14:sldId id="337"/>
            <p14:sldId id="338"/>
            <p14:sldId id="339"/>
          </p14:sldIdLst>
        </p14:section>
        <p14:section name="Handel" id="{ABFCB1B2-FFD2-4359-8910-E456235E3E6E}">
          <p14:sldIdLst>
            <p14:sldId id="340"/>
            <p14:sldId id="341"/>
            <p14:sldId id="342"/>
            <p14:sldId id="343"/>
          </p14:sldIdLst>
        </p14:section>
        <p14:section name="Multimedia i specjalne" id="{CA7B3AB0-E403-45F3-B795-169041A0201E}">
          <p14:sldIdLst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</p14:sldIdLst>
        </p14:section>
        <p14:section name="Karty z konwersji" id="{26ABA3AC-2314-4A06-9A74-0D63E8483594}">
          <p14:sldIdLst>
            <p14:sldId id="355"/>
            <p14:sldId id="356"/>
            <p14:sldId id="357"/>
            <p14:sldId id="358"/>
            <p14:sldId id="359"/>
          </p14:sldIdLst>
        </p14:section>
        <p14:section name="Zakończenie" id="{56D4E3D5-5162-488B-A91B-8539B9FA664A}">
          <p14:sldIdLst>
            <p14:sldId id="360"/>
            <p14:sldId id="3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00"/>
    <a:srgbClr val="084C1D"/>
    <a:srgbClr val="109439"/>
    <a:srgbClr val="005900"/>
    <a:srgbClr val="15C54B"/>
    <a:srgbClr val="0C722C"/>
    <a:srgbClr val="0B6527"/>
    <a:srgbClr val="17CF50"/>
    <a:srgbClr val="0E782F"/>
    <a:srgbClr val="DDC7A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E0E5E7-940F-669D-B075-16C696C01920}" v="8" dt="2024-08-19T06:30:06.7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034" autoAdjust="0"/>
  </p:normalViewPr>
  <p:slideViewPr>
    <p:cSldViewPr snapToGrid="0" snapToObjects="1">
      <p:cViewPr varScale="1">
        <p:scale>
          <a:sx n="66" d="100"/>
          <a:sy n="66" d="100"/>
        </p:scale>
        <p:origin x="40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Relationship Id="rId49" Type="http://schemas.openxmlformats.org/officeDocument/2006/relationships/slide" Target="slides/slide31.xml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4" Type="http://schemas.openxmlformats.org/officeDocument/2006/relationships/slide" Target="slides/slide46.xml"/><Relationship Id="rId65" Type="http://schemas.openxmlformats.org/officeDocument/2006/relationships/slide" Target="slides/slide47.xml"/><Relationship Id="rId66" Type="http://schemas.openxmlformats.org/officeDocument/2006/relationships/slide" Target="slides/slide48.xml"/><Relationship Id="rId67" Type="http://schemas.openxmlformats.org/officeDocument/2006/relationships/slide" Target="slides/slide49.xml"/><Relationship Id="rId68" Type="http://schemas.openxmlformats.org/officeDocument/2006/relationships/slide" Target="slides/slide50.xml"/><Relationship Id="rId69" Type="http://schemas.openxmlformats.org/officeDocument/2006/relationships/slide" Target="slides/slide51.xml"/><Relationship Id="rId70" Type="http://schemas.openxmlformats.org/officeDocument/2006/relationships/slide" Target="slides/slide52.xml"/><Relationship Id="rId71" Type="http://schemas.openxmlformats.org/officeDocument/2006/relationships/slide" Target="slides/slide53.xml"/><Relationship Id="rId72" Type="http://schemas.openxmlformats.org/officeDocument/2006/relationships/slide" Target="slides/slide54.xml"/><Relationship Id="rId73" Type="http://schemas.openxmlformats.org/officeDocument/2006/relationships/slide" Target="slides/slide55.xml"/><Relationship Id="rId74" Type="http://schemas.openxmlformats.org/officeDocument/2006/relationships/slide" Target="slides/slide56.xml"/><Relationship Id="rId75" Type="http://schemas.openxmlformats.org/officeDocument/2006/relationships/slide" Target="slides/slide57.xml"/><Relationship Id="rId76" Type="http://schemas.openxmlformats.org/officeDocument/2006/relationships/slide" Target="slides/slide58.xml"/><Relationship Id="rId77" Type="http://schemas.openxmlformats.org/officeDocument/2006/relationships/slide" Target="slides/slide59.xml"/><Relationship Id="rId78" Type="http://schemas.openxmlformats.org/officeDocument/2006/relationships/slide" Target="slides/slide60.xml"/><Relationship Id="rId79" Type="http://schemas.openxmlformats.org/officeDocument/2006/relationships/slide" Target="slides/slide61.xml"/><Relationship Id="rId80" Type="http://schemas.openxmlformats.org/officeDocument/2006/relationships/slide" Target="slides/slide62.xml"/><Relationship Id="rId81" Type="http://schemas.openxmlformats.org/officeDocument/2006/relationships/slide" Target="slides/slide63.xml"/><Relationship Id="rId82" Type="http://schemas.openxmlformats.org/officeDocument/2006/relationships/slide" Target="slides/slide64.xml"/><Relationship Id="rId83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fia Pęczkowska" userId="S::zofia.peczkowska@kubara.net::5f1ad3d1-b666-4d7a-8780-8a91f97105a7" providerId="AD" clId="Web-{63E0E5E7-940F-669D-B075-16C696C01920}"/>
    <pc:docChg chg="modSld">
      <pc:chgData name="Zofia Pęczkowska" userId="S::zofia.peczkowska@kubara.net::5f1ad3d1-b666-4d7a-8780-8a91f97105a7" providerId="AD" clId="Web-{63E0E5E7-940F-669D-B075-16C696C01920}" dt="2024-08-19T06:30:06.752" v="3" actId="20577"/>
      <pc:docMkLst>
        <pc:docMk/>
      </pc:docMkLst>
      <pc:sldChg chg="modSp">
        <pc:chgData name="Zofia Pęczkowska" userId="S::zofia.peczkowska@kubara.net::5f1ad3d1-b666-4d7a-8780-8a91f97105a7" providerId="AD" clId="Web-{63E0E5E7-940F-669D-B075-16C696C01920}" dt="2024-08-19T06:30:06.752" v="3" actId="20577"/>
        <pc:sldMkLst>
          <pc:docMk/>
          <pc:sldMk cId="1373285483" sldId="294"/>
        </pc:sldMkLst>
        <pc:spChg chg="mod">
          <ac:chgData name="Zofia Pęczkowska" userId="S::zofia.peczkowska@kubara.net::5f1ad3d1-b666-4d7a-8780-8a91f97105a7" providerId="AD" clId="Web-{63E0E5E7-940F-669D-B075-16C696C01920}" dt="2024-08-19T06:30:06.752" v="3" actId="20577"/>
          <ac:spMkLst>
            <pc:docMk/>
            <pc:sldMk cId="1373285483" sldId="294"/>
            <ac:spMk id="11" creationId="{63E33206-185F-B9AF-3C8A-9B3976D9B386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Udział</c:v>
                </c:pt>
              </c:strCache>
            </c:strRef>
          </c:tx>
          <c:dPt>
            <c:idx val="0"/>
            <c:spPr>
              <a:solidFill>
                <a:schemeClr val="accent1"/>
              </a:solidFill>
              <a:ln>
                <a:noFill/>
              </a:ln>
            </c:spPr>
          </c:dPt>
          <c:dPt>
            <c:idx val="1"/>
            <c:spPr>
              <a:solidFill>
                <a:schemeClr val="accent5"/>
              </a:solidFill>
              <a:ln>
                <a:noFill/>
              </a:ln>
            </c:spPr>
          </c:dPt>
          <c:dPt>
            <c:idx val="2"/>
            <c:spPr>
              <a:solidFill>
                <a:schemeClr val="accent5">
                  <a:lumMod val="70000"/>
                </a:schemeClr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[Kategoria 1]</c:v>
                </c:pt>
                <c:pt idx="1">
                  <c:v>[Kategoria 2]</c:v>
                </c:pt>
                <c:pt idx="2">
                  <c:v>[Kategoria 3]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chemeClr val="accent5">
              <a:lumMod val="70000"/>
            </a:schemeClr>
          </a:solidFill>
          <a:latin typeface="La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[Seria]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[Mies. 1]</c:v>
                </c:pt>
                <c:pt idx="1">
                  <c:v>[Mies. 2]</c:v>
                </c:pt>
                <c:pt idx="2">
                  <c:v>[Mies. 3]</c:v>
                </c:pt>
                <c:pt idx="3">
                  <c:v>[Mies. 4]</c:v>
                </c:pt>
                <c:pt idx="4">
                  <c:v>[Mies. 5]</c:v>
                </c:pt>
                <c:pt idx="5">
                  <c:v>[Mies. 6]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28</c:v>
                </c:pt>
                <c:pt idx="2">
                  <c:v>35</c:v>
                </c:pt>
                <c:pt idx="3">
                  <c:v>41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chemeClr val="accent5">
              <a:lumMod val="70000"/>
            </a:schemeClr>
          </a:solidFill>
          <a:latin typeface="La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48031-D91F-405C-98BF-B6896DD6FD5A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6FF193-BD7D-4658-B8C7-D067F9A48DD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05682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Instrukcja szablonu - slajd UKRYTY (nie pokazuje się w pokazie). Usuń go przed wysłaniem.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Instrukcja cz. 2: film z zaokrąglonymi rogami i nazwy obiektów - slajd UKRYTY. Usuń go przed wysłaniem.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Z PRODUKTEM, wariant 4 (wzór z 29.09): duże logo na zieleni, 'NOWOŚĆ' i nazwa zielonym i czarnym Mindsetem, pod spodem cała linia (3 paczki). Najlepsze wejście dla nowej linii smaków.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Z PRODUKTEM, wariant 1: paczka na granicy zieleni i tła. Najmocniejsze wejście dla nowości. Podmień packshot (prawy klik &gt; Zmień obraz) i elementy smaku.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Z PRODUKTEM, wariant 2: tytuł biały na zieleni, paczka po jasnej stronie. Dobre do prezentacji dla sieci handlowej.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Z PRODUKTEM, wariant 3: klasyczny podział 50/50 jak dawny wzór (duże logo na środku zieleni). Najbezpieczniejszy wybór.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BEZ PRODUKTU, wariant 1: podział 50/50 z logo. Spotkania, raporty, prezentacje firmowe.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BEZ PRODUKTU, wariant 2: cała zieleń marki, duży biały tytuł, drobne owoce przy krawędzi. Na otwarcie konferencji, szkolenia, eventu.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Powitanie BEZ PRODUKTU, wariant 3: jasne tło, zielony pas z logo, bardzo duży tytuł. Raporty, podsumowania kwartału, prezentacje wewnętrzne.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/ spis treści: 3-8 punktów. Od 5 punktów układ sam dzieli się na dwie kolumny.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Przerywnik rozdziału - ciemny. Rozdziela główne części prezentacji; daje oddech między slajdami z treścią.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Przerywnik rozdziału - jasny z dużym numerem. Alternatywa dla ciemnego; nie używaj obu naprzemiennie.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Wstęp: duży akapit otwierający (2-3 zdania) + trzy krótkie rozwinięcia. Na początek prezentacji albo rozdziału.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Tekst krótki: jedno zdanie-hasło na środku slajdu. Do mocnej tezy, wniosku albo cytatu z badania.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Tekst długi: dwie kolumny akapitów, maksymalnie ok. 180 słów. Opis rynku, historii, strategii.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AKAPIT W KARCIE (wzór z 29.09, 'Dlaczego warto dbać o błonnik'): tytuł-pytanie i 1-3 akapity edukacyjne w kremowej karcie, drobne owoce przy krawędziach. Tekst sam się zmniejszy, gdy nie zmieści się w karcie.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Punkty: 3-6 haseł z krótkim rozwinięciem. Klasyczna lista zalet, warunków, ustaleń.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Punkty + zdjęcie po prawej. Gdy lista potrzebuje kontekstu wizualnego (np. półka, event).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Kroki / proces: 3-5 etapów w kolejności (wdrożenie, zamówienie, kampania).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Cytat / opinia: klient, partner, konsument, influencer. Zawsze z autorem.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Dwie kolumny - porównanie: 'dziś' kontra 'nasza propozycja'. Prawa kolumna jest wyróżniona.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Tekst po lewej, ZDJĘCIE po prawej (do krawędzi). Opis produktu, kampanii, eventu.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ZDJĘCIE po lewej, tekst po prawej. Lustrzane odbicie poprzedniego - używaj na zmianę dla rytmu.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Tekst po lewej, PRODUKT po prawej (na kremowym tle z drobnymi elementami smaku).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zalet z ikonami + ZDJĘCIE w zaokrąglonej karcie (jak 'Lecimy w kulki!' w sklepie). 3-4 pozycje; ikony z assets/icons (Lucide).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Tylko grafika: zdjęcie na cały slajd + karta z podpisem. Kadr z kampanii, półka w sklepie,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Tylko grafika bez podpisu. Na zdjęcie, które mówi samo za siebie.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Galeria 3 zdjęć z podpisami (półki, POS, materiały).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Galeria 6 zdjęć (2 x 3): relacja z eventu, materiały od twórców, zdjęcia ekspozycji.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Anatomia produktu: paczka w centrum, 4 claimy wokół. Główny slajd produktowy.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zalet z ikonami + PRODUKT w kremowej karcie (styl sklepu). Najlepszy slajd 'dlaczego ten produkt' - claimy z karty wprowadzenia, każdy z ikoną.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Siatka ikon (jak 'Skład produktu' w sklepie): 3-6 cech z ikoną, zielonym nagłówkiem i opisem. Skład, oświadczenia żywieniowe, wartości marki.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Karta smaku: jeden smak na slajd - nazwa, opis z karty, 3 twarde dane, EAN. Tło w odcieniu smaku (kolor wpisany na stałe, nie z motywu).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Linia produktów / portfolio: 2-4 SKU obok siebie - packshot, nazwa, metka z gramaturą (bez znaczków i opisów, jak w wersji z 29.09). Znaczek NOWOŚĆ / opis dodasz w specu polami badge /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Wartości odżywcze: packshot + tabela 100 g / opakowanie przepisana z karty wprowadzenia.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Zalety jako zielone kafle (jak sekcja 'Zalety naszych produktów' w sklepie). 3-4 claimy z obrazkiem.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Liczba-bohater: jedna duża liczba + opis + 1-2 liczby pomocnicze. Najważniejszy wynik.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KPI: 3-4 wskaźniki obok siebie. Jeden można wyróżnić (highlight).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Wykres słupkowy poziomy: 3-7 pozycji. Długość słupka zmienisz szerokością kształtu; liczba to tekst.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Dwie grupy obok siebie (segmenty, kanały, regiony), w każdej 2-4 wyniki.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kontra B jednym paskiem: preferencja, udział, podział głosów. Długość paska zmienisz ręcznie.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Tabela: asortyment, cennik, indeksy. Liczby same wyrównują się do prawej.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Oś czasu: 3-6 etapów (wprowadzenie produktu, plan kampanii). Wypełnione kółko = bieżący etap.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Argumenty dla handlu: 3-4 powody, żeby wprowadzić produkt. Pierwsza karta wyróżniona.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Logistyka / fakty: siatka 4-8 kart wartość + etykieta (karton, paleta, termin, przechowywanie).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Karty ze zdjęciem: wsparcie marketingowe, materiały POS, kanały komunikacji.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Osoba kontaktowa: zdjęcie, imię, rola, telefon, e-mail. Na koniec spotkania handlowego.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FILM na cały slajd: spot, film produktowy, relacja z eventu. W pokazie film odtworzy się po kliknięciu. Wstaw: Wstawianie &gt; Wideo &gt; To urządzenie, rozciągnij na cały slajd, usuń przykładową miniaturę. Film z YouTube: prawy klik &gt; Edytuj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+ FILM (wzór z 29.09, 'Co dobrego w kreatynie'): po lewej element produktu, zielony claim i opis; po prawej tytuł i film YouTube (zaokrąglona miniatura, play, podpis) - w pokazie klik otwiera film. Swój film: prawy klik &gt; Edytuj link na miniaturze, przycisku i podpisie; miniatura: Zmień obraz.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FILM + TEKST: film 16:9 w zaokrąglonej ramce po prawej, opis i punkty po lewej. Gdy film trzeba skomentować (kampania, proces produkcji, reklama). Swój film: Edytuj link (YouTube) albo wstaw mp4 i Malarz formatów z miniatury na film - rogi się przeniosą.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PRZED / PO: dwa zdjęcia obok siebie (półka przed i po wprowadzeniu, stare i nowe opakowanie, ekspozycja). Znaczki 'Przed' / 'Po' możesz przepisać.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Wykres PIERŚCIENIOWY (udział, struktura sprzedaży, podział grupy). EDYTOWALNY: prawy klik na wykresie &gt; Edytuj dane. Liczbę w środku wpisz ręcznie.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Wykres KOLUMNOWY - trend w czasie (sprzedaż, dystrybucja, zasięg). EDYTOWALNY: prawy klik &gt; Edytuj dane - wpisz swoje miesiące i wartości.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CENA I MARŻA dla handlu: produkt, rekomendowana cena detaliczna w metce, 4 karty warunków.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PORÓWNANIE z konkurencją / innymi produktami: cechy w wierszach, ✓ lub ✗. Pierwsza kolumna (nasz produkt) jest wyróżniona. Ikonę ✓/✗ zmienisz kopiując z innej komórki.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OKAZJE SPOŻYCIA / momenty dnia: kiedy i po co sięgnąć po produkt (4 momenty z ikonami).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 MEDIA: 3 telefony z postami / reelsami kampanii; pod każdym kanał i wynik. Zrzuty ekranu podmień: prawy klik &gt; Zmień obraz.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NASTĘPNE KROKI: checklista ustaleń po spotkaniu - zadanie, kto, termin. Zaznaczony kwadrat = zrobione (skopiuj ikonę z pierwszego wiersza).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DWIE KARTY: dobra / zła wiadomość (albo dwie strony jednej sprawy). Każda karta: nagłówek (zieleń albo czerwień) i jedno zdanie pod nim. Automat używa tego wzoru, gdy stary slajd ma dwie krótkie myśli typu 'Dobra wiadomość - ... / Zła wiadomość - ...'.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CYTAT + WNIOSEK: cytat z autorem (kursywa, linia marki), pod nim karta z 2-3 wyśrodkowanymi hasłami. Słowa w kolorze zostają kolorem także w cytacie.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AKAPIT W KARCIE Z WYRÓŻNIENIEM: 1-3 akapity Lato w kremowej karcie; 2-3 najważniejsze słowa w kolorze (czerwień = akcent, zieleń = marka). Dla tekstu, który musi zostać zdaniami, nie hasłami.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TRZY FAKTY W KARTACH: trzy równe karty, w każdej jedno zdanie Lato z liczbą w środku zdania (liczba nie wychodzi do osobnego kafla). Pod kartami wniosek jednym hasłem.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ZRZUTY W CAŁOŚCI + WNIOSEK: dwa obrazy bez kadrowania (zrzuty ekranu, wykresy) i pod nimi jedno zdanie Mindsetem w zieleni. Źródło zostaje drobnym drukiem w stopce.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Zakończenie: zieleń marki, logo, #zawszedobra. Standardowy ostatni slajd.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Zakończenie z podziękowaniem i kontaktem. Gdy chcesz zostawić dane na ekranie podczas rozmowy.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FF5DE4-334F-104E-8748-D8808A090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1E5CAFF-2E0A-C846-8224-042C7BDCD3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6C83C6D-E05E-2B44-B94F-C52AF398C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6F8BB67-9AD4-0E46-9C12-8B7397FDC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101461B-2B64-814F-9896-D805EC50F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4078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08DEA18-2296-C249-8013-0D5450FB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56F0467-CCF4-1143-B465-785D66BF5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168C02F-6AF6-C249-8636-0C0A2C706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172FADE-1F3B-B642-BDA0-AC9E28AA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3AEA7E4-71D5-FB49-8E38-E0F88BADA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146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33D3DBE-649E-5345-80E4-84E25688B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891EC82-2D6D-E54A-8337-42EC0D0BF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97CE667-4275-0547-8711-E21E09D25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1AA827D-4BD1-4749-B65A-BC134A8B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C54238D-3DEB-F84F-83CF-B37358949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9391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C916C13-C482-824D-ABE7-4A127533A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1A57628-28A5-8A4A-9F5E-7DAAC04125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561B881-917D-554F-8E61-6C7EAD4D30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AA003C7-854B-2D40-8355-D3E47000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FDD7DA7-339A-E74D-871F-C8986DFB2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982A2852-C75B-F740-A905-AE691D0E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7365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A25790-BEA7-534C-9F11-28E13E985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FAC673F-FBB7-CC40-BAAE-52CF62ECF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14F7F8A-958C-F945-8BB3-D66AE11C14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B8B8B698-9334-0F40-B843-5D4120F54F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6DEED91-A0FB-5B44-8011-6725E912E3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C36B2015-4A90-A44B-8239-988DFAFA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1F2DF1C8-EC8A-CA46-B6C6-1857BB8CF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81C97D6-DD50-3C46-8BD8-ED205256D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7183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AC9462-CA52-A147-9D8E-A134C705B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A788C4FF-4EE6-924D-90A2-A62164E35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212624C0-E2A3-E649-8B66-AD7A5BCA3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3A4366D-4F0B-D840-997E-7F3ABAD58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4987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0D5BC7D6-E51C-1845-96CE-4245604DD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1F236E2-9FA9-A54D-8C27-C938B8A2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2837DF6-F366-8A4E-B88A-5B6F6C545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71543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65B18F-C37F-8A46-9F9F-70932CE1B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12762BC-FD45-864C-94AE-7B7292F06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09DE795B-346A-3B4A-A47C-805740D008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DAEE128-E0AB-8C42-B6C7-991995503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EC7C72C6-B265-FE49-87AB-637EA5547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4E58606-F3A0-D04E-AD06-B47003B94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26399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17F29E7-51EC-7C41-948C-94F0E389C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586EB119-017E-8844-9B3D-655676FB2E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E6A955C6-8BDC-154C-B01D-9DDF0DBE9F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D029FFF-44BF-8B48-87EB-E27D5F9CA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1F8ECFC-50E4-514C-97A0-A5DF4F584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14D2A04-F9F0-494E-AB99-679881FF2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108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3ADC12C-F1DF-3C44-88C1-B3647BF5C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5C5E7B6-277E-BF42-A345-BD57430472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4BB8F5A-CC41-9C4D-8325-92E4C0B97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6EC3F84-5D4A-C14C-933B-3A0B97195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6E7ADD1-94FF-1D46-866F-9FF7286A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6123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B0CCA20E-1BD2-2647-8EE0-C0BA2AF642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6AFFD6B8-C2B2-4949-80ED-39EB21B74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E849772-1BBA-DD41-8899-C43A89EB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2CD7936-25F9-6649-90BD-F39B500F8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E660F08-9E17-2D4A-B7F7-1C5ABF4A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6583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266F0450-1CC2-5E49-872E-2C6C99E48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39560FD-C154-7A4B-A069-F4FE9EA54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79F65ED-5814-5E4E-A7F8-552BCE9A5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ED52E5-11DB-CA46-8351-A203D1848BF8}" type="datetimeFigureOut">
              <a:rPr lang="pl-PL" smtClean="0"/>
              <a:t>10.08.2026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2C7400-6542-DD41-96A0-8689034A3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96455DE-5EC8-DB48-BA61-4F2D0CC95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7569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8.png"/><Relationship Id="rId4" Type="http://schemas.openxmlformats.org/officeDocument/2006/relationships/image" Target="../media/image14.png"/><Relationship Id="rId5" Type="http://schemas.openxmlformats.org/officeDocument/2006/relationships/image" Target="../media/image19.png"/><Relationship Id="rId6" Type="http://schemas.openxmlformats.org/officeDocument/2006/relationships/image" Target="../media/image15.png"/><Relationship Id="rId7" Type="http://schemas.openxmlformats.org/officeDocument/2006/relationships/image" Target="../media/image32.png"/><Relationship Id="rId8" Type="http://schemas.openxmlformats.org/officeDocument/2006/relationships/image" Target="../media/image26.png"/><Relationship Id="rId9" Type="http://schemas.openxmlformats.org/officeDocument/2006/relationships/image" Target="../media/image33.png"/><Relationship Id="rId10" Type="http://schemas.openxmlformats.org/officeDocument/2006/relationships/image" Target="../media/image25.png"/><Relationship Id="rId11" Type="http://schemas.openxmlformats.org/officeDocument/2006/relationships/notesSlide" Target="../notesSlides/notes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23.png"/><Relationship Id="rId7" Type="http://schemas.openxmlformats.org/officeDocument/2006/relationships/image" Target="../media/image32.png"/><Relationship Id="rId8" Type="http://schemas.openxmlformats.org/officeDocument/2006/relationships/image" Target="../media/image26.png"/><Relationship Id="rId9" Type="http://schemas.openxmlformats.org/officeDocument/2006/relationships/image" Target="../media/image33.png"/><Relationship Id="rId10" Type="http://schemas.openxmlformats.org/officeDocument/2006/relationships/image" Target="../media/image25.png"/><Relationship Id="rId11" Type="http://schemas.openxmlformats.org/officeDocument/2006/relationships/notesSlide" Target="../notesSlides/notes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notesSlide" Target="../notesSlides/notes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40.png"/><Relationship Id="rId7" Type="http://schemas.openxmlformats.org/officeDocument/2006/relationships/image" Target="../media/image18.png"/><Relationship Id="rId8" Type="http://schemas.openxmlformats.org/officeDocument/2006/relationships/image" Target="../media/image14.png"/><Relationship Id="rId9" Type="http://schemas.openxmlformats.org/officeDocument/2006/relationships/image" Target="../media/image19.png"/><Relationship Id="rId10" Type="http://schemas.openxmlformats.org/officeDocument/2006/relationships/image" Target="../media/image13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notesSlide" Target="../notesSlides/notes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8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8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3.jpg"/><Relationship Id="rId3" Type="http://schemas.openxmlformats.org/officeDocument/2006/relationships/hyperlink" Target="https://www.youtube.com/watch?v=Jk7RAkFN4vk" TargetMode="External"/><Relationship Id="rId4" Type="http://schemas.openxmlformats.org/officeDocument/2006/relationships/notesSlide" Target="../notesSlides/notes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43.jpg"/><Relationship Id="rId5" Type="http://schemas.openxmlformats.org/officeDocument/2006/relationships/hyperlink" Target="https://www.youtube.com/watch?v=Jk7RAkFN4vk" TargetMode="External"/><Relationship Id="rId6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3.jpg"/><Relationship Id="rId4" Type="http://schemas.openxmlformats.org/officeDocument/2006/relationships/hyperlink" Target="https://www.youtube.com/watch?v=Jk7RAkFN4vk" TargetMode="External"/><Relationship Id="rId5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notesSlide" Target="../notesSlides/notes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8.png"/><Relationship Id="rId4" Type="http://schemas.openxmlformats.org/officeDocument/2006/relationships/image" Target="../media/image32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notesSlide" Target="../notesSlides/notes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51.png"/><Relationship Id="rId4" Type="http://schemas.openxmlformats.org/officeDocument/2006/relationships/notesSlide" Target="../notesSlides/notes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SZABLON DOBRA KALORIA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Jak korzystać z szablonu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01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Jak korzystać z szablonu"/>
          <p:cNvSpPr txBox="1"/>
          <p:nvPr/>
        </p:nvSpPr>
        <p:spPr>
          <a:xfrm>
            <a:off x="1152000" y="19440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Jak korzystać z szablonu</a:t>
            </a:r>
          </a:p>
        </p:txBody>
      </p:sp>
      <p:sp>
        <p:nvSpPr>
          <p:cNvPr id="8" name="Tekst: Wybierz slajd pasujący do treści, skopiu"/>
          <p:cNvSpPr txBox="1"/>
          <p:nvPr/>
        </p:nvSpPr>
        <p:spPr>
          <a:xfrm>
            <a:off x="1152000" y="2214000"/>
            <a:ext cx="4476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Wybierz slajd pasujący do treści, skopiuj go (Ctrl+C, Ctrl+V w panelu slajdów) i podmień teksty. Żółta karteczka po prawej stronie slajdu opisuje, do czego slajd służy - jest poza kadrem, więc nie widać jej w pokazie. Ten sam opis jest w notatkach.</a:t>
            </a:r>
          </a:p>
        </p:txBody>
      </p:sp>
      <p:sp>
        <p:nvSpPr>
          <p:cNvPr id="9" name="Tekst: Zdjęcia i packshoty"/>
          <p:cNvSpPr txBox="1"/>
          <p:nvPr/>
        </p:nvSpPr>
        <p:spPr>
          <a:xfrm>
            <a:off x="1152000" y="34735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Zdjęcia i packshoty</a:t>
            </a:r>
          </a:p>
        </p:txBody>
      </p:sp>
      <p:sp>
        <p:nvSpPr>
          <p:cNvPr id="10" name="Tekst: Kliknij obraz prawym przyciskiem &gt; Zmień"/>
          <p:cNvSpPr txBox="1"/>
          <p:nvPr/>
        </p:nvSpPr>
        <p:spPr>
          <a:xfrm>
            <a:off x="1152000" y="3743500"/>
            <a:ext cx="4476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Kliknij obraz prawym przyciskiem &gt; Zmień obraz &gt; Z pliku.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Packshoty tylko PNG bez tła. Drobne elementy smaku (owoce, kulki) bierz z biblioteki marki: 99 - WYMIANA &gt; Materiały - Dobra kaloria - Brand - elementy &gt; Liście i owoce - warzywa.</a:t>
            </a:r>
          </a:p>
        </p:txBody>
      </p:sp>
      <p:sp>
        <p:nvSpPr>
          <p:cNvPr id="11" name="Tekst: Kolory globalnie"/>
          <p:cNvSpPr txBox="1"/>
          <p:nvPr/>
        </p:nvSpPr>
        <p:spPr>
          <a:xfrm>
            <a:off x="1152000" y="50030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Kolory globalnie</a:t>
            </a:r>
          </a:p>
        </p:txBody>
      </p:sp>
      <p:sp>
        <p:nvSpPr>
          <p:cNvPr id="12" name="Tekst: Projektowanie &gt; Warianty &gt; strzałka &gt; Ko"/>
          <p:cNvSpPr txBox="1"/>
          <p:nvPr/>
        </p:nvSpPr>
        <p:spPr>
          <a:xfrm>
            <a:off x="1152000" y="5273000"/>
            <a:ext cx="4476000" cy="86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Projektowanie &gt; Warianty &gt; strzałka &gt; Kolory &gt; Dostosuj kolory. Akcent 1 = zieleń marki, Akcent 2 = kolor produktu, Akcent 3 = karty, Akcent 5 = beż etykiet i opisów (AD8767), Akcent 6 = żółty. Zmiana przemaluje całą prezentację.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6276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Czcionki globalnie"/>
          <p:cNvSpPr txBox="1"/>
          <p:nvPr/>
        </p:nvSpPr>
        <p:spPr>
          <a:xfrm>
            <a:off x="6564000" y="19440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Czcionki globalnie</a:t>
            </a:r>
          </a:p>
        </p:txBody>
      </p:sp>
      <p:sp>
        <p:nvSpPr>
          <p:cNvPr id="15" name="Tekst: Projektowanie &gt; Warianty &gt; Czcionki. Nag"/>
          <p:cNvSpPr txBox="1"/>
          <p:nvPr/>
        </p:nvSpPr>
        <p:spPr>
          <a:xfrm>
            <a:off x="6564000" y="2214000"/>
            <a:ext cx="4476000" cy="6477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Projektowanie &gt; Warianty &gt; Czcionki. Nagłówki: Mindset, treść: Lato. Nie zmieniaj czcionki ręcznie na pojedynczych slajdach - wtedy zmiana globalna przestaje działać.</a:t>
            </a:r>
          </a:p>
        </p:txBody>
      </p:sp>
      <p:sp>
        <p:nvSpPr>
          <p:cNvPr id="16" name="Tekst: Teksty w nawiasach"/>
          <p:cNvSpPr txBox="1"/>
          <p:nvPr/>
        </p:nvSpPr>
        <p:spPr>
          <a:xfrm>
            <a:off x="6564000" y="30417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Teksty w nawiasach</a:t>
            </a:r>
          </a:p>
        </p:txBody>
      </p:sp>
      <p:sp>
        <p:nvSpPr>
          <p:cNvPr id="17" name="Tekst: Każdy tekst w [nawiasach kwadratowych] t"/>
          <p:cNvSpPr txBox="1"/>
          <p:nvPr/>
        </p:nvSpPr>
        <p:spPr>
          <a:xfrm>
            <a:off x="6564000" y="3311700"/>
            <a:ext cx="4476000" cy="86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Każdy tekst w [nawiasach kwadratowych] to podpowiedź: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zaznacz go razem z nawiasami i wpisz swoją treść. Tytuł slajdu = wniosek, nie temat. Szablon nie ma animacji - niczego nie trzeba ustawiać.</a:t>
            </a:r>
          </a:p>
        </p:txBody>
      </p:sp>
      <p:sp>
        <p:nvSpPr>
          <p:cNvPr id="18" name="Tekst: Zasady treści"/>
          <p:cNvSpPr txBox="1"/>
          <p:nvPr/>
        </p:nvSpPr>
        <p:spPr>
          <a:xfrm>
            <a:off x="6564000" y="43553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Zasady treści</a:t>
            </a:r>
          </a:p>
        </p:txBody>
      </p:sp>
      <p:sp>
        <p:nvSpPr>
          <p:cNvPr id="19" name="Tekst: Jeden slajd = jedna myśl. Tytuł mówi wni"/>
          <p:cNvSpPr txBox="1"/>
          <p:nvPr/>
        </p:nvSpPr>
        <p:spPr>
          <a:xfrm>
            <a:off x="6564000" y="4625300"/>
            <a:ext cx="4476000" cy="86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Jeden slajd = jedna myśl. Tytuł mówi wniosek, nie temat.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Każda liczba ma źródło w stopce. Claimy produktowe tylko z karty wprowadzenia. Przed wysłaniem na zewnątrz usuń slajdy nieużywane i ten slajd.</a:t>
            </a:r>
          </a:p>
        </p:txBody>
      </p: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SLAJD 0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01 -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Instrukcja szablonu - slajd UKRYTY (nie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Instrukcja szablonu - slajd UKRYTY (nie pokazuje się w pokazie). Usuń go przed wysłaniem.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SZABLON DOBRA KALORIA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Film i łatwa edycja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02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Film z YouTube"/>
          <p:cNvSpPr txBox="1"/>
          <p:nvPr/>
        </p:nvSpPr>
        <p:spPr>
          <a:xfrm>
            <a:off x="1152000" y="19440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Film z YouTube</a:t>
            </a:r>
          </a:p>
        </p:txBody>
      </p:sp>
      <p:sp>
        <p:nvSpPr>
          <p:cNvPr id="8" name="Tekst: Film to zaokrąglona miniatura z przycisk"/>
          <p:cNvSpPr txBox="1"/>
          <p:nvPr/>
        </p:nvSpPr>
        <p:spPr>
          <a:xfrm>
            <a:off x="1152000" y="2214000"/>
            <a:ext cx="4476000" cy="172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Film to zaokrąglona miniatura z przyciskiem play i podpisem 'Kliknij - film otworzy się na YouTube'. W pokazie jedno kliknięcie otwiera film w przeglądarce (w edycji: Ctrl + klik).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Swój film: prawy klik na miniaturze &gt; Edytuj link &gt; wklej adres; to samo na przycisku i podpisie. Nowa miniatura: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prawy klik &gt; Zmień obraz (rogi zostają). Wideo wstawione jako 'Wideo online' NIE działa - YouTube blokuje je w PowerPoincie (błąd 153).</a:t>
            </a:r>
          </a:p>
        </p:txBody>
      </p:sp>
      <p:sp>
        <p:nvSpPr>
          <p:cNvPr id="9" name="Tekst: Własny plik mp4"/>
          <p:cNvSpPr txBox="1"/>
          <p:nvPr/>
        </p:nvSpPr>
        <p:spPr>
          <a:xfrm>
            <a:off x="1152000" y="41212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Własny plik mp4</a:t>
            </a:r>
          </a:p>
        </p:txBody>
      </p:sp>
      <p:sp>
        <p:nvSpPr>
          <p:cNvPr id="10" name="Tekst: Wstawianie &gt; Wideo &gt; To urządzenie. Klik"/>
          <p:cNvSpPr txBox="1"/>
          <p:nvPr/>
        </p:nvSpPr>
        <p:spPr>
          <a:xfrm>
            <a:off x="1152000" y="4391200"/>
            <a:ext cx="4476000" cy="86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Wstawianie &gt; Wideo &gt; To urządzenie. Kliknij miniaturę filmu w szablonie &gt; Malarz formatów (pędzelek) &gt; kliknij nowy film - dostanie te same zaokrąglone rogi. Taki film gra w slajdzie bez internetu.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6276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Co jest czym"/>
          <p:cNvSpPr txBox="1"/>
          <p:nvPr/>
        </p:nvSpPr>
        <p:spPr>
          <a:xfrm>
            <a:off x="6564000" y="19440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Co jest czym</a:t>
            </a:r>
          </a:p>
        </p:txBody>
      </p:sp>
      <p:sp>
        <p:nvSpPr>
          <p:cNvPr id="13" name="Tekst: Narzędzia główne &gt; Zaznacz &gt; Okienko zaz"/>
          <p:cNvSpPr txBox="1"/>
          <p:nvPr/>
        </p:nvSpPr>
        <p:spPr>
          <a:xfrm>
            <a:off x="6564000" y="2214000"/>
            <a:ext cx="4476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Narzędzia główne &gt; Zaznacz &gt; Okienko zaznaczenia (Alt+F10): każdy obiekt ma nazwę, która mówi, co z nim zrobić (np. 'Packshot - prawy klik: Zmień obraz'). Paczka z owocami to jedna grupa - przesuwasz całość; kliknij dwa razy, żeby zmienić pojedynczy obraz.</a:t>
            </a:r>
          </a:p>
        </p:txBody>
      </p:sp>
      <p:sp>
        <p:nvSpPr>
          <p:cNvPr id="14" name="Tekst: Za długi tekst"/>
          <p:cNvSpPr txBox="1"/>
          <p:nvPr/>
        </p:nvSpPr>
        <p:spPr>
          <a:xfrm>
            <a:off x="6564000" y="3473500"/>
            <a:ext cx="4476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Za długi tekst</a:t>
            </a:r>
          </a:p>
        </p:txBody>
      </p:sp>
      <p:sp>
        <p:nvSpPr>
          <p:cNvPr id="15" name="Tekst: Pola tekstowe same zmniejszają czcionkę,"/>
          <p:cNvSpPr txBox="1"/>
          <p:nvPr/>
        </p:nvSpPr>
        <p:spPr>
          <a:xfrm>
            <a:off x="6564000" y="3743500"/>
            <a:ext cx="4476000" cy="6477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Pola tekstowe same zmniejszają czcionkę, gdy tekst się nie mieści. Jeśli zrobi się za mały - skróć tekst albo podziel treść na dwa slajdy.</a:t>
            </a:r>
          </a:p>
        </p:txBody>
      </p: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SLAJD 0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02 -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Instrukcja cz. 2: film z zaokrąglonymi 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Instrukcja cz. 2: film z zaokrąglonymi rogami i nazwy obiektów - slajd UKRYTY. Usuń go przed wysłaniem.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511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" y="2114775"/>
            <a:ext cx="3564000" cy="262845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6156000" y="648000"/>
            <a:ext cx="5172000" cy="533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500" b="0" i="0">
                <a:solidFill>
                  <a:schemeClr val="accent1"/>
                </a:solidFill>
                <a:latin typeface="+mj-lt"/>
              </a:rPr>
              <a:t>[Nowość]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6156000" y="1217400"/>
            <a:ext cx="517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900"/>
              </a:lnSpc>
            </a:pPr>
            <a:r>
              <a:rPr sz="5000" b="0" i="0">
                <a:solidFill>
                  <a:schemeClr val="tx1"/>
                </a:solidFill>
                <a:latin typeface="+mj-lt"/>
              </a:rPr>
              <a:t>[Nazwa produktu]</a:t>
            </a:r>
          </a:p>
        </p:txBody>
      </p:sp>
      <p:grpSp>
        <p:nvGrpSpPr>
          <p:cNvPr id="20" name="Produkt z owocami (grupa) - przesuwaj całość; kliknij 2x, by zmienić obraz"/>
          <p:cNvGrpSpPr/>
          <p:nvPr/>
        </p:nvGrpSpPr>
        <p:grpSpPr>
          <a:xfrm>
            <a:off x="5286962" y="2939040"/>
            <a:ext cx="6638522" cy="3262183"/>
            <a:chOff x="5286962" y="2939040"/>
            <a:chExt cx="6638522" cy="3262183"/>
          </a:xfrm>
        </p:grpSpPr>
        <p:pic>
          <p:nvPicPr>
            <p:cNvPr id="6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1291211" y="3135456"/>
              <a:ext cx="372849" cy="430848"/>
            </a:xfrm>
            <a:prstGeom prst="rect">
              <a:avLst/>
            </a:prstGeom>
          </p:spPr>
        </p:pic>
        <p:sp>
          <p:nvSpPr>
            <p:cNvPr id="7" name="Cień pod paczką"/>
            <p:cNvSpPr/>
            <p:nvPr/>
          </p:nvSpPr>
          <p:spPr>
            <a:xfrm rot="21060000">
              <a:off x="6344673" y="5474332"/>
              <a:ext cx="1833964" cy="270268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8" name="Packshot - prawy klik: Zmień obraz (PNG bez tła)" descr="pack_arbu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060000">
              <a:off x="6296410" y="2939040"/>
              <a:ext cx="1930488" cy="2724480"/>
            </a:xfrm>
            <a:prstGeom prst="rect">
              <a:avLst/>
            </a:prstGeom>
          </p:spPr>
        </p:pic>
        <p:sp>
          <p:nvSpPr>
            <p:cNvPr id="9" name="Cień pod paczką"/>
            <p:cNvSpPr/>
            <p:nvPr/>
          </p:nvSpPr>
          <p:spPr>
            <a:xfrm rot="540000">
              <a:off x="9126286" y="5474522"/>
              <a:ext cx="1832115" cy="269995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0" name="Packshot - prawy klik: Zmień obraz (PNG bez tła)" descr="pack_mango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">
              <a:off x="9078073" y="2939040"/>
              <a:ext cx="1928542" cy="2724480"/>
            </a:xfrm>
            <a:prstGeom prst="rect">
              <a:avLst/>
            </a:prstGeom>
          </p:spPr>
        </p:pic>
        <p:sp>
          <p:nvSpPr>
            <p:cNvPr id="11" name="Cień pod paczką"/>
            <p:cNvSpPr/>
            <p:nvPr/>
          </p:nvSpPr>
          <p:spPr>
            <a:xfrm rot="21480000">
              <a:off x="7586816" y="5887275"/>
              <a:ext cx="2130366" cy="313948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2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1480000">
              <a:off x="7530754" y="2939040"/>
              <a:ext cx="2242491" cy="3168000"/>
            </a:xfrm>
            <a:prstGeom prst="rect">
              <a:avLst/>
            </a:prstGeom>
          </p:spPr>
        </p:pic>
        <p:pic>
          <p:nvPicPr>
            <p:cNvPr id="13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640000">
              <a:off x="5286962" y="3549182"/>
              <a:ext cx="511632" cy="490435"/>
            </a:xfrm>
            <a:prstGeom prst="rect">
              <a:avLst/>
            </a:prstGeom>
          </p:spPr>
        </p:pic>
        <p:pic>
          <p:nvPicPr>
            <p:cNvPr id="14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600000">
              <a:off x="5542646" y="5323253"/>
              <a:ext cx="565488" cy="490452"/>
            </a:xfrm>
            <a:prstGeom prst="rect">
              <a:avLst/>
            </a:prstGeom>
          </p:spPr>
        </p:pic>
        <p:pic>
          <p:nvPicPr>
            <p:cNvPr id="15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880000">
              <a:off x="11406603" y="4792320"/>
              <a:ext cx="518881" cy="538560"/>
            </a:xfrm>
            <a:prstGeom prst="rect">
              <a:avLst/>
            </a:prstGeom>
          </p:spPr>
        </p:pic>
      </p:grp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SLAJD 0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03 -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Powitanie Z PRODUKTEM, wariant 4 (wzór z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 4 (wzór z 29.09): duże logo na zieleni, 'NOWOŚĆ' i nazwa zielonym i czarnym Mindsetem, pod spodem cała linia (3 paczki). Najlepsze wejście dla nowej linii smaków.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511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684000"/>
            <a:ext cx="2232000" cy="1646100"/>
          </a:xfrm>
          <a:prstGeom prst="rect">
            <a:avLst/>
          </a:prstGeom>
        </p:spPr>
      </p:pic>
      <p:grpSp>
        <p:nvGrpSpPr>
          <p:cNvPr id="25" name="Produkt z owocami (grupa) - przesuwaj całość; kliknij 2x, by zmienić obraz"/>
          <p:cNvGrpSpPr/>
          <p:nvPr/>
        </p:nvGrpSpPr>
        <p:grpSpPr>
          <a:xfrm>
            <a:off x="2602402" y="1692000"/>
            <a:ext cx="4962006" cy="5021871"/>
            <a:chOff x="2602402" y="1692000"/>
            <a:chExt cx="4962006" cy="5021871"/>
          </a:xfrm>
        </p:grpSpPr>
        <p:pic>
          <p:nvPicPr>
            <p:cNvPr id="4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6698878" y="2049120"/>
              <a:ext cx="618092" cy="714240"/>
            </a:xfrm>
            <a:prstGeom prst="rect">
              <a:avLst/>
            </a:prstGeom>
          </p:spPr>
        </p:pic>
        <p:sp>
          <p:nvSpPr>
            <p:cNvPr id="5" name="Cień pod paczką"/>
            <p:cNvSpPr/>
            <p:nvPr/>
          </p:nvSpPr>
          <p:spPr>
            <a:xfrm rot="21240000">
              <a:off x="3611059" y="5846332"/>
              <a:ext cx="3001880" cy="442382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6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240000">
              <a:off x="3532062" y="1692000"/>
              <a:ext cx="3159874" cy="4464000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2602402" y="2624689"/>
              <a:ext cx="848160" cy="813021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2747355" y="5124515"/>
              <a:ext cx="937440" cy="813048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6704230" y="4370400"/>
              <a:ext cx="860178" cy="892800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40000">
              <a:off x="4041150" y="6062771"/>
              <a:ext cx="624960" cy="454297"/>
            </a:xfrm>
            <a:prstGeom prst="rect">
              <a:avLst/>
            </a:prstGeom>
          </p:spPr>
        </p:pic>
        <p:pic>
          <p:nvPicPr>
            <p:cNvPr id="11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9920000">
              <a:off x="5702842" y="6044527"/>
              <a:ext cx="714240" cy="669344"/>
            </a:xfrm>
            <a:prstGeom prst="rect">
              <a:avLst/>
            </a:prstGeom>
          </p:spPr>
        </p:pic>
      </p:grpSp>
      <p:sp>
        <p:nvSpPr>
          <p:cNvPr id="12" name="Etykieta nad tytułem (można usunąć)"/>
          <p:cNvSpPr txBox="1"/>
          <p:nvPr/>
        </p:nvSpPr>
        <p:spPr>
          <a:xfrm>
            <a:off x="7848000" y="1656000"/>
            <a:ext cx="3480000" cy="609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4000" b="0" i="0">
                <a:solidFill>
                  <a:schemeClr val="accent1"/>
                </a:solidFill>
                <a:latin typeface="+mj-lt"/>
              </a:rPr>
              <a:t>[Nowość]</a:t>
            </a:r>
          </a:p>
        </p:txBody>
      </p:sp>
      <p:sp>
        <p:nvSpPr>
          <p:cNvPr id="13" name="Tytuł slajdu"/>
          <p:cNvSpPr txBox="1"/>
          <p:nvPr/>
        </p:nvSpPr>
        <p:spPr>
          <a:xfrm>
            <a:off x="7848000" y="2301600"/>
            <a:ext cx="3480000" cy="147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5684"/>
              </a:lnSpc>
            </a:pPr>
            <a:r>
              <a:rPr sz="5800" b="0" i="0">
                <a:solidFill>
                  <a:schemeClr val="tx1"/>
                </a:solidFill>
                <a:latin typeface="+mj-lt"/>
              </a:rPr>
              <a:t>[Nazwa</a:t>
            </a:r>
          </a:p>
          <a:p>
            <a:pPr algn="l">
              <a:lnSpc>
                <a:spcPts val="5684"/>
              </a:lnSpc>
            </a:pPr>
            <a:r>
              <a:rPr sz="5800" b="0" i="0">
                <a:solidFill>
                  <a:schemeClr val="tx1"/>
                </a:solidFill>
                <a:latin typeface="+mj-lt"/>
              </a:rPr>
              <a:t>produktu]</a:t>
            </a:r>
          </a:p>
        </p:txBody>
      </p:sp>
      <p:sp>
        <p:nvSpPr>
          <p:cNvPr id="14" name="Tekst: [Jedno zdanie: główny claim z karty wpro"/>
          <p:cNvSpPr txBox="1"/>
          <p:nvPr/>
        </p:nvSpPr>
        <p:spPr>
          <a:xfrm>
            <a:off x="7848000" y="3907336"/>
            <a:ext cx="3480000" cy="685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97"/>
              </a:lnSpc>
            </a:pPr>
            <a:r>
              <a:rPr sz="19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główny claim z karty wprowadzenia]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7848000" y="4790628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[SMAK 1]"/>
          <p:cNvSpPr txBox="1"/>
          <p:nvPr/>
        </p:nvSpPr>
        <p:spPr>
          <a:xfrm>
            <a:off x="7848000" y="4790628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1]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978940" y="4790628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[SMAK 2]"/>
          <p:cNvSpPr txBox="1"/>
          <p:nvPr/>
        </p:nvSpPr>
        <p:spPr>
          <a:xfrm>
            <a:off x="8978940" y="4790628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2]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10109880" y="4790628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[SMAK 3]"/>
          <p:cNvSpPr txBox="1"/>
          <p:nvPr/>
        </p:nvSpPr>
        <p:spPr>
          <a:xfrm>
            <a:off x="10109880" y="4790628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3]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SLAJD 0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04 -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Powitanie Z PRODUKTEM, wariant 1: paczka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 1: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paczka na granicy zieleni i tła.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Najmocniejsze wejście dla nowości.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Podmień packshot (prawy klik &gt; Zmień obraz) i elementy smaku.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6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648000"/>
            <a:ext cx="2016000" cy="148680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864000" y="2808000"/>
            <a:ext cx="4824000" cy="6705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4400" b="0" i="0">
                <a:solidFill>
                  <a:schemeClr val="bg1">
                    <a:lumMod val="88000"/>
                  </a:schemeClr>
                </a:solidFill>
                <a:latin typeface="+mj-lt"/>
              </a:rPr>
              <a:t>[Nowość]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864000" y="3514560"/>
            <a:ext cx="4824000" cy="177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6859"/>
              </a:lnSpc>
            </a:pPr>
            <a:r>
              <a:rPr sz="7000" b="0" i="0">
                <a:solidFill>
                  <a:schemeClr val="bg1"/>
                </a:solidFill>
                <a:latin typeface="+mj-lt"/>
              </a:rPr>
              <a:t>[Nazwa</a:t>
            </a:r>
          </a:p>
          <a:p>
            <a:pPr algn="l">
              <a:lnSpc>
                <a:spcPts val="6859"/>
              </a:lnSpc>
            </a:pPr>
            <a:r>
              <a:rPr sz="7000" b="0" i="0">
                <a:solidFill>
                  <a:schemeClr val="bg1"/>
                </a:solidFill>
                <a:latin typeface="+mj-lt"/>
              </a:rPr>
              <a:t>produktu]</a:t>
            </a:r>
          </a:p>
        </p:txBody>
      </p:sp>
      <p:sp>
        <p:nvSpPr>
          <p:cNvPr id="6" name="Tekst: [Jedno zdanie: główny claim z karty wpro"/>
          <p:cNvSpPr txBox="1"/>
          <p:nvPr/>
        </p:nvSpPr>
        <p:spPr>
          <a:xfrm>
            <a:off x="864000" y="5419000"/>
            <a:ext cx="4824000" cy="685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97"/>
              </a:lnSpc>
            </a:pPr>
            <a:r>
              <a:rPr sz="19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[Jedno zdanie: główny claim z karty wprowadzenia]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6302292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SMAK 1]"/>
          <p:cNvSpPr txBox="1"/>
          <p:nvPr/>
        </p:nvSpPr>
        <p:spPr>
          <a:xfrm>
            <a:off x="864000" y="6302292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1]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1994940" y="6302292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[SMAK 2]"/>
          <p:cNvSpPr txBox="1"/>
          <p:nvPr/>
        </p:nvSpPr>
        <p:spPr>
          <a:xfrm>
            <a:off x="1994940" y="6302292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2]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3125880" y="6302292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[SMAK 3]"/>
          <p:cNvSpPr txBox="1"/>
          <p:nvPr/>
        </p:nvSpPr>
        <p:spPr>
          <a:xfrm>
            <a:off x="3125880" y="6302292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3]</a:t>
            </a:r>
          </a:p>
        </p:txBody>
      </p:sp>
      <p:grpSp>
        <p:nvGrpSpPr>
          <p:cNvPr id="25" name="Produkt z owocami (grupa) - przesuwaj całość; kliknij 2x, by zmienić obraz"/>
          <p:cNvGrpSpPr/>
          <p:nvPr/>
        </p:nvGrpSpPr>
        <p:grpSpPr>
          <a:xfrm>
            <a:off x="6480016" y="1260000"/>
            <a:ext cx="5362166" cy="5426861"/>
            <a:chOff x="6480016" y="1260000"/>
            <a:chExt cx="5362166" cy="5426861"/>
          </a:xfrm>
        </p:grpSpPr>
        <p:pic>
          <p:nvPicPr>
            <p:cNvPr id="13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0906852" y="1645920"/>
              <a:ext cx="667938" cy="771840"/>
            </a:xfrm>
            <a:prstGeom prst="rect">
              <a:avLst/>
            </a:prstGeom>
          </p:spPr>
        </p:pic>
        <p:sp>
          <p:nvSpPr>
            <p:cNvPr id="14" name="Cień pod paczką"/>
            <p:cNvSpPr/>
            <p:nvPr/>
          </p:nvSpPr>
          <p:spPr>
            <a:xfrm rot="300000">
              <a:off x="7570016" y="5749359"/>
              <a:ext cx="3243967" cy="478058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300000">
              <a:off x="7484648" y="1260000"/>
              <a:ext cx="3414702" cy="4824000"/>
            </a:xfrm>
            <a:prstGeom prst="rect">
              <a:avLst/>
            </a:prstGeom>
          </p:spPr>
        </p:pic>
        <p:pic>
          <p:nvPicPr>
            <p:cNvPr id="1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6480016" y="2267905"/>
              <a:ext cx="916560" cy="878588"/>
            </a:xfrm>
            <a:prstGeom prst="rect">
              <a:avLst/>
            </a:prstGeom>
          </p:spPr>
        </p:pic>
        <p:pic>
          <p:nvPicPr>
            <p:cNvPr id="17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6636658" y="4969331"/>
              <a:ext cx="1013040" cy="878617"/>
            </a:xfrm>
            <a:prstGeom prst="rect">
              <a:avLst/>
            </a:prstGeom>
          </p:spPr>
        </p:pic>
        <p:pic>
          <p:nvPicPr>
            <p:cNvPr id="18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10912635" y="4154400"/>
              <a:ext cx="929547" cy="964800"/>
            </a:xfrm>
            <a:prstGeom prst="rect">
              <a:avLst/>
            </a:prstGeom>
          </p:spPr>
        </p:pic>
        <p:pic>
          <p:nvPicPr>
            <p:cNvPr id="19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40000">
              <a:off x="8034791" y="5983252"/>
              <a:ext cx="675360" cy="490934"/>
            </a:xfrm>
            <a:prstGeom prst="rect">
              <a:avLst/>
            </a:prstGeom>
          </p:spPr>
        </p:pic>
        <p:pic>
          <p:nvPicPr>
            <p:cNvPr id="20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9920000">
              <a:off x="9830490" y="5963537"/>
              <a:ext cx="771840" cy="723324"/>
            </a:xfrm>
            <a:prstGeom prst="rect">
              <a:avLst/>
            </a:prstGeom>
          </p:spPr>
        </p:pic>
      </p:grp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SLAJD 0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05 -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Powitanie Z PRODUKTEM, wariant 2: tytuł 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 2: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tytuł biały na zieleni, paczka po jasnej stronie. Dobre do prezentacji dla sieci handlowej.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000" y="2181150"/>
            <a:ext cx="3384000" cy="249570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6780000" y="540000"/>
            <a:ext cx="4728000" cy="4876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200" b="0" i="0">
                <a:solidFill>
                  <a:schemeClr val="accent1"/>
                </a:solidFill>
                <a:latin typeface="+mj-lt"/>
              </a:rPr>
              <a:t>[Nowość]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6780000" y="1063680"/>
            <a:ext cx="472800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[Nazwa produktu]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6780000" y="1773304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SMAK 1]"/>
          <p:cNvSpPr txBox="1"/>
          <p:nvPr/>
        </p:nvSpPr>
        <p:spPr>
          <a:xfrm>
            <a:off x="6780000" y="1773304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1]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7910940" y="1773304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SMAK 2]"/>
          <p:cNvSpPr txBox="1"/>
          <p:nvPr/>
        </p:nvSpPr>
        <p:spPr>
          <a:xfrm>
            <a:off x="7910940" y="1773304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2]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9041880" y="1773304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SMAK 3]"/>
          <p:cNvSpPr txBox="1"/>
          <p:nvPr/>
        </p:nvSpPr>
        <p:spPr>
          <a:xfrm>
            <a:off x="9041880" y="1773304"/>
            <a:ext cx="102294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3]</a:t>
            </a:r>
          </a:p>
        </p:txBody>
      </p:sp>
      <p:grpSp>
        <p:nvGrpSpPr>
          <p:cNvPr id="24" name="Produkt z owocami (grupa) - przesuwaj całość; kliknij 2x, by zmienić obraz"/>
          <p:cNvGrpSpPr/>
          <p:nvPr/>
        </p:nvGrpSpPr>
        <p:grpSpPr>
          <a:xfrm>
            <a:off x="7039176" y="2484000"/>
            <a:ext cx="4161682" cy="4211892"/>
            <a:chOff x="7039176" y="2484000"/>
            <a:chExt cx="4161682" cy="4211892"/>
          </a:xfrm>
        </p:grpSpPr>
        <p:pic>
          <p:nvPicPr>
            <p:cNvPr id="12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0474930" y="2783520"/>
              <a:ext cx="518400" cy="599040"/>
            </a:xfrm>
            <a:prstGeom prst="rect">
              <a:avLst/>
            </a:prstGeom>
          </p:spPr>
        </p:pic>
        <p:sp>
          <p:nvSpPr>
            <p:cNvPr id="13" name="Cień pod paczką"/>
            <p:cNvSpPr/>
            <p:nvPr/>
          </p:nvSpPr>
          <p:spPr>
            <a:xfrm rot="21360000">
              <a:off x="7885146" y="5968278"/>
              <a:ext cx="2517706" cy="37103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360000">
              <a:off x="7818891" y="2484000"/>
              <a:ext cx="2650217" cy="3744000"/>
            </a:xfrm>
            <a:prstGeom prst="rect">
              <a:avLst/>
            </a:prstGeom>
          </p:spPr>
        </p:pic>
        <p:pic>
          <p:nvPicPr>
            <p:cNvPr id="15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7039176" y="3266255"/>
              <a:ext cx="711360" cy="681889"/>
            </a:xfrm>
            <a:prstGeom prst="rect">
              <a:avLst/>
            </a:prstGeom>
          </p:spPr>
        </p:pic>
        <p:pic>
          <p:nvPicPr>
            <p:cNvPr id="16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7160749" y="5362884"/>
              <a:ext cx="786240" cy="681912"/>
            </a:xfrm>
            <a:prstGeom prst="rect">
              <a:avLst/>
            </a:prstGeom>
          </p:spPr>
        </p:pic>
        <p:pic>
          <p:nvPicPr>
            <p:cNvPr id="17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10479418" y="4730400"/>
              <a:ext cx="721440" cy="748800"/>
            </a:xfrm>
            <a:prstGeom prst="rect">
              <a:avLst/>
            </a:prstGeom>
          </p:spPr>
        </p:pic>
        <p:pic>
          <p:nvPicPr>
            <p:cNvPr id="18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40000">
              <a:off x="8245867" y="6149808"/>
              <a:ext cx="524160" cy="381024"/>
            </a:xfrm>
            <a:prstGeom prst="rect">
              <a:avLst/>
            </a:prstGeom>
          </p:spPr>
        </p:pic>
        <p:pic>
          <p:nvPicPr>
            <p:cNvPr id="1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9920000">
              <a:off x="9639545" y="6134506"/>
              <a:ext cx="599040" cy="561386"/>
            </a:xfrm>
            <a:prstGeom prst="rect">
              <a:avLst/>
            </a:prstGeom>
          </p:spPr>
        </p:pic>
      </p:grp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SLAJD 0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06 -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Powitanie Z PRODUKTEM, wariant 3: klasyc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 3: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klasyczny podział 50/50 jak dawny wzór (duże logo na środku zieleni).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Najbezpieczniejszy wybór.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000" y="2181150"/>
            <a:ext cx="3384000" cy="249570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6888000" y="187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[RODZAJ SPOTKANIA]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6888000" y="2232000"/>
            <a:ext cx="4440000" cy="147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5684"/>
              </a:lnSpc>
            </a:pPr>
            <a:r>
              <a:rPr sz="5800" b="0" i="0">
                <a:solidFill>
                  <a:schemeClr val="tx1"/>
                </a:solidFill>
                <a:latin typeface="+mj-lt"/>
              </a:rPr>
              <a:t>[Tytuł</a:t>
            </a:r>
          </a:p>
          <a:p>
            <a:pPr algn="l">
              <a:lnSpc>
                <a:spcPts val="5684"/>
              </a:lnSpc>
            </a:pPr>
            <a:r>
              <a:rPr sz="5800" b="0" i="0">
                <a:solidFill>
                  <a:schemeClr val="tx1"/>
                </a:solidFill>
                <a:latin typeface="+mj-lt"/>
              </a:rPr>
              <a:t>prezentacji]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6888000" y="3873736"/>
            <a:ext cx="1152000" cy="79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Czego dotyczy spotkanie i dla kogo]"/>
          <p:cNvSpPr txBox="1"/>
          <p:nvPr/>
        </p:nvSpPr>
        <p:spPr>
          <a:xfrm>
            <a:off x="6888000" y="4161736"/>
            <a:ext cx="44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[Czego dotyczy spotkanie i dla kogo]</a:t>
            </a:r>
          </a:p>
        </p:txBody>
      </p:sp>
      <p:sp>
        <p:nvSpPr>
          <p:cNvPr id="8" name="Tekst: [Imię Nazwisko] · [dział] · [data]"/>
          <p:cNvSpPr txBox="1"/>
          <p:nvPr/>
        </p:nvSpPr>
        <p:spPr>
          <a:xfrm>
            <a:off x="6888000" y="5994000"/>
            <a:ext cx="44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[Imię Nazwisko] · [dział] · [data]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SLAJD 0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07 -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Powitanie BEZ PRODUKTU, wariant 1: podzi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BEZ PRODUKTU, wariant 1: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podział 50/50 z logo. Spotkania, raporty, prezentacje firmowe.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648000"/>
            <a:ext cx="1872000" cy="1380600"/>
          </a:xfrm>
          <a:prstGeom prst="rect">
            <a:avLst/>
          </a:prstGeom>
        </p:spPr>
      </p:pic>
      <p:pic>
        <p:nvPicPr>
          <p:cNvPr id="3" name="Ikona / grafika - prawy klik: Zmień obraz" descr="p_kulka_ugry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20000">
            <a:off x="10680000" y="720000"/>
            <a:ext cx="1201788" cy="1152000"/>
          </a:xfrm>
          <a:prstGeom prst="rect">
            <a:avLst/>
          </a:prstGeom>
        </p:spPr>
      </p:pic>
      <p:pic>
        <p:nvPicPr>
          <p:cNvPr id="4" name="Ikona / grafika - prawy klik: Zmień obraz" descr="p_arbuz_kli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20000">
            <a:off x="11436000" y="2304000"/>
            <a:ext cx="747692" cy="864000"/>
          </a:xfrm>
          <a:prstGeom prst="rect">
            <a:avLst/>
          </a:prstGeom>
        </p:spPr>
      </p:pic>
      <p:pic>
        <p:nvPicPr>
          <p:cNvPr id="5" name="Ikona / grafika - prawy klik: Zmień obraz" descr="p_mango_kostk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10104000" y="3456000"/>
            <a:ext cx="1162217" cy="1008000"/>
          </a:xfrm>
          <a:prstGeom prst="rect">
            <a:avLst/>
          </a:prstGeom>
        </p:spPr>
      </p:pic>
      <p:pic>
        <p:nvPicPr>
          <p:cNvPr id="6" name="Ikona / grafika - prawy klik: Zmień obraz" descr="p_marakuja_pol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800000">
            <a:off x="11112000" y="4752000"/>
            <a:ext cx="693692" cy="720000"/>
          </a:xfrm>
          <a:prstGeom prst="rect">
            <a:avLst/>
          </a:prstGeom>
        </p:spPr>
      </p:pic>
      <p:pic>
        <p:nvPicPr>
          <p:cNvPr id="7" name="Ikona / grafika - prawy klik: Zmień obraz" descr="p_cola_cytryna_pla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840000">
            <a:off x="11760000" y="5616000"/>
            <a:ext cx="1287619" cy="936000"/>
          </a:xfrm>
          <a:prstGeom prst="rect">
            <a:avLst/>
          </a:prstGeom>
        </p:spPr>
      </p:pic>
      <p:sp>
        <p:nvSpPr>
          <p:cNvPr id="8" name="Etykieta nad tytułem (można usunąć)"/>
          <p:cNvSpPr txBox="1"/>
          <p:nvPr/>
        </p:nvSpPr>
        <p:spPr>
          <a:xfrm>
            <a:off x="864000" y="2990000"/>
            <a:ext cx="792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bg1">
                    <a:lumMod val="88000"/>
                  </a:schemeClr>
                </a:solidFill>
                <a:latin typeface="+mn-lt"/>
              </a:rPr>
              <a:t>[RODZAJ WYDARZENIA]</a:t>
            </a:r>
          </a:p>
        </p:txBody>
      </p:sp>
      <p:sp>
        <p:nvSpPr>
          <p:cNvPr id="9" name="Tytuł slajdu"/>
          <p:cNvSpPr txBox="1"/>
          <p:nvPr/>
        </p:nvSpPr>
        <p:spPr>
          <a:xfrm>
            <a:off x="864000" y="3314000"/>
            <a:ext cx="792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7840"/>
              </a:lnSpc>
            </a:pPr>
            <a:r>
              <a:rPr sz="8000" b="0" i="0">
                <a:solidFill>
                  <a:schemeClr val="bg1"/>
                </a:solidFill>
                <a:latin typeface="+mj-lt"/>
              </a:rPr>
              <a:t>[Tytuł</a:t>
            </a:r>
          </a:p>
          <a:p>
            <a:pPr algn="l">
              <a:lnSpc>
                <a:spcPts val="7840"/>
              </a:lnSpc>
            </a:pPr>
            <a:r>
              <a:rPr sz="8000" b="0" i="0">
                <a:solidFill>
                  <a:schemeClr val="bg1"/>
                </a:solidFill>
                <a:latin typeface="+mj-lt"/>
              </a:rPr>
              <a:t>prezentacji]</a:t>
            </a:r>
          </a:p>
        </p:txBody>
      </p:sp>
      <p:sp>
        <p:nvSpPr>
          <p:cNvPr id="10" name="Tekst: [Data i miejsce]"/>
          <p:cNvSpPr txBox="1"/>
          <p:nvPr/>
        </p:nvSpPr>
        <p:spPr>
          <a:xfrm>
            <a:off x="864000" y="5562000"/>
            <a:ext cx="7920000" cy="72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9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[Data i miejsce]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SLAJD 0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08 -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Powitanie BEZ PRODUKTU, wariant 2: cała 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BEZ PRODUKTU, wariant 2: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cała zieleń marki, duży biały tytuł, drobne owoce przy krawędzi. Na otwarcie konferencji, szkolenia, eventu.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12192000" cy="2232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452250"/>
            <a:ext cx="1800000" cy="1327500"/>
          </a:xfrm>
          <a:prstGeom prst="rect">
            <a:avLst/>
          </a:prstGeom>
        </p:spPr>
      </p:pic>
      <p:sp>
        <p:nvSpPr>
          <p:cNvPr id="4" name="Tekst: [RAPORT]"/>
          <p:cNvSpPr txBox="1"/>
          <p:nvPr/>
        </p:nvSpPr>
        <p:spPr>
          <a:xfrm>
            <a:off x="6288000" y="972000"/>
            <a:ext cx="50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300" b="1" i="0" spc="200">
                <a:solidFill>
                  <a:schemeClr val="bg1">
                    <a:lumMod val="88000"/>
                  </a:schemeClr>
                </a:solidFill>
                <a:latin typeface="+mn-lt"/>
              </a:rPr>
              <a:t>[RAPORT]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864000" y="2808000"/>
            <a:ext cx="10464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8231"/>
              </a:lnSpc>
            </a:pPr>
            <a:r>
              <a:rPr sz="8400" b="0" i="0">
                <a:solidFill>
                  <a:schemeClr val="tx1"/>
                </a:solidFill>
                <a:latin typeface="+mj-lt"/>
              </a:rPr>
              <a:t>[Tytuł prezentacji]</a:t>
            </a:r>
          </a:p>
        </p:txBody>
      </p:sp>
      <p:sp>
        <p:nvSpPr>
          <p:cNvPr id="6" name="Tekst: [Zakres, okres, odbiorca]"/>
          <p:cNvSpPr txBox="1"/>
          <p:nvPr/>
        </p:nvSpPr>
        <p:spPr>
          <a:xfrm>
            <a:off x="864000" y="4033464"/>
            <a:ext cx="8640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[Zakres, okres, odbiorca]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6030000"/>
            <a:ext cx="10464000" cy="144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Imię Nazwisko] · [data]"/>
          <p:cNvSpPr txBox="1"/>
          <p:nvPr/>
        </p:nvSpPr>
        <p:spPr>
          <a:xfrm>
            <a:off x="864000" y="6174000"/>
            <a:ext cx="86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[Imię Nazwisko] · [data]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SLAJD 0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09 -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Powitanie BEZ PRODUKTU, wariant 3: jasne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BEZ PRODUKTU, wariant 3: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jasne tło, zielony pas z logo, bardzo duży tytuł. Raporty, podsumowania kwartału, prezentacje wewnętrzne.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Agenda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10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umer slajdu"/>
          <p:cNvSpPr txBox="1"/>
          <p:nvPr/>
        </p:nvSpPr>
        <p:spPr>
          <a:xfrm>
            <a:off x="864000" y="2034000"/>
            <a:ext cx="86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01</a:t>
            </a:r>
          </a:p>
        </p:txBody>
      </p:sp>
      <p:sp>
        <p:nvSpPr>
          <p:cNvPr id="7" name="Tekst: [Punkt 1]"/>
          <p:cNvSpPr txBox="1"/>
          <p:nvPr/>
        </p:nvSpPr>
        <p:spPr>
          <a:xfrm>
            <a:off x="1800000" y="2070000"/>
            <a:ext cx="4026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8" name="Tekst: [krótko, czego dotyczy]"/>
          <p:cNvSpPr txBox="1"/>
          <p:nvPr/>
        </p:nvSpPr>
        <p:spPr>
          <a:xfrm>
            <a:off x="1800000" y="2376000"/>
            <a:ext cx="4026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864000" y="2844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Numer slajdu"/>
          <p:cNvSpPr txBox="1"/>
          <p:nvPr/>
        </p:nvSpPr>
        <p:spPr>
          <a:xfrm>
            <a:off x="864000" y="2970000"/>
            <a:ext cx="86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02</a:t>
            </a:r>
          </a:p>
        </p:txBody>
      </p:sp>
      <p:sp>
        <p:nvSpPr>
          <p:cNvPr id="11" name="Tekst: [Punkt 2]"/>
          <p:cNvSpPr txBox="1"/>
          <p:nvPr/>
        </p:nvSpPr>
        <p:spPr>
          <a:xfrm>
            <a:off x="1800000" y="3006000"/>
            <a:ext cx="4026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2" name="Tekst: [krótko, czego dotyczy]"/>
          <p:cNvSpPr txBox="1"/>
          <p:nvPr/>
        </p:nvSpPr>
        <p:spPr>
          <a:xfrm>
            <a:off x="1800000" y="3312000"/>
            <a:ext cx="4026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864000" y="3780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Numer slajdu"/>
          <p:cNvSpPr txBox="1"/>
          <p:nvPr/>
        </p:nvSpPr>
        <p:spPr>
          <a:xfrm>
            <a:off x="864000" y="3906000"/>
            <a:ext cx="86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03</a:t>
            </a:r>
          </a:p>
        </p:txBody>
      </p:sp>
      <p:sp>
        <p:nvSpPr>
          <p:cNvPr id="15" name="Tekst: [Punkt 3]"/>
          <p:cNvSpPr txBox="1"/>
          <p:nvPr/>
        </p:nvSpPr>
        <p:spPr>
          <a:xfrm>
            <a:off x="1800000" y="3942000"/>
            <a:ext cx="4026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6" name="Tekst: [krótko, czego dotyczy]"/>
          <p:cNvSpPr txBox="1"/>
          <p:nvPr/>
        </p:nvSpPr>
        <p:spPr>
          <a:xfrm>
            <a:off x="1800000" y="4248000"/>
            <a:ext cx="4026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6366000" y="1908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Numer slajdu"/>
          <p:cNvSpPr txBox="1"/>
          <p:nvPr/>
        </p:nvSpPr>
        <p:spPr>
          <a:xfrm>
            <a:off x="6366000" y="2034000"/>
            <a:ext cx="86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04</a:t>
            </a:r>
          </a:p>
        </p:txBody>
      </p:sp>
      <p:sp>
        <p:nvSpPr>
          <p:cNvPr id="19" name="Tekst: [Punkt 4]"/>
          <p:cNvSpPr txBox="1"/>
          <p:nvPr/>
        </p:nvSpPr>
        <p:spPr>
          <a:xfrm>
            <a:off x="7302000" y="2070000"/>
            <a:ext cx="4026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4]</a:t>
            </a:r>
          </a:p>
        </p:txBody>
      </p:sp>
      <p:sp>
        <p:nvSpPr>
          <p:cNvPr id="20" name="Tekst: [krótko, czego dotyczy]"/>
          <p:cNvSpPr txBox="1"/>
          <p:nvPr/>
        </p:nvSpPr>
        <p:spPr>
          <a:xfrm>
            <a:off x="7302000" y="2376000"/>
            <a:ext cx="4026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6366000" y="2844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Numer slajdu"/>
          <p:cNvSpPr txBox="1"/>
          <p:nvPr/>
        </p:nvSpPr>
        <p:spPr>
          <a:xfrm>
            <a:off x="6366000" y="2970000"/>
            <a:ext cx="86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05</a:t>
            </a:r>
          </a:p>
        </p:txBody>
      </p:sp>
      <p:sp>
        <p:nvSpPr>
          <p:cNvPr id="23" name="Tekst: [Punkt 5]"/>
          <p:cNvSpPr txBox="1"/>
          <p:nvPr/>
        </p:nvSpPr>
        <p:spPr>
          <a:xfrm>
            <a:off x="7302000" y="3006000"/>
            <a:ext cx="4026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5]</a:t>
            </a:r>
          </a:p>
        </p:txBody>
      </p:sp>
      <p:sp>
        <p:nvSpPr>
          <p:cNvPr id="24" name="Tekst: [krótko, czego dotyczy]"/>
          <p:cNvSpPr txBox="1"/>
          <p:nvPr/>
        </p:nvSpPr>
        <p:spPr>
          <a:xfrm>
            <a:off x="7302000" y="3312000"/>
            <a:ext cx="4026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25" name="Karta / tło (kolor z motywu)"/>
          <p:cNvSpPr/>
          <p:nvPr/>
        </p:nvSpPr>
        <p:spPr>
          <a:xfrm>
            <a:off x="6366000" y="3780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Numer slajdu"/>
          <p:cNvSpPr txBox="1"/>
          <p:nvPr/>
        </p:nvSpPr>
        <p:spPr>
          <a:xfrm>
            <a:off x="6366000" y="3906000"/>
            <a:ext cx="86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06</a:t>
            </a:r>
          </a:p>
        </p:txBody>
      </p:sp>
      <p:sp>
        <p:nvSpPr>
          <p:cNvPr id="27" name="Tekst: [Punkt 6]"/>
          <p:cNvSpPr txBox="1"/>
          <p:nvPr/>
        </p:nvSpPr>
        <p:spPr>
          <a:xfrm>
            <a:off x="7302000" y="3942000"/>
            <a:ext cx="4026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6]</a:t>
            </a:r>
          </a:p>
        </p:txBody>
      </p:sp>
      <p:sp>
        <p:nvSpPr>
          <p:cNvPr id="28" name="Tekst: [krótko, czego dotyczy]"/>
          <p:cNvSpPr txBox="1"/>
          <p:nvPr/>
        </p:nvSpPr>
        <p:spPr>
          <a:xfrm>
            <a:off x="7302000" y="4248000"/>
            <a:ext cx="4026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kst: SLAJD 1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10 -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kst: Agenda / spis treści: 3-8 punktów. Od 5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Agenda / spis treści: 3-8 punktów. Od 5 punktów układ sam dzieli się na dwie kolumny.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kst: [Rozdział 01]"/>
          <p:cNvSpPr txBox="1"/>
          <p:nvPr/>
        </p:nvSpPr>
        <p:spPr>
          <a:xfrm>
            <a:off x="864000" y="1764000"/>
            <a:ext cx="5040000" cy="50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200" b="0" i="0">
                <a:solidFill>
                  <a:schemeClr val="bg1"/>
                </a:solidFill>
                <a:latin typeface="+mj-lt"/>
              </a:rPr>
              <a:t>[Rozdział 01]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2304000"/>
            <a:ext cx="7200000" cy="838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6600"/>
              </a:lnSpc>
            </a:pPr>
            <a:r>
              <a:rPr sz="6600" b="0" i="0">
                <a:solidFill>
                  <a:schemeClr val="bg1"/>
                </a:solidFill>
                <a:latin typeface="+mj-lt"/>
              </a:rPr>
              <a:t>[Tytuł rozdziału]</a:t>
            </a:r>
          </a:p>
        </p:txBody>
      </p:sp>
      <p:sp>
        <p:nvSpPr>
          <p:cNvPr id="4" name="Tekst: [Jedno zdanie: co będzie w tej części]"/>
          <p:cNvSpPr txBox="1"/>
          <p:nvPr/>
        </p:nvSpPr>
        <p:spPr>
          <a:xfrm>
            <a:off x="864000" y="3286200"/>
            <a:ext cx="5760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[Jedno zdanie: co będzie w tej części]</a:t>
            </a:r>
          </a:p>
        </p:txBody>
      </p:sp>
      <p:pic>
        <p:nvPicPr>
          <p:cNvPr id="5" name="Logo marki" descr="logo_green_le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504000"/>
            <a:ext cx="684000" cy="504450"/>
          </a:xfrm>
          <a:prstGeom prst="rect">
            <a:avLst/>
          </a:prstGeom>
        </p:spPr>
      </p:pic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SLAJD 1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11 -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Przerywnik rozdziału - ciemny. Rozdziela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Przerywnik rozdziału - ciemny.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Rozdziela główne części prezentacji; daje oddech między slajdami z treścią.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lo-numer"/>
          <p:cNvSpPr txBox="1"/>
          <p:nvPr/>
        </p:nvSpPr>
        <p:spPr>
          <a:xfrm>
            <a:off x="6837180" y="144000"/>
            <a:ext cx="4814820" cy="48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0" b="0" i="0">
                <a:solidFill>
                  <a:schemeClr val="accent4"/>
                </a:solidFill>
                <a:latin typeface="+mj-lt"/>
              </a:rPr>
              <a:t>02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4291800"/>
            <a:ext cx="7200000" cy="838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6600"/>
              </a:lnSpc>
            </a:pPr>
            <a:r>
              <a:rPr sz="6600" b="0" i="0">
                <a:solidFill>
                  <a:schemeClr val="tx1"/>
                </a:solidFill>
                <a:latin typeface="+mj-lt"/>
              </a:rPr>
              <a:t>[Tytuł rozdziału]</a:t>
            </a:r>
          </a:p>
        </p:txBody>
      </p:sp>
      <p:sp>
        <p:nvSpPr>
          <p:cNvPr id="4" name="Tekst: [Jedno zdanie: co będzie w tej części]"/>
          <p:cNvSpPr txBox="1"/>
          <p:nvPr/>
        </p:nvSpPr>
        <p:spPr>
          <a:xfrm>
            <a:off x="864000" y="5346000"/>
            <a:ext cx="648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18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co będzie w tej części]</a:t>
            </a:r>
          </a:p>
        </p:txBody>
      </p:sp>
      <p:pic>
        <p:nvPicPr>
          <p:cNvPr id="5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850000"/>
            <a:ext cx="684000" cy="504450"/>
          </a:xfrm>
          <a:prstGeom prst="rect">
            <a:avLst/>
          </a:prstGeom>
        </p:spPr>
      </p:pic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SLAJD 1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12 -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Przerywnik rozdziału - jasny z dużym num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Przerywnik rozdziału - jasny z dużym numerem. Alternatywa dla ciemnego; nie używaj obu naprzemiennie.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wstępu]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13</a:t>
            </a:r>
          </a:p>
        </p:txBody>
      </p:sp>
      <p:sp>
        <p:nvSpPr>
          <p:cNvPr id="5" name="Tekst: [Akapit otwierający: 2-3 zdania, najważn"/>
          <p:cNvSpPr txBox="1"/>
          <p:nvPr/>
        </p:nvSpPr>
        <p:spPr>
          <a:xfrm>
            <a:off x="864000" y="1908000"/>
            <a:ext cx="864000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2600" b="0" i="0">
                <a:solidFill>
                  <a:schemeClr val="tx1"/>
                </a:solidFill>
                <a:latin typeface="+mn-lt"/>
              </a:rPr>
              <a:t>[Akapit otwierający: 2-3 zdania, najważniejsza myśl całej prezentacji.]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3254400"/>
            <a:ext cx="432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Hasło 1]"/>
          <p:cNvSpPr txBox="1"/>
          <p:nvPr/>
        </p:nvSpPr>
        <p:spPr>
          <a:xfrm>
            <a:off x="864000" y="3434400"/>
            <a:ext cx="320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[Hasło 1]</a:t>
            </a:r>
          </a:p>
        </p:txBody>
      </p:sp>
      <p:sp>
        <p:nvSpPr>
          <p:cNvPr id="8" name="Tekst: [1-2 zdania rozwinięcia]"/>
          <p:cNvSpPr txBox="1"/>
          <p:nvPr/>
        </p:nvSpPr>
        <p:spPr>
          <a:xfrm>
            <a:off x="864000" y="3740400"/>
            <a:ext cx="3200000" cy="252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 rozwinięcia]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4496000" y="3254400"/>
            <a:ext cx="432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[Hasło 2]"/>
          <p:cNvSpPr txBox="1"/>
          <p:nvPr/>
        </p:nvSpPr>
        <p:spPr>
          <a:xfrm>
            <a:off x="4496000" y="3434400"/>
            <a:ext cx="320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[Hasło 2]</a:t>
            </a:r>
          </a:p>
        </p:txBody>
      </p:sp>
      <p:sp>
        <p:nvSpPr>
          <p:cNvPr id="11" name="Tekst: [1-2 zdania rozwinięcia]"/>
          <p:cNvSpPr txBox="1"/>
          <p:nvPr/>
        </p:nvSpPr>
        <p:spPr>
          <a:xfrm>
            <a:off x="4496000" y="3740400"/>
            <a:ext cx="3200000" cy="252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 rozwinięcia]</a:t>
            </a:r>
          </a:p>
        </p:txBody>
      </p:sp>
      <p:sp>
        <p:nvSpPr>
          <p:cNvPr id="12" name="Karta / tło (kolor z motywu)"/>
          <p:cNvSpPr/>
          <p:nvPr/>
        </p:nvSpPr>
        <p:spPr>
          <a:xfrm>
            <a:off x="8128000" y="3254400"/>
            <a:ext cx="432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[Hasło 3]"/>
          <p:cNvSpPr txBox="1"/>
          <p:nvPr/>
        </p:nvSpPr>
        <p:spPr>
          <a:xfrm>
            <a:off x="8128000" y="3434400"/>
            <a:ext cx="320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[Hasło 3]</a:t>
            </a:r>
          </a:p>
        </p:txBody>
      </p:sp>
      <p:sp>
        <p:nvSpPr>
          <p:cNvPr id="14" name="Tekst: [1-2 zdania rozwinięcia]"/>
          <p:cNvSpPr txBox="1"/>
          <p:nvPr/>
        </p:nvSpPr>
        <p:spPr>
          <a:xfrm>
            <a:off x="8128000" y="3740400"/>
            <a:ext cx="3200000" cy="252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 rozwinięcia]</a:t>
            </a:r>
          </a:p>
        </p:txBody>
      </p:sp>
      <p:sp>
        <p:nvSpPr>
          <p:cNvPr id="1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SLAJD 1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13 - do czego służy</a:t>
            </a:r>
          </a:p>
        </p:txBody>
      </p:sp>
      <p:sp>
        <p:nvSpPr>
          <p:cNvPr id="1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Wstęp: duży akapit otwierający (2-3 zdan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Wstęp: duży akapit otwierający (2-3 zdania) + trzy krótkie rozwinięcia. Na początek prezentacji albo rozdziału.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0" y="2019000"/>
            <a:ext cx="1219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[ETYKIETA]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1416000" y="2523000"/>
            <a:ext cx="93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6000"/>
              </a:lnSpc>
            </a:pPr>
            <a:r>
              <a:rPr sz="6000" b="0" i="0">
                <a:solidFill>
                  <a:schemeClr val="tx1"/>
                </a:solidFill>
                <a:latin typeface="+mj-lt"/>
              </a:rPr>
              <a:t>[Jedno zdanie -</a:t>
            </a:r>
          </a:p>
          <a:p>
            <a:pPr algn="ctr">
              <a:lnSpc>
                <a:spcPts val="6000"/>
              </a:lnSpc>
            </a:pPr>
            <a:r>
              <a:rPr sz="6000" b="0" i="0">
                <a:solidFill>
                  <a:schemeClr val="tx1"/>
                </a:solidFill>
                <a:latin typeface="+mj-lt"/>
              </a:rPr>
              <a:t>najważniejsza teza]</a:t>
            </a:r>
          </a:p>
        </p:txBody>
      </p:sp>
      <p:sp>
        <p:nvSpPr>
          <p:cNvPr id="4" name="Tekst: [Opcjonalny podpis pod hasłem]"/>
          <p:cNvSpPr txBox="1"/>
          <p:nvPr/>
        </p:nvSpPr>
        <p:spPr>
          <a:xfrm>
            <a:off x="1416000" y="4335000"/>
            <a:ext cx="9360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2000" b="0" i="0">
                <a:solidFill>
                  <a:schemeClr val="accent5"/>
                </a:solidFill>
                <a:latin typeface="+mn-lt"/>
              </a:rPr>
              <a:t>[Opcjonalny podpis pod hasłem]</a:t>
            </a:r>
          </a:p>
        </p:txBody>
      </p:sp>
      <p:pic>
        <p:nvPicPr>
          <p:cNvPr id="5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4000" y="5922000"/>
            <a:ext cx="684000" cy="504450"/>
          </a:xfrm>
          <a:prstGeom prst="rect">
            <a:avLst/>
          </a:prstGeom>
        </p:spPr>
      </p:pic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SLAJD 1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14 -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Tekst krótki: jedno zdanie-hasło na środ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krótki: jedno zdanie-hasło na środku slajdu. Do mocnej tezy, wniosku albo cytatu z badania.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 w 3-6 słowach]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15</a:t>
            </a:r>
          </a:p>
        </p:txBody>
      </p:sp>
      <p:sp>
        <p:nvSpPr>
          <p:cNvPr id="5" name="Tekst: [Akapit 1: najważniejsza informacja. Kró"/>
          <p:cNvSpPr txBox="1"/>
          <p:nvPr/>
        </p:nvSpPr>
        <p:spPr>
          <a:xfrm>
            <a:off x="864000" y="1908000"/>
            <a:ext cx="494400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1: najważniejsza informacja. Krótkie zdania, jedna myśl w akapicie.]</a:t>
            </a:r>
          </a:p>
        </p:txBody>
      </p:sp>
      <p:sp>
        <p:nvSpPr>
          <p:cNvPr id="6" name="Tekst: [Akapit 2: rozwinięcie albo przykład. Wi"/>
          <p:cNvSpPr txBox="1"/>
          <p:nvPr/>
        </p:nvSpPr>
        <p:spPr>
          <a:xfrm>
            <a:off x="864000" y="2646800"/>
            <a:ext cx="494400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2: rozwinięcie albo przykład. Więcej tekstu?</a:t>
            </a:r>
          </a:p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Podziel na dwa slajdy.]</a:t>
            </a:r>
          </a:p>
        </p:txBody>
      </p:sp>
      <p:sp>
        <p:nvSpPr>
          <p:cNvPr id="7" name="Tekst: [Akapit 3: kontekst rynkowy albo dane, k"/>
          <p:cNvSpPr txBox="1"/>
          <p:nvPr/>
        </p:nvSpPr>
        <p:spPr>
          <a:xfrm>
            <a:off x="6384000" y="1908000"/>
            <a:ext cx="494400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3: kontekst rynkowy albo dane, które wspierają tytuł.]</a:t>
            </a:r>
          </a:p>
        </p:txBody>
      </p:sp>
      <p:sp>
        <p:nvSpPr>
          <p:cNvPr id="8" name="Tekst: [Akapit 4: wniosek i czego oczekujemy od"/>
          <p:cNvSpPr txBox="1"/>
          <p:nvPr/>
        </p:nvSpPr>
        <p:spPr>
          <a:xfrm>
            <a:off x="6384000" y="2646800"/>
            <a:ext cx="494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4: wniosek i czego oczekujemy od odbiorcy.]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SLAJD 1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15 -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Tekst długi: dwie kolumny akapitów, maks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długi: dwie kolumny akapitów, maksymalnie ok. 180 słów. Opis rynku, historii, strategii.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[Tytuł-pytanie: dlaczego warto ...?]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1080000" y="2736000"/>
            <a:ext cx="10032000" cy="2880000"/>
          </a:xfrm>
          <a:prstGeom prst="roundRect">
            <a:avLst>
              <a:gd name="adj" fmla="val 5625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[Akapit 1: fakt edukacyjny o składniku -"/>
          <p:cNvSpPr txBox="1"/>
          <p:nvPr/>
        </p:nvSpPr>
        <p:spPr>
          <a:xfrm>
            <a:off x="2232000" y="3496720"/>
            <a:ext cx="7728000" cy="13585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just">
              <a:lnSpc>
                <a:spcPts val="2320"/>
              </a:lnSpc>
            </a:pPr>
            <a:r>
              <a:rPr sz="1600">
                <a:solidFill>
                  <a:schemeClr val="accent5">
                    <a:lumMod val="70000"/>
                  </a:schemeClr>
                </a:solidFill>
                <a:latin typeface="+mn-lt"/>
              </a:rPr>
              <a:t>[Akapit 1: fakt edukacyjny o składniku - 2-3 zdania, ze źródłem wiedzy (np. zalecenia żywieniowe). Pisz prosto, bez obietnic zdrowotnych, których nie ma w karcie produktu.]</a:t>
            </a:r>
          </a:p>
          <a:p>
            <a:pPr algn="just">
              <a:lnSpc>
                <a:spcPts val="2320"/>
              </a:lnSpc>
              <a:spcBef>
                <a:spcPts val="1400"/>
              </a:spcBef>
            </a:pPr>
            <a:r>
              <a:rPr sz="1600">
                <a:solidFill>
                  <a:schemeClr val="accent5">
                    <a:lumMod val="70000"/>
                  </a:schemeClr>
                </a:solidFill>
                <a:latin typeface="+mn-lt"/>
              </a:rPr>
              <a:t>[Akapit 2: dodatkowy kontekst albo wniosek dla odbiorcy.]</a:t>
            </a:r>
          </a:p>
        </p:txBody>
      </p:sp>
      <p:pic>
        <p:nvPicPr>
          <p:cNvPr id="7" name="Ikona / grafika - prawy klik: Zmień obraz" descr="p_arbuz_kli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880000">
            <a:off x="648000" y="2376000"/>
            <a:ext cx="1059230" cy="1224000"/>
          </a:xfrm>
          <a:prstGeom prst="rect">
            <a:avLst/>
          </a:prstGeom>
        </p:spPr>
      </p:pic>
      <p:pic>
        <p:nvPicPr>
          <p:cNvPr id="8" name="Ikona / grafika - prawy klik: Zmień obraz" descr="p_marakuja_p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864000" y="4680000"/>
            <a:ext cx="971169" cy="1008000"/>
          </a:xfrm>
          <a:prstGeom prst="rect">
            <a:avLst/>
          </a:prstGeom>
        </p:spPr>
      </p:pic>
      <p:pic>
        <p:nvPicPr>
          <p:cNvPr id="9" name="Ikona / grafika - prawy klik: Zmień obraz" descr="p_kulka_ugry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248000" y="2304000"/>
            <a:ext cx="1201788" cy="1152000"/>
          </a:xfrm>
          <a:prstGeom prst="rect">
            <a:avLst/>
          </a:prstGeom>
        </p:spPr>
      </p:pic>
      <p:pic>
        <p:nvPicPr>
          <p:cNvPr id="10" name="Ikona / grafika - prawy klik: Zmień obraz" descr="p_mango_kost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10320000" y="4608000"/>
            <a:ext cx="1411263" cy="1224000"/>
          </a:xfrm>
          <a:prstGeom prst="rect">
            <a:avLst/>
          </a:prstGeom>
        </p:spPr>
      </p:pic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SLAJD 1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16 -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AKAPIT W KARCIE (wzór z 29.09, 'Dlaczego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AKAPIT W KARCIE (wzór z 29.09, 'Dlaczego warto dbać o błonnik'):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tytuł-pytanie i 1-3 akapity edukacyjne w kremowej karcie, drobne owoce przy krawędziach. Tekst sam się zmniejszy, gdy nie zmieści się w karcie.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listy]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17</a:t>
            </a:r>
          </a:p>
        </p:txBody>
      </p:sp>
      <p:sp>
        <p:nvSpPr>
          <p:cNvPr id="5" name="Punktor"/>
          <p:cNvSpPr/>
          <p:nvPr/>
        </p:nvSpPr>
        <p:spPr>
          <a:xfrm>
            <a:off x="892800" y="2440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[Hasło 1]"/>
          <p:cNvSpPr txBox="1"/>
          <p:nvPr/>
        </p:nvSpPr>
        <p:spPr>
          <a:xfrm>
            <a:off x="1188000" y="2340000"/>
            <a:ext cx="97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1]</a:t>
            </a:r>
          </a:p>
        </p:txBody>
      </p:sp>
      <p:sp>
        <p:nvSpPr>
          <p:cNvPr id="7" name="Tekst: [Jedno zdanie rozwinięcia]"/>
          <p:cNvSpPr txBox="1"/>
          <p:nvPr/>
        </p:nvSpPr>
        <p:spPr>
          <a:xfrm>
            <a:off x="1188000" y="2646000"/>
            <a:ext cx="9744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8" name="Punktor"/>
          <p:cNvSpPr/>
          <p:nvPr/>
        </p:nvSpPr>
        <p:spPr>
          <a:xfrm>
            <a:off x="892800" y="3304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Hasło 2]"/>
          <p:cNvSpPr txBox="1"/>
          <p:nvPr/>
        </p:nvSpPr>
        <p:spPr>
          <a:xfrm>
            <a:off x="1188000" y="3204000"/>
            <a:ext cx="97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2]</a:t>
            </a:r>
          </a:p>
        </p:txBody>
      </p:sp>
      <p:sp>
        <p:nvSpPr>
          <p:cNvPr id="10" name="Tekst: [Jedno zdanie rozwinięcia]"/>
          <p:cNvSpPr txBox="1"/>
          <p:nvPr/>
        </p:nvSpPr>
        <p:spPr>
          <a:xfrm>
            <a:off x="1188000" y="3510000"/>
            <a:ext cx="9744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1" name="Punktor"/>
          <p:cNvSpPr/>
          <p:nvPr/>
        </p:nvSpPr>
        <p:spPr>
          <a:xfrm>
            <a:off x="892800" y="4168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[Hasło 3]"/>
          <p:cNvSpPr txBox="1"/>
          <p:nvPr/>
        </p:nvSpPr>
        <p:spPr>
          <a:xfrm>
            <a:off x="1188000" y="4068000"/>
            <a:ext cx="97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3]</a:t>
            </a:r>
          </a:p>
        </p:txBody>
      </p:sp>
      <p:sp>
        <p:nvSpPr>
          <p:cNvPr id="13" name="Tekst: [Jedno zdanie rozwinięcia]"/>
          <p:cNvSpPr txBox="1"/>
          <p:nvPr/>
        </p:nvSpPr>
        <p:spPr>
          <a:xfrm>
            <a:off x="1188000" y="4374000"/>
            <a:ext cx="9744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4" name="Punktor"/>
          <p:cNvSpPr/>
          <p:nvPr/>
        </p:nvSpPr>
        <p:spPr>
          <a:xfrm>
            <a:off x="892800" y="5032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[Hasło 4]"/>
          <p:cNvSpPr txBox="1"/>
          <p:nvPr/>
        </p:nvSpPr>
        <p:spPr>
          <a:xfrm>
            <a:off x="1188000" y="4932000"/>
            <a:ext cx="97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4]</a:t>
            </a:r>
          </a:p>
        </p:txBody>
      </p:sp>
      <p:sp>
        <p:nvSpPr>
          <p:cNvPr id="16" name="Tekst: [Jedno zdanie rozwinięcia]"/>
          <p:cNvSpPr txBox="1"/>
          <p:nvPr/>
        </p:nvSpPr>
        <p:spPr>
          <a:xfrm>
            <a:off x="1188000" y="5238000"/>
            <a:ext cx="9744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SLAJD 1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17 - do czego służy</a:t>
            </a:r>
          </a:p>
        </p:txBody>
      </p:sp>
      <p:sp>
        <p:nvSpPr>
          <p:cNvPr id="19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Punkty: 3-6 haseł z krótkim rozwinięciem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Punkty: 3-6 haseł z krótkim rozwinięciem. Klasyczna lista zalet, warunków, ustaleń.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listy]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18</a:t>
            </a:r>
          </a:p>
        </p:txBody>
      </p:sp>
      <p:sp>
        <p:nvSpPr>
          <p:cNvPr id="5" name="Punktor"/>
          <p:cNvSpPr/>
          <p:nvPr/>
        </p:nvSpPr>
        <p:spPr>
          <a:xfrm>
            <a:off x="892800" y="2872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[Hasło 1]"/>
          <p:cNvSpPr txBox="1"/>
          <p:nvPr/>
        </p:nvSpPr>
        <p:spPr>
          <a:xfrm>
            <a:off x="1188000" y="2772000"/>
            <a:ext cx="630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1]</a:t>
            </a:r>
          </a:p>
        </p:txBody>
      </p:sp>
      <p:sp>
        <p:nvSpPr>
          <p:cNvPr id="7" name="Tekst: [Jedno zdanie rozwinięcia]"/>
          <p:cNvSpPr txBox="1"/>
          <p:nvPr/>
        </p:nvSpPr>
        <p:spPr>
          <a:xfrm>
            <a:off x="1188000" y="3078000"/>
            <a:ext cx="6300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8" name="Punktor"/>
          <p:cNvSpPr/>
          <p:nvPr/>
        </p:nvSpPr>
        <p:spPr>
          <a:xfrm>
            <a:off x="892800" y="3736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Hasło 2]"/>
          <p:cNvSpPr txBox="1"/>
          <p:nvPr/>
        </p:nvSpPr>
        <p:spPr>
          <a:xfrm>
            <a:off x="1188000" y="3636000"/>
            <a:ext cx="630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2]</a:t>
            </a:r>
          </a:p>
        </p:txBody>
      </p:sp>
      <p:sp>
        <p:nvSpPr>
          <p:cNvPr id="10" name="Tekst: [Jedno zdanie rozwinięcia]"/>
          <p:cNvSpPr txBox="1"/>
          <p:nvPr/>
        </p:nvSpPr>
        <p:spPr>
          <a:xfrm>
            <a:off x="1188000" y="3942000"/>
            <a:ext cx="6300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1" name="Punktor"/>
          <p:cNvSpPr/>
          <p:nvPr/>
        </p:nvSpPr>
        <p:spPr>
          <a:xfrm>
            <a:off x="892800" y="4600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[Hasło 3]"/>
          <p:cNvSpPr txBox="1"/>
          <p:nvPr/>
        </p:nvSpPr>
        <p:spPr>
          <a:xfrm>
            <a:off x="1188000" y="4500000"/>
            <a:ext cx="630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3]</a:t>
            </a:r>
          </a:p>
        </p:txBody>
      </p:sp>
      <p:sp>
        <p:nvSpPr>
          <p:cNvPr id="13" name="Tekst: [Jedno zdanie rozwinięcia]"/>
          <p:cNvSpPr txBox="1"/>
          <p:nvPr/>
        </p:nvSpPr>
        <p:spPr>
          <a:xfrm>
            <a:off x="1188000" y="4806000"/>
            <a:ext cx="6300000" cy="54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pic>
        <p:nvPicPr>
          <p:cNvPr id="14" name="Zdjęcie - prawy klik: Zmień obraz (rogi i rozmiar zostają)" descr="ph_763_ZDJCIE.png"/>
          <p:cNvPicPr>
            <a:picLocks noChangeAspect="1"/>
          </p:cNvPicPr>
          <p:nvPr/>
        </p:nvPicPr>
        <p:blipFill>
          <a:blip r:embed="rId3"/>
          <a:srcRect l="29" r="29"/>
          <a:stretch>
            <a:fillRect/>
          </a:stretch>
        </p:blipFill>
        <p:spPr>
          <a:xfrm>
            <a:off x="8028000" y="1908000"/>
            <a:ext cx="3300000" cy="4320000"/>
          </a:xfrm>
          <a:prstGeom prst="rect">
            <a:avLst/>
          </a:prstGeom>
        </p:spPr>
      </p:pic>
      <p:sp>
        <p:nvSpPr>
          <p:cNvPr id="1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SLAJD 1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18 - do czego służy</a:t>
            </a:r>
          </a:p>
        </p:txBody>
      </p:sp>
      <p:sp>
        <p:nvSpPr>
          <p:cNvPr id="1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Punkty + zdjęcie po prawej. Gdy lista po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Punkty + zdjęcie po prawej. Gdy lista potrzebuje kontekstu wizualnego (np.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półka, event).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procesu]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19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1188000" y="2322000"/>
            <a:ext cx="9816000" cy="180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Karta / tło (kolor z motywu)"/>
          <p:cNvSpPr/>
          <p:nvPr/>
        </p:nvSpPr>
        <p:spPr>
          <a:xfrm>
            <a:off x="990000" y="2023200"/>
            <a:ext cx="612000" cy="6120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Numer slajdu"/>
          <p:cNvSpPr txBox="1"/>
          <p:nvPr/>
        </p:nvSpPr>
        <p:spPr>
          <a:xfrm>
            <a:off x="882000" y="2023200"/>
            <a:ext cx="612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864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Etap 1]"/>
          <p:cNvSpPr txBox="1"/>
          <p:nvPr/>
        </p:nvSpPr>
        <p:spPr>
          <a:xfrm>
            <a:off x="1080000" y="3096000"/>
            <a:ext cx="1941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1]</a:t>
            </a:r>
          </a:p>
        </p:txBody>
      </p:sp>
      <p:sp>
        <p:nvSpPr>
          <p:cNvPr id="10" name="Tekst: [Co się dzieje na tym etapie]"/>
          <p:cNvSpPr txBox="1"/>
          <p:nvPr/>
        </p:nvSpPr>
        <p:spPr>
          <a:xfrm>
            <a:off x="1080000" y="3636000"/>
            <a:ext cx="1941000" cy="20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3687000" y="2023200"/>
            <a:ext cx="612000" cy="61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Karta / tło (kolor z motywu)"/>
          <p:cNvSpPr/>
          <p:nvPr/>
        </p:nvSpPr>
        <p:spPr>
          <a:xfrm>
            <a:off x="3579000" y="2023200"/>
            <a:ext cx="612000" cy="612000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umer slajdu"/>
          <p:cNvSpPr txBox="1"/>
          <p:nvPr/>
        </p:nvSpPr>
        <p:spPr>
          <a:xfrm>
            <a:off x="3579000" y="2023200"/>
            <a:ext cx="612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accent1"/>
                </a:solidFill>
                <a:latin typeface="+mj-lt"/>
              </a:rPr>
              <a:t>2</a:t>
            </a:r>
          </a:p>
        </p:txBody>
      </p:sp>
      <p:sp>
        <p:nvSpPr>
          <p:cNvPr id="14" name="Karta / tło (kolor z motywu)"/>
          <p:cNvSpPr/>
          <p:nvPr/>
        </p:nvSpPr>
        <p:spPr>
          <a:xfrm>
            <a:off x="3561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[Etap 2]"/>
          <p:cNvSpPr txBox="1"/>
          <p:nvPr/>
        </p:nvSpPr>
        <p:spPr>
          <a:xfrm>
            <a:off x="3777000" y="3096000"/>
            <a:ext cx="1941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2]</a:t>
            </a:r>
          </a:p>
        </p:txBody>
      </p:sp>
      <p:sp>
        <p:nvSpPr>
          <p:cNvPr id="16" name="Tekst: [Co się dzieje na tym etapie]"/>
          <p:cNvSpPr txBox="1"/>
          <p:nvPr/>
        </p:nvSpPr>
        <p:spPr>
          <a:xfrm>
            <a:off x="3777000" y="3636000"/>
            <a:ext cx="1941000" cy="20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6384000" y="2023200"/>
            <a:ext cx="612000" cy="61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Karta / tło (kolor z motywu)"/>
          <p:cNvSpPr/>
          <p:nvPr/>
        </p:nvSpPr>
        <p:spPr>
          <a:xfrm>
            <a:off x="6276000" y="2023200"/>
            <a:ext cx="612000" cy="612000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Numer slajdu"/>
          <p:cNvSpPr txBox="1"/>
          <p:nvPr/>
        </p:nvSpPr>
        <p:spPr>
          <a:xfrm>
            <a:off x="6276000" y="2023200"/>
            <a:ext cx="612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accent1"/>
                </a:solidFill>
                <a:latin typeface="+mj-lt"/>
              </a:rPr>
              <a:t>3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6258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[Etap 3]"/>
          <p:cNvSpPr txBox="1"/>
          <p:nvPr/>
        </p:nvSpPr>
        <p:spPr>
          <a:xfrm>
            <a:off x="6474000" y="3096000"/>
            <a:ext cx="1941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3]</a:t>
            </a:r>
          </a:p>
        </p:txBody>
      </p:sp>
      <p:sp>
        <p:nvSpPr>
          <p:cNvPr id="22" name="Tekst: [Co się dzieje na tym etapie]"/>
          <p:cNvSpPr txBox="1"/>
          <p:nvPr/>
        </p:nvSpPr>
        <p:spPr>
          <a:xfrm>
            <a:off x="6474000" y="3636000"/>
            <a:ext cx="1941000" cy="20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23" name="Karta / tło (kolor z motywu)"/>
          <p:cNvSpPr/>
          <p:nvPr/>
        </p:nvSpPr>
        <p:spPr>
          <a:xfrm>
            <a:off x="9081000" y="2023200"/>
            <a:ext cx="612000" cy="61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Karta / tło (kolor z motywu)"/>
          <p:cNvSpPr/>
          <p:nvPr/>
        </p:nvSpPr>
        <p:spPr>
          <a:xfrm>
            <a:off x="8973000" y="2023200"/>
            <a:ext cx="612000" cy="612000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umer slajdu"/>
          <p:cNvSpPr txBox="1"/>
          <p:nvPr/>
        </p:nvSpPr>
        <p:spPr>
          <a:xfrm>
            <a:off x="8973000" y="2023200"/>
            <a:ext cx="612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accent1"/>
                </a:solidFill>
                <a:latin typeface="+mj-lt"/>
              </a:rPr>
              <a:t>4</a:t>
            </a:r>
          </a:p>
        </p:txBody>
      </p:sp>
      <p:sp>
        <p:nvSpPr>
          <p:cNvPr id="26" name="Karta / tło (kolor z motywu)"/>
          <p:cNvSpPr/>
          <p:nvPr/>
        </p:nvSpPr>
        <p:spPr>
          <a:xfrm>
            <a:off x="8955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[Etap 4]"/>
          <p:cNvSpPr txBox="1"/>
          <p:nvPr/>
        </p:nvSpPr>
        <p:spPr>
          <a:xfrm>
            <a:off x="9171000" y="3096000"/>
            <a:ext cx="1941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4]</a:t>
            </a:r>
          </a:p>
        </p:txBody>
      </p:sp>
      <p:sp>
        <p:nvSpPr>
          <p:cNvPr id="28" name="Tekst: [Co się dzieje na tym etapie]"/>
          <p:cNvSpPr txBox="1"/>
          <p:nvPr/>
        </p:nvSpPr>
        <p:spPr>
          <a:xfrm>
            <a:off x="9171000" y="3636000"/>
            <a:ext cx="1941000" cy="20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kst: SLAJD 1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19 -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kst: Kroki / proces: 3-5 etapów w kolejności 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Kroki / proces: 3-5 etapów w kolejności (wdrożenie, zamówienie, kampania).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[OPINIA]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20</a:t>
            </a:r>
          </a:p>
        </p:txBody>
      </p:sp>
      <p:sp>
        <p:nvSpPr>
          <p:cNvPr id="5" name="Tekst: „"/>
          <p:cNvSpPr txBox="1"/>
          <p:nvPr/>
        </p:nvSpPr>
        <p:spPr>
          <a:xfrm>
            <a:off x="864000" y="1557000"/>
            <a:ext cx="2160000" cy="31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0000" b="0" i="0">
                <a:solidFill>
                  <a:schemeClr val="accent4"/>
                </a:solidFill>
                <a:latin typeface="+mj-lt"/>
              </a:rPr>
              <a:t>„</a:t>
            </a:r>
          </a:p>
        </p:txBody>
      </p:sp>
      <p:sp>
        <p:nvSpPr>
          <p:cNvPr id="6" name="Tekst: [Treść cytatu - krótka, konkretna, najle"/>
          <p:cNvSpPr txBox="1"/>
          <p:nvPr/>
        </p:nvSpPr>
        <p:spPr>
          <a:xfrm>
            <a:off x="2160000" y="2319600"/>
            <a:ext cx="8640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200"/>
              </a:lnSpc>
            </a:pPr>
            <a:r>
              <a:rPr sz="3000" b="0" i="1">
                <a:solidFill>
                  <a:schemeClr val="tx1"/>
                </a:solidFill>
                <a:latin typeface="+mn-lt"/>
              </a:rPr>
              <a:t>[Treść cytatu - krótka, konkretna, najlepiej z liczbą albo emocją]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2160000" y="3746400"/>
            <a:ext cx="864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Imię Nazwisko]"/>
          <p:cNvSpPr txBox="1"/>
          <p:nvPr/>
        </p:nvSpPr>
        <p:spPr>
          <a:xfrm>
            <a:off x="2160000" y="3926400"/>
            <a:ext cx="86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[Imię Nazwisko]</a:t>
            </a:r>
          </a:p>
        </p:txBody>
      </p:sp>
      <p:sp>
        <p:nvSpPr>
          <p:cNvPr id="9" name="Tekst: [funkcja, firma]"/>
          <p:cNvSpPr txBox="1"/>
          <p:nvPr/>
        </p:nvSpPr>
        <p:spPr>
          <a:xfrm>
            <a:off x="2160000" y="4214400"/>
            <a:ext cx="86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[funkcja, firma]</a:t>
            </a:r>
          </a:p>
        </p:txBody>
      </p:sp>
      <p:sp>
        <p:nvSpPr>
          <p:cNvPr id="1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SLAJD 2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20 - do czego służy</a:t>
            </a:r>
          </a:p>
        </p:txBody>
      </p:sp>
      <p:sp>
        <p:nvSpPr>
          <p:cNvPr id="12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Cytat / opinia: klient, partner, konsum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Cytat / opinia: klient, partner, konsument, influencer. Zawsze z autorem.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porównania]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21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5088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[Dziś]"/>
          <p:cNvSpPr txBox="1"/>
          <p:nvPr/>
        </p:nvSpPr>
        <p:spPr>
          <a:xfrm>
            <a:off x="1224000" y="2016000"/>
            <a:ext cx="4368000" cy="50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0" i="0">
                <a:solidFill>
                  <a:schemeClr val="tx1"/>
                </a:solidFill>
                <a:latin typeface="+mj-lt"/>
              </a:rPr>
              <a:t>[Dziś]</a:t>
            </a:r>
          </a:p>
        </p:txBody>
      </p:sp>
      <p:sp>
        <p:nvSpPr>
          <p:cNvPr id="7" name="Punktor"/>
          <p:cNvSpPr/>
          <p:nvPr/>
        </p:nvSpPr>
        <p:spPr>
          <a:xfrm>
            <a:off x="1231200" y="274320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Obserwacja 1]"/>
          <p:cNvSpPr txBox="1"/>
          <p:nvPr/>
        </p:nvSpPr>
        <p:spPr>
          <a:xfrm>
            <a:off x="1440000" y="2664000"/>
            <a:ext cx="415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tx1"/>
                </a:solidFill>
                <a:latin typeface="+mn-lt"/>
              </a:rPr>
              <a:t>[Obserwacja 1]</a:t>
            </a:r>
          </a:p>
        </p:txBody>
      </p:sp>
      <p:sp>
        <p:nvSpPr>
          <p:cNvPr id="9" name="Punktor"/>
          <p:cNvSpPr/>
          <p:nvPr/>
        </p:nvSpPr>
        <p:spPr>
          <a:xfrm>
            <a:off x="1231200" y="318460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[Obserwacja 2]"/>
          <p:cNvSpPr txBox="1"/>
          <p:nvPr/>
        </p:nvSpPr>
        <p:spPr>
          <a:xfrm>
            <a:off x="1440000" y="3105400"/>
            <a:ext cx="415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tx1"/>
                </a:solidFill>
                <a:latin typeface="+mn-lt"/>
              </a:rPr>
              <a:t>[Obserwacja 2]</a:t>
            </a:r>
          </a:p>
        </p:txBody>
      </p:sp>
      <p:sp>
        <p:nvSpPr>
          <p:cNvPr id="11" name="Punktor"/>
          <p:cNvSpPr/>
          <p:nvPr/>
        </p:nvSpPr>
        <p:spPr>
          <a:xfrm>
            <a:off x="1231200" y="362600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[Obserwacja 3]"/>
          <p:cNvSpPr txBox="1"/>
          <p:nvPr/>
        </p:nvSpPr>
        <p:spPr>
          <a:xfrm>
            <a:off x="1440000" y="3546800"/>
            <a:ext cx="415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tx1"/>
                </a:solidFill>
                <a:latin typeface="+mn-lt"/>
              </a:rPr>
              <a:t>[Obserwacja 3]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6240000" y="1908000"/>
            <a:ext cx="5088000" cy="432000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[Z nami]"/>
          <p:cNvSpPr txBox="1"/>
          <p:nvPr/>
        </p:nvSpPr>
        <p:spPr>
          <a:xfrm>
            <a:off x="6600000" y="2016000"/>
            <a:ext cx="4368000" cy="50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0" i="0">
                <a:solidFill>
                  <a:schemeClr val="bg1"/>
                </a:solidFill>
                <a:latin typeface="+mj-lt"/>
              </a:rPr>
              <a:t>[Z nami]</a:t>
            </a:r>
          </a:p>
        </p:txBody>
      </p:sp>
      <p:sp>
        <p:nvSpPr>
          <p:cNvPr id="15" name="Punktor"/>
          <p:cNvSpPr/>
          <p:nvPr/>
        </p:nvSpPr>
        <p:spPr>
          <a:xfrm>
            <a:off x="6607200" y="2743200"/>
            <a:ext cx="93600" cy="936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[Korzyść 1]"/>
          <p:cNvSpPr txBox="1"/>
          <p:nvPr/>
        </p:nvSpPr>
        <p:spPr>
          <a:xfrm>
            <a:off x="6816000" y="2664000"/>
            <a:ext cx="415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[Korzyść 1]</a:t>
            </a:r>
          </a:p>
        </p:txBody>
      </p:sp>
      <p:sp>
        <p:nvSpPr>
          <p:cNvPr id="17" name="Punktor"/>
          <p:cNvSpPr/>
          <p:nvPr/>
        </p:nvSpPr>
        <p:spPr>
          <a:xfrm>
            <a:off x="6607200" y="3184600"/>
            <a:ext cx="93600" cy="936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[Korzyść 2]"/>
          <p:cNvSpPr txBox="1"/>
          <p:nvPr/>
        </p:nvSpPr>
        <p:spPr>
          <a:xfrm>
            <a:off x="6816000" y="3105400"/>
            <a:ext cx="415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[Korzyść 2]</a:t>
            </a:r>
          </a:p>
        </p:txBody>
      </p:sp>
      <p:sp>
        <p:nvSpPr>
          <p:cNvPr id="19" name="Punktor"/>
          <p:cNvSpPr/>
          <p:nvPr/>
        </p:nvSpPr>
        <p:spPr>
          <a:xfrm>
            <a:off x="6607200" y="3626000"/>
            <a:ext cx="93600" cy="936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[Korzyść 3]"/>
          <p:cNvSpPr txBox="1"/>
          <p:nvPr/>
        </p:nvSpPr>
        <p:spPr>
          <a:xfrm>
            <a:off x="6816000" y="3546800"/>
            <a:ext cx="415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[Korzyść 3]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SLAJD 2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21 -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Dwie kolumny - porównanie: 'dziś' kontra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Dwie kolumny - porównanie: 'dziś' kontra 'nasza propozycja'. Prawa kolumna jest wyróżniona.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Zdjęcie - prawy klik: Zmień obraz (rogi i rozmiar zostają)" descr="ph_817_ZDJCIE.png"/>
          <p:cNvPicPr>
            <a:picLocks noChangeAspect="1"/>
          </p:cNvPicPr>
          <p:nvPr/>
        </p:nvPicPr>
        <p:blipFill>
          <a:blip r:embed="rId2"/>
          <a:srcRect l="13" r="13"/>
          <a:stretch>
            <a:fillRect/>
          </a:stretch>
        </p:blipFill>
        <p:spPr>
          <a:xfrm>
            <a:off x="6583680" y="0"/>
            <a:ext cx="5608320" cy="6858000"/>
          </a:xfrm>
          <a:prstGeom prst="rect">
            <a:avLst/>
          </a:prstGeom>
        </p:spPr>
      </p:pic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50000"/>
            <a:ext cx="684000" cy="504450"/>
          </a:xfrm>
          <a:prstGeom prst="rect">
            <a:avLst/>
          </a:prstGeom>
        </p:spPr>
      </p:pic>
      <p:sp>
        <p:nvSpPr>
          <p:cNvPr id="4" name="Tytuł slajdu"/>
          <p:cNvSpPr txBox="1"/>
          <p:nvPr/>
        </p:nvSpPr>
        <p:spPr>
          <a:xfrm>
            <a:off x="864000" y="1512000"/>
            <a:ext cx="492768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sp>
        <p:nvSpPr>
          <p:cNvPr id="5" name="Tekst: [Opis: 2-4 zdania. Zdjęcie podmień: praw"/>
          <p:cNvSpPr txBox="1"/>
          <p:nvPr/>
        </p:nvSpPr>
        <p:spPr>
          <a:xfrm>
            <a:off x="864000" y="2293624"/>
            <a:ext cx="4927680" cy="584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[Opis: 2-4 zdania. Zdjęcie podmień: prawy klik &gt; Zmień obraz.]</a:t>
            </a:r>
          </a:p>
        </p:txBody>
      </p:sp>
      <p:sp>
        <p:nvSpPr>
          <p:cNvPr id="6" name="Punktor"/>
          <p:cNvSpPr/>
          <p:nvPr/>
        </p:nvSpPr>
        <p:spPr>
          <a:xfrm>
            <a:off x="871200" y="3165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Punkt 1]"/>
          <p:cNvSpPr txBox="1"/>
          <p:nvPr/>
        </p:nvSpPr>
        <p:spPr>
          <a:xfrm>
            <a:off x="1080000" y="3093824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8" name="Punktor"/>
          <p:cNvSpPr/>
          <p:nvPr/>
        </p:nvSpPr>
        <p:spPr>
          <a:xfrm>
            <a:off x="871200" y="3507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Punkt 2]"/>
          <p:cNvSpPr txBox="1"/>
          <p:nvPr/>
        </p:nvSpPr>
        <p:spPr>
          <a:xfrm>
            <a:off x="1080000" y="3435824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0" name="Punktor"/>
          <p:cNvSpPr/>
          <p:nvPr/>
        </p:nvSpPr>
        <p:spPr>
          <a:xfrm>
            <a:off x="871200" y="3849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Punkt 3]"/>
          <p:cNvSpPr txBox="1"/>
          <p:nvPr/>
        </p:nvSpPr>
        <p:spPr>
          <a:xfrm>
            <a:off x="1080000" y="3777824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2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SLAJD 2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22 - do czego służy</a:t>
            </a:r>
          </a:p>
        </p:txBody>
      </p:sp>
      <p:sp>
        <p:nvSpPr>
          <p:cNvPr id="14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Tekst po lewej, ZDJĘCIE po prawej (do k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po lewej, ZDJĘCIE po prawej (do krawędzi). Opis produktu, kampanii, eventu.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Zdjęcie - prawy klik: Zmień obraz (rogi i rozmiar zostają)" descr="ph_817_ZDJCIE.png"/>
          <p:cNvPicPr>
            <a:picLocks noChangeAspect="1"/>
          </p:cNvPicPr>
          <p:nvPr/>
        </p:nvPicPr>
        <p:blipFill>
          <a:blip r:embed="rId2"/>
          <a:srcRect l="13" r="13"/>
          <a:stretch>
            <a:fillRect/>
          </a:stretch>
        </p:blipFill>
        <p:spPr>
          <a:xfrm>
            <a:off x="0" y="0"/>
            <a:ext cx="5608320" cy="6858000"/>
          </a:xfrm>
          <a:prstGeom prst="rect">
            <a:avLst/>
          </a:prstGeom>
        </p:spPr>
      </p:pic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450000"/>
            <a:ext cx="684000" cy="504450"/>
          </a:xfrm>
          <a:prstGeom prst="rect">
            <a:avLst/>
          </a:prstGeom>
        </p:spPr>
      </p:pic>
      <p:sp>
        <p:nvSpPr>
          <p:cNvPr id="4" name="Tytuł slajdu"/>
          <p:cNvSpPr txBox="1"/>
          <p:nvPr/>
        </p:nvSpPr>
        <p:spPr>
          <a:xfrm>
            <a:off x="6400320" y="1512000"/>
            <a:ext cx="492768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sp>
        <p:nvSpPr>
          <p:cNvPr id="5" name="Tekst: [Opis: 2-4 zdania. Zdjęcie podmień: praw"/>
          <p:cNvSpPr txBox="1"/>
          <p:nvPr/>
        </p:nvSpPr>
        <p:spPr>
          <a:xfrm>
            <a:off x="6400320" y="2293624"/>
            <a:ext cx="4927680" cy="584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[Opis: 2-4 zdania. Zdjęcie podmień: prawy klik &gt; Zmień obraz.]</a:t>
            </a:r>
          </a:p>
        </p:txBody>
      </p:sp>
      <p:sp>
        <p:nvSpPr>
          <p:cNvPr id="6" name="Punktor"/>
          <p:cNvSpPr/>
          <p:nvPr/>
        </p:nvSpPr>
        <p:spPr>
          <a:xfrm>
            <a:off x="6407520" y="3165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Punkt 1]"/>
          <p:cNvSpPr txBox="1"/>
          <p:nvPr/>
        </p:nvSpPr>
        <p:spPr>
          <a:xfrm>
            <a:off x="6616320" y="3093824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8" name="Punktor"/>
          <p:cNvSpPr/>
          <p:nvPr/>
        </p:nvSpPr>
        <p:spPr>
          <a:xfrm>
            <a:off x="6407520" y="3507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Punkt 2]"/>
          <p:cNvSpPr txBox="1"/>
          <p:nvPr/>
        </p:nvSpPr>
        <p:spPr>
          <a:xfrm>
            <a:off x="6616320" y="3435824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0" name="Punktor"/>
          <p:cNvSpPr/>
          <p:nvPr/>
        </p:nvSpPr>
        <p:spPr>
          <a:xfrm>
            <a:off x="6407520" y="3849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Punkt 3]"/>
          <p:cNvSpPr txBox="1"/>
          <p:nvPr/>
        </p:nvSpPr>
        <p:spPr>
          <a:xfrm>
            <a:off x="6616320" y="3777824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2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SLAJD 2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23 - do czego służy</a:t>
            </a:r>
          </a:p>
        </p:txBody>
      </p:sp>
      <p:sp>
        <p:nvSpPr>
          <p:cNvPr id="14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ZDJĘCIE po lewej, tekst po prawej. Lust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ZDJĘCIE po lewej, tekst po prawej.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Lustrzane odbicie poprzedniego - używaj na zmianę dla rytmu.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arta / tło (kolor z motywu)"/>
          <p:cNvSpPr/>
          <p:nvPr/>
        </p:nvSpPr>
        <p:spPr>
          <a:xfrm>
            <a:off x="6583680" y="0"/>
            <a:ext cx="5608320" cy="685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24" name="Produkt z owocami (grupa) - przesuwaj całość; kliknij 2x, by zmienić obraz"/>
          <p:cNvGrpSpPr/>
          <p:nvPr/>
        </p:nvGrpSpPr>
        <p:grpSpPr>
          <a:xfrm>
            <a:off x="6858004" y="1287000"/>
            <a:ext cx="4971733" cy="5070085"/>
            <a:chOff x="6858004" y="1287000"/>
            <a:chExt cx="4971733" cy="5070085"/>
          </a:xfrm>
        </p:grpSpPr>
        <p:pic>
          <p:nvPicPr>
            <p:cNvPr id="3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440000">
              <a:off x="10939054" y="1745307"/>
              <a:ext cx="720000" cy="523384"/>
            </a:xfrm>
            <a:prstGeom prst="rect">
              <a:avLst/>
            </a:prstGeom>
          </p:spPr>
        </p:pic>
        <p:sp>
          <p:nvSpPr>
            <p:cNvPr id="4" name="Cień pod paczką"/>
            <p:cNvSpPr/>
            <p:nvPr/>
          </p:nvSpPr>
          <p:spPr>
            <a:xfrm rot="240000">
              <a:off x="7874795" y="5474835"/>
              <a:ext cx="3026089" cy="44595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40000">
              <a:off x="7795161" y="1287000"/>
              <a:ext cx="3185357" cy="4500000"/>
            </a:xfrm>
            <a:prstGeom prst="rect">
              <a:avLst/>
            </a:prstGeom>
          </p:spPr>
        </p:pic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0640000">
              <a:off x="6858004" y="2227210"/>
              <a:ext cx="855000" cy="819578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600000">
              <a:off x="7004125" y="4714200"/>
              <a:ext cx="945000" cy="885600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880000">
              <a:off x="11023199" y="3987000"/>
              <a:ext cx="806538" cy="9000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0000">
              <a:off x="8308354" y="5626800"/>
              <a:ext cx="630000" cy="590400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920000">
              <a:off x="9983447" y="5666914"/>
              <a:ext cx="720000" cy="690171"/>
            </a:xfrm>
            <a:prstGeom prst="rect">
              <a:avLst/>
            </a:prstGeom>
          </p:spPr>
        </p:pic>
      </p:grpSp>
      <p:pic>
        <p:nvPicPr>
          <p:cNvPr id="11" name="Logo marki" descr="logo_green_bo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000" y="450000"/>
            <a:ext cx="684000" cy="504450"/>
          </a:xfrm>
          <a:prstGeom prst="rect">
            <a:avLst/>
          </a:prstGeom>
        </p:spPr>
      </p:pic>
      <p:sp>
        <p:nvSpPr>
          <p:cNvPr id="12" name="Tytuł slajdu"/>
          <p:cNvSpPr txBox="1"/>
          <p:nvPr/>
        </p:nvSpPr>
        <p:spPr>
          <a:xfrm>
            <a:off x="864000" y="1512000"/>
            <a:ext cx="4927680" cy="1117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slajdu</a:t>
            </a:r>
          </a:p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o produkcie]</a:t>
            </a:r>
          </a:p>
        </p:txBody>
      </p:sp>
      <p:sp>
        <p:nvSpPr>
          <p:cNvPr id="13" name="Tekst: [Opis produktu - claimy tylko z karty wp"/>
          <p:cNvSpPr txBox="1"/>
          <p:nvPr/>
        </p:nvSpPr>
        <p:spPr>
          <a:xfrm>
            <a:off x="864000" y="2841248"/>
            <a:ext cx="4927680" cy="2921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 produktu - claimy tylko z karty wprowadzenia.]</a:t>
            </a:r>
          </a:p>
        </p:txBody>
      </p:sp>
      <p:sp>
        <p:nvSpPr>
          <p:cNvPr id="14" name="Punktor"/>
          <p:cNvSpPr/>
          <p:nvPr/>
        </p:nvSpPr>
        <p:spPr>
          <a:xfrm>
            <a:off x="871200" y="3421348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[Claim 1]"/>
          <p:cNvSpPr txBox="1"/>
          <p:nvPr/>
        </p:nvSpPr>
        <p:spPr>
          <a:xfrm>
            <a:off x="1080000" y="3349348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[Claim 1]</a:t>
            </a:r>
          </a:p>
        </p:txBody>
      </p:sp>
      <p:sp>
        <p:nvSpPr>
          <p:cNvPr id="16" name="Punktor"/>
          <p:cNvSpPr/>
          <p:nvPr/>
        </p:nvSpPr>
        <p:spPr>
          <a:xfrm>
            <a:off x="871200" y="3763348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[Claim 2]"/>
          <p:cNvSpPr txBox="1"/>
          <p:nvPr/>
        </p:nvSpPr>
        <p:spPr>
          <a:xfrm>
            <a:off x="1080000" y="3691348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[Claim 2]</a:t>
            </a:r>
          </a:p>
        </p:txBody>
      </p:sp>
      <p:sp>
        <p:nvSpPr>
          <p:cNvPr id="18" name="Punktor"/>
          <p:cNvSpPr/>
          <p:nvPr/>
        </p:nvSpPr>
        <p:spPr>
          <a:xfrm>
            <a:off x="871200" y="4105348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[Claim 3]"/>
          <p:cNvSpPr txBox="1"/>
          <p:nvPr/>
        </p:nvSpPr>
        <p:spPr>
          <a:xfrm>
            <a:off x="1080000" y="4033348"/>
            <a:ext cx="471168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[Claim 3]</a:t>
            </a:r>
          </a:p>
        </p:txBody>
      </p: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SLAJD 2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24 -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Tekst po lewej, PRODUKT po prawej (na k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po lewej, PRODUKT po prawej (na kremowym tle z drobnymi elementami smaku).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Zdjęcie - prawy klik: Zmień obraz (rogi i rozmiar zostają)" descr="ph_940_ZDJCIE.png"/>
          <p:cNvPicPr>
            <a:picLocks noChangeAspect="1"/>
          </p:cNvPicPr>
          <p:nvPr/>
        </p:nvPicPr>
        <p:blipFill>
          <a:blip r:embed="rId2"/>
          <a:srcRect l="16" r="16"/>
          <a:stretch>
            <a:fillRect/>
          </a:stretch>
        </p:blipFill>
        <p:spPr>
          <a:xfrm>
            <a:off x="864000" y="576000"/>
            <a:ext cx="5364480" cy="5706000"/>
          </a:xfrm>
          <a:prstGeom prst="roundRect">
            <a:avLst>
              <a:gd name="adj" fmla="val 3019"/>
            </a:avLst>
          </a:prstGeom>
        </p:spPr>
      </p:pic>
      <p:sp>
        <p:nvSpPr>
          <p:cNvPr id="3" name="Tytuł slajdu"/>
          <p:cNvSpPr txBox="1"/>
          <p:nvPr/>
        </p:nvSpPr>
        <p:spPr>
          <a:xfrm>
            <a:off x="7020480" y="809600"/>
            <a:ext cx="4307520" cy="558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400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z hasłem]</a:t>
            </a:r>
          </a:p>
        </p:txBody>
      </p:sp>
      <p:pic>
        <p:nvPicPr>
          <p:cNvPr id="4" name="Ikona / grafika - prawy klik: Zmień obraz" descr="spark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480" y="1728400"/>
            <a:ext cx="468000" cy="468000"/>
          </a:xfrm>
          <a:prstGeom prst="rect">
            <a:avLst/>
          </a:prstGeom>
        </p:spPr>
      </p:pic>
      <p:sp>
        <p:nvSpPr>
          <p:cNvPr id="5" name="Tekst: [Zaleta 1]"/>
          <p:cNvSpPr txBox="1"/>
          <p:nvPr/>
        </p:nvSpPr>
        <p:spPr>
          <a:xfrm>
            <a:off x="7740480" y="17104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1]</a:t>
            </a:r>
          </a:p>
        </p:txBody>
      </p:sp>
      <p:sp>
        <p:nvSpPr>
          <p:cNvPr id="6" name="Tekst: [1-2 zdania opisu zalety]"/>
          <p:cNvSpPr txBox="1"/>
          <p:nvPr/>
        </p:nvSpPr>
        <p:spPr>
          <a:xfrm>
            <a:off x="7740480" y="20524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pic>
        <p:nvPicPr>
          <p:cNvPr id="7" name="Ikona / grafika - prawy klik: Zmień obraz" descr="smile-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480" y="2808400"/>
            <a:ext cx="468000" cy="468000"/>
          </a:xfrm>
          <a:prstGeom prst="rect">
            <a:avLst/>
          </a:prstGeom>
        </p:spPr>
      </p:pic>
      <p:sp>
        <p:nvSpPr>
          <p:cNvPr id="8" name="Tekst: [Zaleta 2]"/>
          <p:cNvSpPr txBox="1"/>
          <p:nvPr/>
        </p:nvSpPr>
        <p:spPr>
          <a:xfrm>
            <a:off x="7740480" y="27904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2]</a:t>
            </a:r>
          </a:p>
        </p:txBody>
      </p:sp>
      <p:sp>
        <p:nvSpPr>
          <p:cNvPr id="9" name="Tekst: [1-2 zdania opisu zalety]"/>
          <p:cNvSpPr txBox="1"/>
          <p:nvPr/>
        </p:nvSpPr>
        <p:spPr>
          <a:xfrm>
            <a:off x="7740480" y="31324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pic>
        <p:nvPicPr>
          <p:cNvPr id="10" name="Ikona / grafika - prawy klik: Zmień obraz" descr="thumbs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0480" y="3888400"/>
            <a:ext cx="468000" cy="468000"/>
          </a:xfrm>
          <a:prstGeom prst="rect">
            <a:avLst/>
          </a:prstGeom>
        </p:spPr>
      </p:pic>
      <p:sp>
        <p:nvSpPr>
          <p:cNvPr id="11" name="Tekst: [Zaleta 3]"/>
          <p:cNvSpPr txBox="1"/>
          <p:nvPr/>
        </p:nvSpPr>
        <p:spPr>
          <a:xfrm>
            <a:off x="7740480" y="38704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3]</a:t>
            </a:r>
          </a:p>
        </p:txBody>
      </p:sp>
      <p:sp>
        <p:nvSpPr>
          <p:cNvPr id="12" name="Tekst: [1-2 zdania opisu zalety]"/>
          <p:cNvSpPr txBox="1"/>
          <p:nvPr/>
        </p:nvSpPr>
        <p:spPr>
          <a:xfrm>
            <a:off x="7740480" y="42124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pic>
        <p:nvPicPr>
          <p:cNvPr id="13" name="Ikona / grafika - prawy klik: Zmień obraz" descr="heart-pul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0480" y="4968400"/>
            <a:ext cx="468000" cy="468000"/>
          </a:xfrm>
          <a:prstGeom prst="rect">
            <a:avLst/>
          </a:prstGeom>
        </p:spPr>
      </p:pic>
      <p:sp>
        <p:nvSpPr>
          <p:cNvPr id="14" name="Tekst: [Zaleta 4]"/>
          <p:cNvSpPr txBox="1"/>
          <p:nvPr/>
        </p:nvSpPr>
        <p:spPr>
          <a:xfrm>
            <a:off x="7740480" y="49504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4]</a:t>
            </a:r>
          </a:p>
        </p:txBody>
      </p:sp>
      <p:sp>
        <p:nvSpPr>
          <p:cNvPr id="15" name="Tekst: [1-2 zdania opisu zalety]"/>
          <p:cNvSpPr txBox="1"/>
          <p:nvPr/>
        </p:nvSpPr>
        <p:spPr>
          <a:xfrm>
            <a:off x="7740480" y="52924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SLAJD 2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25 -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Lista zalet z ikonami + ZDJĘCIE w zaokrą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Lista zalet z ikonami + ZDJĘCIE w zaokrąglonej karcie (jak 'Lecimy w kulki!' w sklepie). 3-4 pozycje; ikony z assets/icons (Lucide).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Zdjęcie - prawy klik: Zmień obraz (rogi i rozmiar zostają)" descr="ph_1777_ZDJC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arta / tło (kolor z motywu)"/>
          <p:cNvSpPr/>
          <p:nvPr/>
        </p:nvSpPr>
        <p:spPr>
          <a:xfrm>
            <a:off x="864000" y="4804000"/>
            <a:ext cx="4320000" cy="1190000"/>
          </a:xfrm>
          <a:prstGeom prst="roundRect">
            <a:avLst>
              <a:gd name="adj" fmla="val 13613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kst: [Podpis zdjęcia]"/>
          <p:cNvSpPr txBox="1"/>
          <p:nvPr/>
        </p:nvSpPr>
        <p:spPr>
          <a:xfrm>
            <a:off x="1152000" y="5020000"/>
            <a:ext cx="3744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0" i="0">
                <a:solidFill>
                  <a:schemeClr val="tx1"/>
                </a:solidFill>
                <a:latin typeface="+mj-lt"/>
              </a:rPr>
              <a:t>[Podpis zdjęcia]</a:t>
            </a:r>
          </a:p>
        </p:txBody>
      </p:sp>
      <p:sp>
        <p:nvSpPr>
          <p:cNvPr id="5" name="Tekst: [Jedno zdanie: gdzie, kiedy, co widać]"/>
          <p:cNvSpPr txBox="1"/>
          <p:nvPr/>
        </p:nvSpPr>
        <p:spPr>
          <a:xfrm>
            <a:off x="1152000" y="5452000"/>
            <a:ext cx="374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gdzie, kiedy, co widać]</a:t>
            </a:r>
          </a:p>
        </p:txBody>
      </p:sp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SLAJD 2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26 -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Tylko grafika: zdjęcie na cały slajd + k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Tylko grafika: zdjęcie na cały slajd + karta z podpisem. Kadr z kampanii, półka w sklepie, event.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Zdjęcie - prawy klik: Zmień obraz (rogi i rozmiar zostają)" descr="ph_1777_ZDJC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kst: SLAJD 2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27 - do czego służy</a:t>
            </a:r>
          </a:p>
        </p:txBody>
      </p:sp>
      <p:sp>
        <p:nvSpPr>
          <p:cNvPr id="5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Tylko grafika bez podpisu. Na zdjęcie, k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Tylko grafika bez podpisu. Na zdjęcie, które mówi samo za siebie.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galerii]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28</a:t>
            </a:r>
          </a:p>
        </p:txBody>
      </p:sp>
      <p:pic>
        <p:nvPicPr>
          <p:cNvPr id="5" name="Zdjęcie - prawy klik: Zmień obraz (rogi i rozmiar zostają)" descr="ph_826_ZDJCIE.png"/>
          <p:cNvPicPr>
            <a:picLocks noChangeAspect="1"/>
          </p:cNvPicPr>
          <p:nvPr/>
        </p:nvPicPr>
        <p:blipFill>
          <a:blip r:embed="rId3"/>
          <a:srcRect l="11" r="11"/>
          <a:stretch>
            <a:fillRect/>
          </a:stretch>
        </p:blipFill>
        <p:spPr>
          <a:xfrm>
            <a:off x="864000" y="1908000"/>
            <a:ext cx="3272000" cy="3960000"/>
          </a:xfrm>
          <a:prstGeom prst="rect">
            <a:avLst/>
          </a:prstGeom>
        </p:spPr>
      </p:pic>
      <p:sp>
        <p:nvSpPr>
          <p:cNvPr id="6" name="Tekst: [Podpis 1]"/>
          <p:cNvSpPr txBox="1"/>
          <p:nvPr/>
        </p:nvSpPr>
        <p:spPr>
          <a:xfrm>
            <a:off x="864000" y="5940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1]</a:t>
            </a:r>
          </a:p>
        </p:txBody>
      </p:sp>
      <p:pic>
        <p:nvPicPr>
          <p:cNvPr id="7" name="Zdjęcie - prawy klik: Zmień obraz (rogi i rozmiar zostają)" descr="ph_826_ZDJCIE.png"/>
          <p:cNvPicPr>
            <a:picLocks noChangeAspect="1"/>
          </p:cNvPicPr>
          <p:nvPr/>
        </p:nvPicPr>
        <p:blipFill>
          <a:blip r:embed="rId3"/>
          <a:srcRect l="11" r="11"/>
          <a:stretch>
            <a:fillRect/>
          </a:stretch>
        </p:blipFill>
        <p:spPr>
          <a:xfrm>
            <a:off x="4460000" y="1908000"/>
            <a:ext cx="3272000" cy="3960000"/>
          </a:xfrm>
          <a:prstGeom prst="rect">
            <a:avLst/>
          </a:prstGeom>
        </p:spPr>
      </p:pic>
      <p:sp>
        <p:nvSpPr>
          <p:cNvPr id="8" name="Tekst: [Podpis 2]"/>
          <p:cNvSpPr txBox="1"/>
          <p:nvPr/>
        </p:nvSpPr>
        <p:spPr>
          <a:xfrm>
            <a:off x="4460000" y="5940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2]</a:t>
            </a:r>
          </a:p>
        </p:txBody>
      </p:sp>
      <p:pic>
        <p:nvPicPr>
          <p:cNvPr id="9" name="Zdjęcie - prawy klik: Zmień obraz (rogi i rozmiar zostają)" descr="ph_826_ZDJCIE.png"/>
          <p:cNvPicPr>
            <a:picLocks noChangeAspect="1"/>
          </p:cNvPicPr>
          <p:nvPr/>
        </p:nvPicPr>
        <p:blipFill>
          <a:blip r:embed="rId3"/>
          <a:srcRect l="11" r="11"/>
          <a:stretch>
            <a:fillRect/>
          </a:stretch>
        </p:blipFill>
        <p:spPr>
          <a:xfrm>
            <a:off x="8056000" y="1908000"/>
            <a:ext cx="3272000" cy="3960000"/>
          </a:xfrm>
          <a:prstGeom prst="rect">
            <a:avLst/>
          </a:prstGeom>
        </p:spPr>
      </p:pic>
      <p:sp>
        <p:nvSpPr>
          <p:cNvPr id="10" name="Tekst: [Podpis 3]"/>
          <p:cNvSpPr txBox="1"/>
          <p:nvPr/>
        </p:nvSpPr>
        <p:spPr>
          <a:xfrm>
            <a:off x="8056000" y="5940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3]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SLAJD 2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28 -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Galeria 3 zdjęć z podpisami (półki, POS,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Galeria 3 zdjęć z podpisami (półki, POS, materiały).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galerii]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29</a:t>
            </a:r>
          </a:p>
        </p:txBody>
      </p:sp>
      <p:pic>
        <p:nvPicPr>
          <p:cNvPr id="5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3"/>
          <a:srcRect l="61" r="61"/>
          <a:stretch>
            <a:fillRect/>
          </a:stretch>
        </p:blipFill>
        <p:spPr>
          <a:xfrm>
            <a:off x="864000" y="1908000"/>
            <a:ext cx="3272000" cy="1638000"/>
          </a:xfrm>
          <a:prstGeom prst="rect">
            <a:avLst/>
          </a:prstGeom>
        </p:spPr>
      </p:pic>
      <p:sp>
        <p:nvSpPr>
          <p:cNvPr id="6" name="Tekst: [Podpis 1]"/>
          <p:cNvSpPr txBox="1"/>
          <p:nvPr/>
        </p:nvSpPr>
        <p:spPr>
          <a:xfrm>
            <a:off x="864000" y="3618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1]</a:t>
            </a:r>
          </a:p>
        </p:txBody>
      </p:sp>
      <p:pic>
        <p:nvPicPr>
          <p:cNvPr id="7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3"/>
          <a:srcRect l="61" r="61"/>
          <a:stretch>
            <a:fillRect/>
          </a:stretch>
        </p:blipFill>
        <p:spPr>
          <a:xfrm>
            <a:off x="4460000" y="1908000"/>
            <a:ext cx="3272000" cy="1638000"/>
          </a:xfrm>
          <a:prstGeom prst="rect">
            <a:avLst/>
          </a:prstGeom>
        </p:spPr>
      </p:pic>
      <p:sp>
        <p:nvSpPr>
          <p:cNvPr id="8" name="Tekst: [Podpis 2]"/>
          <p:cNvSpPr txBox="1"/>
          <p:nvPr/>
        </p:nvSpPr>
        <p:spPr>
          <a:xfrm>
            <a:off x="4460000" y="3618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2]</a:t>
            </a:r>
          </a:p>
        </p:txBody>
      </p:sp>
      <p:pic>
        <p:nvPicPr>
          <p:cNvPr id="9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3"/>
          <a:srcRect l="61" r="61"/>
          <a:stretch>
            <a:fillRect/>
          </a:stretch>
        </p:blipFill>
        <p:spPr>
          <a:xfrm>
            <a:off x="8056000" y="1908000"/>
            <a:ext cx="3272000" cy="1638000"/>
          </a:xfrm>
          <a:prstGeom prst="rect">
            <a:avLst/>
          </a:prstGeom>
        </p:spPr>
      </p:pic>
      <p:sp>
        <p:nvSpPr>
          <p:cNvPr id="10" name="Tekst: [Podpis 3]"/>
          <p:cNvSpPr txBox="1"/>
          <p:nvPr/>
        </p:nvSpPr>
        <p:spPr>
          <a:xfrm>
            <a:off x="8056000" y="3618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3]</a:t>
            </a:r>
          </a:p>
        </p:txBody>
      </p:sp>
      <p:pic>
        <p:nvPicPr>
          <p:cNvPr id="11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3"/>
          <a:srcRect l="61" r="61"/>
          <a:stretch>
            <a:fillRect/>
          </a:stretch>
        </p:blipFill>
        <p:spPr>
          <a:xfrm>
            <a:off x="864000" y="4230000"/>
            <a:ext cx="3272000" cy="1638000"/>
          </a:xfrm>
          <a:prstGeom prst="rect">
            <a:avLst/>
          </a:prstGeom>
        </p:spPr>
      </p:pic>
      <p:sp>
        <p:nvSpPr>
          <p:cNvPr id="12" name="Tekst: [Podpis 4]"/>
          <p:cNvSpPr txBox="1"/>
          <p:nvPr/>
        </p:nvSpPr>
        <p:spPr>
          <a:xfrm>
            <a:off x="864000" y="5940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4]</a:t>
            </a:r>
          </a:p>
        </p:txBody>
      </p:sp>
      <p:pic>
        <p:nvPicPr>
          <p:cNvPr id="13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3"/>
          <a:srcRect l="61" r="61"/>
          <a:stretch>
            <a:fillRect/>
          </a:stretch>
        </p:blipFill>
        <p:spPr>
          <a:xfrm>
            <a:off x="4460000" y="4230000"/>
            <a:ext cx="3272000" cy="1638000"/>
          </a:xfrm>
          <a:prstGeom prst="rect">
            <a:avLst/>
          </a:prstGeom>
        </p:spPr>
      </p:pic>
      <p:sp>
        <p:nvSpPr>
          <p:cNvPr id="14" name="Tekst: [Podpis 5]"/>
          <p:cNvSpPr txBox="1"/>
          <p:nvPr/>
        </p:nvSpPr>
        <p:spPr>
          <a:xfrm>
            <a:off x="4460000" y="5940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5]</a:t>
            </a:r>
          </a:p>
        </p:txBody>
      </p:sp>
      <p:pic>
        <p:nvPicPr>
          <p:cNvPr id="15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3"/>
          <a:srcRect l="61" r="61"/>
          <a:stretch>
            <a:fillRect/>
          </a:stretch>
        </p:blipFill>
        <p:spPr>
          <a:xfrm>
            <a:off x="8056000" y="4230000"/>
            <a:ext cx="3272000" cy="1638000"/>
          </a:xfrm>
          <a:prstGeom prst="rect">
            <a:avLst/>
          </a:prstGeom>
        </p:spPr>
      </p:pic>
      <p:sp>
        <p:nvSpPr>
          <p:cNvPr id="16" name="Tekst: [Podpis 6]"/>
          <p:cNvSpPr txBox="1"/>
          <p:nvPr/>
        </p:nvSpPr>
        <p:spPr>
          <a:xfrm>
            <a:off x="8056000" y="5940000"/>
            <a:ext cx="3272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6]</a:t>
            </a:r>
          </a:p>
        </p:txBody>
      </p:sp>
      <p:sp>
        <p:nvSpPr>
          <p:cNvPr id="1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SLAJD 2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29 - do czego służy</a:t>
            </a:r>
          </a:p>
        </p:txBody>
      </p:sp>
      <p:sp>
        <p:nvSpPr>
          <p:cNvPr id="19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Galeria 6 zdjęć (2 x 3): relacja z event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Galeria 6 zdjęć (2 x 3): relacja z eventu, materiały od twórców, zdjęcia ekspozycji.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[Co wyróżnia produkt]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30</a:t>
            </a:r>
          </a:p>
        </p:txBody>
      </p:sp>
      <p:grpSp>
        <p:nvGrpSpPr>
          <p:cNvPr id="27" name="Produkt z owocami (grupa) - przesuwaj całość; kliknij 2x, by zmienić obraz"/>
          <p:cNvGrpSpPr/>
          <p:nvPr/>
        </p:nvGrpSpPr>
        <p:grpSpPr>
          <a:xfrm>
            <a:off x="3949685" y="1872000"/>
            <a:ext cx="4203889" cy="4657003"/>
            <a:chOff x="3949685" y="1872000"/>
            <a:chExt cx="4203889" cy="4657003"/>
          </a:xfrm>
        </p:grpSpPr>
        <p:pic>
          <p:nvPicPr>
            <p:cNvPr id="5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7585638" y="2333737"/>
              <a:ext cx="567936" cy="412845"/>
            </a:xfrm>
            <a:prstGeom prst="rect">
              <a:avLst/>
            </a:prstGeom>
          </p:spPr>
        </p:pic>
        <p:sp>
          <p:nvSpPr>
            <p:cNvPr id="6" name="Cień pod paczką"/>
            <p:cNvSpPr/>
            <p:nvPr/>
          </p:nvSpPr>
          <p:spPr>
            <a:xfrm rot="21420000">
              <a:off x="4691894" y="5758310"/>
              <a:ext cx="2808210" cy="413841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7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420000">
              <a:off x="4617994" y="1872000"/>
              <a:ext cx="2956011" cy="4176000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600000">
              <a:off x="3949685" y="5114079"/>
              <a:ext cx="745416" cy="698561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0000">
              <a:off x="5138085" y="5940426"/>
              <a:ext cx="496944" cy="465707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9920000">
              <a:off x="6698835" y="5984596"/>
              <a:ext cx="567936" cy="544407"/>
            </a:xfrm>
            <a:prstGeom prst="rect">
              <a:avLst/>
            </a:prstGeom>
          </p:spPr>
        </p:pic>
      </p:grpSp>
      <p:pic>
        <p:nvPicPr>
          <p:cNvPr id="11" name="Ikona / grafika - prawy klik: Zmień obraz" descr="dumb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000" y="2016000"/>
            <a:ext cx="468000" cy="468000"/>
          </a:xfrm>
          <a:prstGeom prst="rect">
            <a:avLst/>
          </a:prstGeom>
        </p:spPr>
      </p:pic>
      <p:sp>
        <p:nvSpPr>
          <p:cNvPr id="12" name="Tekst: [Claim 1]"/>
          <p:cNvSpPr txBox="1"/>
          <p:nvPr/>
        </p:nvSpPr>
        <p:spPr>
          <a:xfrm>
            <a:off x="864000" y="2538000"/>
            <a:ext cx="2808000" cy="431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1]</a:t>
            </a:r>
          </a:p>
        </p:txBody>
      </p:sp>
      <p:sp>
        <p:nvSpPr>
          <p:cNvPr id="13" name="Tekst: [krótkie rozwinięcie]"/>
          <p:cNvSpPr txBox="1"/>
          <p:nvPr/>
        </p:nvSpPr>
        <p:spPr>
          <a:xfrm>
            <a:off x="864000" y="3023800"/>
            <a:ext cx="2808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4" name="Ikona / grafika - prawy klik: Zmień obraz" descr="smile-pl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4000" y="4140000"/>
            <a:ext cx="468000" cy="468000"/>
          </a:xfrm>
          <a:prstGeom prst="rect">
            <a:avLst/>
          </a:prstGeom>
        </p:spPr>
      </p:pic>
      <p:sp>
        <p:nvSpPr>
          <p:cNvPr id="15" name="Tekst: [Claim 2]"/>
          <p:cNvSpPr txBox="1"/>
          <p:nvPr/>
        </p:nvSpPr>
        <p:spPr>
          <a:xfrm>
            <a:off x="864000" y="4662000"/>
            <a:ext cx="2808000" cy="431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2]</a:t>
            </a:r>
          </a:p>
        </p:txBody>
      </p:sp>
      <p:sp>
        <p:nvSpPr>
          <p:cNvPr id="16" name="Tekst: [krótkie rozwinięcie]"/>
          <p:cNvSpPr txBox="1"/>
          <p:nvPr/>
        </p:nvSpPr>
        <p:spPr>
          <a:xfrm>
            <a:off x="864000" y="5147800"/>
            <a:ext cx="2808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7" name="Ikona / grafika - prawy klik: Zmień obraz" descr="citr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000" y="2016000"/>
            <a:ext cx="468000" cy="468000"/>
          </a:xfrm>
          <a:prstGeom prst="rect">
            <a:avLst/>
          </a:prstGeom>
        </p:spPr>
      </p:pic>
      <p:sp>
        <p:nvSpPr>
          <p:cNvPr id="18" name="Tekst: [Claim 3]"/>
          <p:cNvSpPr txBox="1"/>
          <p:nvPr/>
        </p:nvSpPr>
        <p:spPr>
          <a:xfrm>
            <a:off x="8520000" y="2538000"/>
            <a:ext cx="2808000" cy="431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3]</a:t>
            </a:r>
          </a:p>
        </p:txBody>
      </p:sp>
      <p:sp>
        <p:nvSpPr>
          <p:cNvPr id="19" name="Tekst: [krótkie rozwinięcie]"/>
          <p:cNvSpPr txBox="1"/>
          <p:nvPr/>
        </p:nvSpPr>
        <p:spPr>
          <a:xfrm>
            <a:off x="8520000" y="3023800"/>
            <a:ext cx="2808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20" name="Ikona / grafika - prawy klik: Zmień obraz" descr="spark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0000" y="4140000"/>
            <a:ext cx="468000" cy="468000"/>
          </a:xfrm>
          <a:prstGeom prst="rect">
            <a:avLst/>
          </a:prstGeom>
        </p:spPr>
      </p:pic>
      <p:sp>
        <p:nvSpPr>
          <p:cNvPr id="21" name="Tekst: [Claim 4]"/>
          <p:cNvSpPr txBox="1"/>
          <p:nvPr/>
        </p:nvSpPr>
        <p:spPr>
          <a:xfrm>
            <a:off x="8520000" y="4662000"/>
            <a:ext cx="2808000" cy="431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4]</a:t>
            </a:r>
          </a:p>
        </p:txBody>
      </p:sp>
      <p:sp>
        <p:nvSpPr>
          <p:cNvPr id="22" name="Tekst: [krótkie rozwinięcie]"/>
          <p:cNvSpPr txBox="1"/>
          <p:nvPr/>
        </p:nvSpPr>
        <p:spPr>
          <a:xfrm>
            <a:off x="8520000" y="5147800"/>
            <a:ext cx="2808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SLAJD 3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30 -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Anatomia produktu: paczka w centrum, 4 c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Anatomia produktu: paczka w centrum, 4 claimy wokół. Główny slajd produktowy.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djęcie - prawy klik: Zmień obraz (rogi i rozmiar zostają)"/>
          <p:cNvSpPr/>
          <p:nvPr/>
        </p:nvSpPr>
        <p:spPr>
          <a:xfrm>
            <a:off x="864000" y="576000"/>
            <a:ext cx="5364480" cy="5706000"/>
          </a:xfrm>
          <a:prstGeom prst="roundRect">
            <a:avLst>
              <a:gd name="adj" fmla="val 3019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28" name="Produkt z owocami (grupa) - przesuwaj całość; kliknij 2x, by zmienić obraz"/>
          <p:cNvGrpSpPr/>
          <p:nvPr/>
        </p:nvGrpSpPr>
        <p:grpSpPr>
          <a:xfrm>
            <a:off x="1218791" y="1467000"/>
            <a:ext cx="4573994" cy="4664478"/>
            <a:chOff x="1218791" y="1467000"/>
            <a:chExt cx="4573994" cy="4664478"/>
          </a:xfrm>
        </p:grpSpPr>
        <p:pic>
          <p:nvPicPr>
            <p:cNvPr id="3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440000">
              <a:off x="4973357" y="1888643"/>
              <a:ext cx="662400" cy="481513"/>
            </a:xfrm>
            <a:prstGeom prst="rect">
              <a:avLst/>
            </a:prstGeom>
          </p:spPr>
        </p:pic>
        <p:sp>
          <p:nvSpPr>
            <p:cNvPr id="4" name="Cień pod paczką"/>
            <p:cNvSpPr/>
            <p:nvPr/>
          </p:nvSpPr>
          <p:spPr>
            <a:xfrm rot="21360000">
              <a:off x="2154238" y="5319808"/>
              <a:ext cx="2784002" cy="410274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360000">
              <a:off x="2080975" y="1467000"/>
              <a:ext cx="2930528" cy="4140000"/>
            </a:xfrm>
            <a:prstGeom prst="rect">
              <a:avLst/>
            </a:prstGeom>
          </p:spPr>
        </p:pic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0640000">
              <a:off x="1218791" y="2331993"/>
              <a:ext cx="786600" cy="754012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600000">
              <a:off x="1353222" y="4620024"/>
              <a:ext cx="869400" cy="814752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880000">
              <a:off x="5050770" y="3951000"/>
              <a:ext cx="742015" cy="8280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0000">
              <a:off x="2553113" y="5459616"/>
              <a:ext cx="579600" cy="543168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920000">
              <a:off x="4094198" y="5496521"/>
              <a:ext cx="662400" cy="634957"/>
            </a:xfrm>
            <a:prstGeom prst="rect">
              <a:avLst/>
            </a:prstGeom>
          </p:spPr>
        </p:pic>
      </p:grpSp>
      <p:sp>
        <p:nvSpPr>
          <p:cNvPr id="11" name="Tytuł slajdu"/>
          <p:cNvSpPr txBox="1"/>
          <p:nvPr/>
        </p:nvSpPr>
        <p:spPr>
          <a:xfrm>
            <a:off x="7020480" y="648000"/>
            <a:ext cx="4307520" cy="1117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400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[Co wyróżnia</a:t>
            </a:r>
          </a:p>
          <a:p>
            <a:pPr algn="l">
              <a:lnSpc>
                <a:spcPts val="4400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produkt]</a:t>
            </a:r>
          </a:p>
        </p:txBody>
      </p:sp>
      <p:pic>
        <p:nvPicPr>
          <p:cNvPr id="12" name="Ikona / grafika - prawy klik: Zmień obraz" descr="dumb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480" y="2125600"/>
            <a:ext cx="468000" cy="468000"/>
          </a:xfrm>
          <a:prstGeom prst="rect">
            <a:avLst/>
          </a:prstGeom>
        </p:spPr>
      </p:pic>
      <p:sp>
        <p:nvSpPr>
          <p:cNvPr id="13" name="Tekst: [Claim 1]"/>
          <p:cNvSpPr txBox="1"/>
          <p:nvPr/>
        </p:nvSpPr>
        <p:spPr>
          <a:xfrm>
            <a:off x="7740480" y="21076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1]</a:t>
            </a:r>
          </a:p>
        </p:txBody>
      </p:sp>
      <p:sp>
        <p:nvSpPr>
          <p:cNvPr id="14" name="Tekst: [krótkie rozwinięcie]"/>
          <p:cNvSpPr txBox="1"/>
          <p:nvPr/>
        </p:nvSpPr>
        <p:spPr>
          <a:xfrm>
            <a:off x="7740480" y="24496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5" name="Ikona / grafika - prawy klik: Zmień obraz" descr="smile-pl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0480" y="3205600"/>
            <a:ext cx="468000" cy="468000"/>
          </a:xfrm>
          <a:prstGeom prst="rect">
            <a:avLst/>
          </a:prstGeom>
        </p:spPr>
      </p:pic>
      <p:sp>
        <p:nvSpPr>
          <p:cNvPr id="16" name="Tekst: [Claim 2]"/>
          <p:cNvSpPr txBox="1"/>
          <p:nvPr/>
        </p:nvSpPr>
        <p:spPr>
          <a:xfrm>
            <a:off x="7740480" y="31876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2]</a:t>
            </a:r>
          </a:p>
        </p:txBody>
      </p:sp>
      <p:sp>
        <p:nvSpPr>
          <p:cNvPr id="17" name="Tekst: [krótkie rozwinięcie]"/>
          <p:cNvSpPr txBox="1"/>
          <p:nvPr/>
        </p:nvSpPr>
        <p:spPr>
          <a:xfrm>
            <a:off x="7740480" y="35296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8" name="Ikona / grafika - prawy klik: Zmień obraz" descr="citr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20480" y="4285600"/>
            <a:ext cx="468000" cy="468000"/>
          </a:xfrm>
          <a:prstGeom prst="rect">
            <a:avLst/>
          </a:prstGeom>
        </p:spPr>
      </p:pic>
      <p:sp>
        <p:nvSpPr>
          <p:cNvPr id="19" name="Tekst: [Claim 3]"/>
          <p:cNvSpPr txBox="1"/>
          <p:nvPr/>
        </p:nvSpPr>
        <p:spPr>
          <a:xfrm>
            <a:off x="7740480" y="42676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3]</a:t>
            </a:r>
          </a:p>
        </p:txBody>
      </p:sp>
      <p:sp>
        <p:nvSpPr>
          <p:cNvPr id="20" name="Tekst: [krótkie rozwinięcie]"/>
          <p:cNvSpPr txBox="1"/>
          <p:nvPr/>
        </p:nvSpPr>
        <p:spPr>
          <a:xfrm>
            <a:off x="7740480" y="46096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21" name="Ikona / grafika - prawy klik: Zmień obraz" descr="spark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0480" y="5365600"/>
            <a:ext cx="468000" cy="468000"/>
          </a:xfrm>
          <a:prstGeom prst="rect">
            <a:avLst/>
          </a:prstGeom>
        </p:spPr>
      </p:pic>
      <p:sp>
        <p:nvSpPr>
          <p:cNvPr id="22" name="Tekst: [Claim 4]"/>
          <p:cNvSpPr txBox="1"/>
          <p:nvPr/>
        </p:nvSpPr>
        <p:spPr>
          <a:xfrm>
            <a:off x="7740480" y="5347600"/>
            <a:ext cx="358752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4]</a:t>
            </a:r>
          </a:p>
        </p:txBody>
      </p:sp>
      <p:sp>
        <p:nvSpPr>
          <p:cNvPr id="23" name="Tekst: [krótkie rozwinięcie]"/>
          <p:cNvSpPr txBox="1"/>
          <p:nvPr/>
        </p:nvSpPr>
        <p:spPr>
          <a:xfrm>
            <a:off x="7740480" y="5689600"/>
            <a:ext cx="358752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sp>
        <p:nvSpPr>
          <p:cNvPr id="24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kst: SLAJD 3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31 - do czego służy</a:t>
            </a:r>
          </a:p>
        </p:txBody>
      </p:sp>
      <p:sp>
        <p:nvSpPr>
          <p:cNvPr id="26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Lista zalet z ikonami + PRODUKT w kremow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Lista zalet z ikonami + PRODUKT w kremowej karcie (styl sklepu).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Najlepszy slajd 'dlaczego ten produkt' - claimy z karty wprowadzenia, każdy z ikoną.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32</a:t>
            </a:r>
          </a:p>
        </p:txBody>
      </p:sp>
      <p:pic>
        <p:nvPicPr>
          <p:cNvPr id="5" name="Ikona / grafika - prawy klik: Zmień obraz" descr="candy-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432400"/>
            <a:ext cx="612000" cy="612000"/>
          </a:xfrm>
          <a:prstGeom prst="rect">
            <a:avLst/>
          </a:prstGeom>
        </p:spPr>
      </p:pic>
      <p:sp>
        <p:nvSpPr>
          <p:cNvPr id="6" name="Tekst: [Cecha 1]"/>
          <p:cNvSpPr txBox="1"/>
          <p:nvPr/>
        </p:nvSpPr>
        <p:spPr>
          <a:xfrm>
            <a:off x="864000" y="3224400"/>
            <a:ext cx="305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1]</a:t>
            </a:r>
          </a:p>
        </p:txBody>
      </p:sp>
      <p:sp>
        <p:nvSpPr>
          <p:cNvPr id="7" name="Tekst: [wartość lub opis z karty]"/>
          <p:cNvSpPr txBox="1"/>
          <p:nvPr/>
        </p:nvSpPr>
        <p:spPr>
          <a:xfrm>
            <a:off x="864000" y="3644600"/>
            <a:ext cx="30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8" name="Ikona / grafika - prawy klik: Zmień obraz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000" y="2432400"/>
            <a:ext cx="612000" cy="612000"/>
          </a:xfrm>
          <a:prstGeom prst="rect">
            <a:avLst/>
          </a:prstGeom>
        </p:spPr>
      </p:pic>
      <p:sp>
        <p:nvSpPr>
          <p:cNvPr id="9" name="Tekst: [Cecha 2]"/>
          <p:cNvSpPr txBox="1"/>
          <p:nvPr/>
        </p:nvSpPr>
        <p:spPr>
          <a:xfrm>
            <a:off x="4460000" y="3224400"/>
            <a:ext cx="305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2]</a:t>
            </a:r>
          </a:p>
        </p:txBody>
      </p:sp>
      <p:sp>
        <p:nvSpPr>
          <p:cNvPr id="10" name="Tekst: [wartość lub opis z karty]"/>
          <p:cNvSpPr txBox="1"/>
          <p:nvPr/>
        </p:nvSpPr>
        <p:spPr>
          <a:xfrm>
            <a:off x="4460000" y="3644600"/>
            <a:ext cx="30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11" name="Ikona / grafika - prawy klik: Zmień obraz" descr="ear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6000" y="2432400"/>
            <a:ext cx="612000" cy="612000"/>
          </a:xfrm>
          <a:prstGeom prst="rect">
            <a:avLst/>
          </a:prstGeom>
        </p:spPr>
      </p:pic>
      <p:sp>
        <p:nvSpPr>
          <p:cNvPr id="12" name="Tekst: [Cecha 3]"/>
          <p:cNvSpPr txBox="1"/>
          <p:nvPr/>
        </p:nvSpPr>
        <p:spPr>
          <a:xfrm>
            <a:off x="8056000" y="3224400"/>
            <a:ext cx="305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3]</a:t>
            </a:r>
          </a:p>
        </p:txBody>
      </p:sp>
      <p:sp>
        <p:nvSpPr>
          <p:cNvPr id="13" name="Tekst: [wartość lub opis z karty]"/>
          <p:cNvSpPr txBox="1"/>
          <p:nvPr/>
        </p:nvSpPr>
        <p:spPr>
          <a:xfrm>
            <a:off x="8056000" y="3644600"/>
            <a:ext cx="30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14" name="Ikona / grafika - prawy klik: Zmień obraz" descr="whe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000" y="4212000"/>
            <a:ext cx="612000" cy="612000"/>
          </a:xfrm>
          <a:prstGeom prst="rect">
            <a:avLst/>
          </a:prstGeom>
        </p:spPr>
      </p:pic>
      <p:sp>
        <p:nvSpPr>
          <p:cNvPr id="15" name="Tekst: [Cecha 4]"/>
          <p:cNvSpPr txBox="1"/>
          <p:nvPr/>
        </p:nvSpPr>
        <p:spPr>
          <a:xfrm>
            <a:off x="864000" y="5004000"/>
            <a:ext cx="305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4]</a:t>
            </a:r>
          </a:p>
        </p:txBody>
      </p:sp>
      <p:sp>
        <p:nvSpPr>
          <p:cNvPr id="16" name="Tekst: [wartość lub opis z karty]"/>
          <p:cNvSpPr txBox="1"/>
          <p:nvPr/>
        </p:nvSpPr>
        <p:spPr>
          <a:xfrm>
            <a:off x="864000" y="5424200"/>
            <a:ext cx="30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17" name="Ikona / grafika - prawy klik: Zmień obraz" descr="ap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0000" y="4212000"/>
            <a:ext cx="612000" cy="612000"/>
          </a:xfrm>
          <a:prstGeom prst="rect">
            <a:avLst/>
          </a:prstGeom>
        </p:spPr>
      </p:pic>
      <p:sp>
        <p:nvSpPr>
          <p:cNvPr id="18" name="Tekst: [Cecha 5]"/>
          <p:cNvSpPr txBox="1"/>
          <p:nvPr/>
        </p:nvSpPr>
        <p:spPr>
          <a:xfrm>
            <a:off x="4460000" y="5004000"/>
            <a:ext cx="305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5]</a:t>
            </a:r>
          </a:p>
        </p:txBody>
      </p:sp>
      <p:sp>
        <p:nvSpPr>
          <p:cNvPr id="19" name="Tekst: [wartość lub opis z karty]"/>
          <p:cNvSpPr txBox="1"/>
          <p:nvPr/>
        </p:nvSpPr>
        <p:spPr>
          <a:xfrm>
            <a:off x="4460000" y="5424200"/>
            <a:ext cx="30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20" name="Ikona / grafika - prawy klik: Zmień obraz" descr="hand-he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6000" y="4212000"/>
            <a:ext cx="612000" cy="612000"/>
          </a:xfrm>
          <a:prstGeom prst="rect">
            <a:avLst/>
          </a:prstGeom>
        </p:spPr>
      </p:pic>
      <p:sp>
        <p:nvSpPr>
          <p:cNvPr id="21" name="Tekst: [Cecha 6]"/>
          <p:cNvSpPr txBox="1"/>
          <p:nvPr/>
        </p:nvSpPr>
        <p:spPr>
          <a:xfrm>
            <a:off x="8056000" y="5004000"/>
            <a:ext cx="305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6]</a:t>
            </a:r>
          </a:p>
        </p:txBody>
      </p:sp>
      <p:sp>
        <p:nvSpPr>
          <p:cNvPr id="22" name="Tekst: [wartość lub opis z karty]"/>
          <p:cNvSpPr txBox="1"/>
          <p:nvPr/>
        </p:nvSpPr>
        <p:spPr>
          <a:xfrm>
            <a:off x="8056000" y="5424200"/>
            <a:ext cx="30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SLAJD 3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32 -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Siatka ikon (jak 'Skład produktu' w skle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Siatka ikon (jak 'Skład produktu' w sklepie): 3-6 cech z ikoną, zielonym nagłówkiem i opisem. Skład, oświadczenia żywieniowe, wartości marki.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djęcie - prawy klik: Zmień obraz (rogi i rozmiar zostają)"/>
          <p:cNvSpPr/>
          <p:nvPr/>
        </p:nvSpPr>
        <p:spPr>
          <a:xfrm>
            <a:off x="5760000" y="432000"/>
            <a:ext cx="5568000" cy="5994000"/>
          </a:xfrm>
          <a:prstGeom prst="roundRect">
            <a:avLst>
              <a:gd name="adj" fmla="val 2909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30" name="Produkt z owocami (grupa) - przesuwaj całość; kliknij 2x, by zmienić obraz"/>
          <p:cNvGrpSpPr/>
          <p:nvPr/>
        </p:nvGrpSpPr>
        <p:grpSpPr>
          <a:xfrm>
            <a:off x="6034402" y="1332000"/>
            <a:ext cx="4931960" cy="5029524"/>
            <a:chOff x="6034402" y="1332000"/>
            <a:chExt cx="4931960" cy="5029524"/>
          </a:xfrm>
        </p:grpSpPr>
        <p:pic>
          <p:nvPicPr>
            <p:cNvPr id="3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440000">
              <a:off x="10082804" y="1786641"/>
              <a:ext cx="714240" cy="519197"/>
            </a:xfrm>
            <a:prstGeom prst="rect">
              <a:avLst/>
            </a:prstGeom>
          </p:spPr>
        </p:pic>
        <p:sp>
          <p:nvSpPr>
            <p:cNvPr id="4" name="Cień pod paczką"/>
            <p:cNvSpPr/>
            <p:nvPr/>
          </p:nvSpPr>
          <p:spPr>
            <a:xfrm rot="240000">
              <a:off x="7043059" y="5486332"/>
              <a:ext cx="3001880" cy="442382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40000">
              <a:off x="6964062" y="1332000"/>
              <a:ext cx="3159874" cy="4464000"/>
            </a:xfrm>
            <a:prstGeom prst="rect">
              <a:avLst/>
            </a:prstGeom>
          </p:spPr>
        </p:pic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0640000">
              <a:off x="6034402" y="2264689"/>
              <a:ext cx="848160" cy="813021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600000">
              <a:off x="6179355" y="4731782"/>
              <a:ext cx="937440" cy="878515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880000">
              <a:off x="10166276" y="4010400"/>
              <a:ext cx="800086" cy="8928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0000">
              <a:off x="7473150" y="5637081"/>
              <a:ext cx="624960" cy="585676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920000">
              <a:off x="9134842" y="5676874"/>
              <a:ext cx="714240" cy="684650"/>
            </a:xfrm>
            <a:prstGeom prst="rect">
              <a:avLst/>
            </a:prstGeom>
          </p:spPr>
        </p:pic>
      </p:grpSp>
      <p:pic>
        <p:nvPicPr>
          <p:cNvPr id="11" name="Logo marki" descr="logo_green_bo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000" y="468000"/>
            <a:ext cx="684000" cy="504450"/>
          </a:xfrm>
          <a:prstGeom prst="rect">
            <a:avLst/>
          </a:prstGeom>
        </p:spPr>
      </p:pic>
      <p:sp>
        <p:nvSpPr>
          <p:cNvPr id="12" name="Etykieta nad tytułem (można usunąć)"/>
          <p:cNvSpPr txBox="1"/>
          <p:nvPr/>
        </p:nvSpPr>
        <p:spPr>
          <a:xfrm>
            <a:off x="864000" y="1512000"/>
            <a:ext cx="432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200">
                <a:solidFill>
                  <a:srgbClr val="A3302A"/>
                </a:solidFill>
                <a:latin typeface="+mn-lt"/>
              </a:rPr>
              <a:t>[SMAK 1/3]</a:t>
            </a:r>
          </a:p>
        </p:txBody>
      </p:sp>
      <p:sp>
        <p:nvSpPr>
          <p:cNvPr id="13" name="Tytuł slajdu"/>
          <p:cNvSpPr txBox="1"/>
          <p:nvPr/>
        </p:nvSpPr>
        <p:spPr>
          <a:xfrm>
            <a:off x="864000" y="1818000"/>
            <a:ext cx="4464000" cy="2133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8064"/>
              </a:lnSpc>
            </a:pPr>
            <a:r>
              <a:rPr sz="8400" b="0" i="0">
                <a:solidFill>
                  <a:schemeClr val="tx1"/>
                </a:solidFill>
                <a:latin typeface="+mj-lt"/>
              </a:rPr>
              <a:t>[Nazwa</a:t>
            </a:r>
          </a:p>
          <a:p>
            <a:pPr algn="l">
              <a:lnSpc>
                <a:spcPts val="8064"/>
              </a:lnSpc>
            </a:pPr>
            <a:r>
              <a:rPr sz="8400" b="0" i="0">
                <a:solidFill>
                  <a:schemeClr val="tx1"/>
                </a:solidFill>
                <a:latin typeface="+mj-lt"/>
              </a:rPr>
              <a:t>smaku]</a:t>
            </a:r>
          </a:p>
        </p:txBody>
      </p:sp>
      <p:sp>
        <p:nvSpPr>
          <p:cNvPr id="14" name="Tekst: [Nazwa prawna z karty wprowadzenia i kró"/>
          <p:cNvSpPr txBox="1"/>
          <p:nvPr/>
        </p:nvSpPr>
        <p:spPr>
          <a:xfrm>
            <a:off x="864000" y="4046256"/>
            <a:ext cx="4464000" cy="635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500"/>
              </a:lnSpc>
            </a:pPr>
            <a:r>
              <a:rPr sz="17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[Nazwa prawna z karty wprowadzenia i krótki opis smaku]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864000" y="4969256"/>
            <a:ext cx="1416000" cy="10800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[00%]"/>
          <p:cNvSpPr txBox="1"/>
          <p:nvPr/>
        </p:nvSpPr>
        <p:spPr>
          <a:xfrm>
            <a:off x="1026000" y="5113256"/>
            <a:ext cx="1092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rgbClr val="A3302A"/>
                </a:solidFill>
                <a:latin typeface="+mj-lt"/>
              </a:rPr>
              <a:t>[00%]</a:t>
            </a:r>
          </a:p>
        </p:txBody>
      </p:sp>
      <p:sp>
        <p:nvSpPr>
          <p:cNvPr id="17" name="Tekst: [owoców w składzie]"/>
          <p:cNvSpPr txBox="1"/>
          <p:nvPr/>
        </p:nvSpPr>
        <p:spPr>
          <a:xfrm>
            <a:off x="1026000" y="5581256"/>
            <a:ext cx="1092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600"/>
              </a:lnSpc>
            </a:pPr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[owoców w składzie]</a:t>
            </a:r>
          </a:p>
        </p:txBody>
      </p:sp>
      <p:sp>
        <p:nvSpPr>
          <p:cNvPr id="18" name="Karta / tło (kolor z motywu)"/>
          <p:cNvSpPr/>
          <p:nvPr/>
        </p:nvSpPr>
        <p:spPr>
          <a:xfrm>
            <a:off x="2388000" y="4969256"/>
            <a:ext cx="1416000" cy="10800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[0%]"/>
          <p:cNvSpPr txBox="1"/>
          <p:nvPr/>
        </p:nvSpPr>
        <p:spPr>
          <a:xfrm>
            <a:off x="2550000" y="5113256"/>
            <a:ext cx="1092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rgbClr val="A3302A"/>
                </a:solidFill>
                <a:latin typeface="+mj-lt"/>
              </a:rPr>
              <a:t>[0%]</a:t>
            </a:r>
          </a:p>
        </p:txBody>
      </p:sp>
      <p:sp>
        <p:nvSpPr>
          <p:cNvPr id="20" name="Tekst: [dodatku cukru]"/>
          <p:cNvSpPr txBox="1"/>
          <p:nvPr/>
        </p:nvSpPr>
        <p:spPr>
          <a:xfrm>
            <a:off x="2550000" y="5581256"/>
            <a:ext cx="1092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600"/>
              </a:lnSpc>
            </a:pPr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[dodatku cukru]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3912000" y="4969256"/>
            <a:ext cx="1416000" cy="10800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[00 g]"/>
          <p:cNvSpPr txBox="1"/>
          <p:nvPr/>
        </p:nvSpPr>
        <p:spPr>
          <a:xfrm>
            <a:off x="4074000" y="5113256"/>
            <a:ext cx="1092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rgbClr val="A3302A"/>
                </a:solidFill>
                <a:latin typeface="+mj-lt"/>
              </a:rPr>
              <a:t>[00 g]</a:t>
            </a:r>
          </a:p>
        </p:txBody>
      </p:sp>
      <p:sp>
        <p:nvSpPr>
          <p:cNvPr id="23" name="Tekst: [opakowanie]"/>
          <p:cNvSpPr txBox="1"/>
          <p:nvPr/>
        </p:nvSpPr>
        <p:spPr>
          <a:xfrm>
            <a:off x="4074000" y="5581256"/>
            <a:ext cx="1092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600"/>
              </a:lnSpc>
            </a:pPr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[opakowanie]</a:t>
            </a:r>
          </a:p>
        </p:txBody>
      </p:sp>
      <p:sp>
        <p:nvSpPr>
          <p:cNvPr id="24" name="Tekst: EAN [EAN]"/>
          <p:cNvSpPr txBox="1"/>
          <p:nvPr/>
        </p:nvSpPr>
        <p:spPr>
          <a:xfrm>
            <a:off x="864000" y="6480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EAN [EAN]</a:t>
            </a:r>
          </a:p>
        </p:txBody>
      </p:sp>
      <p:sp>
        <p:nvSpPr>
          <p:cNvPr id="25" name="Numer slajdu"/>
          <p:cNvSpPr txBox="1"/>
          <p:nvPr/>
        </p:nvSpPr>
        <p:spPr>
          <a:xfrm>
            <a:off x="4608000" y="6480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33</a:t>
            </a:r>
          </a:p>
        </p:txBody>
      </p:sp>
      <p:sp>
        <p:nvSpPr>
          <p:cNvPr id="2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SLAJD 3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33 - do czego służy</a:t>
            </a:r>
          </a:p>
        </p:txBody>
      </p:sp>
      <p:sp>
        <p:nvSpPr>
          <p:cNvPr id="28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kst: Karta smaku: jeden smak na slajd - nazwa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Karta smaku: jeden smak na slajd - nazwa, opis z karty, 3 twarde dane, EAN. Tło w odcieniu smaku (kolor wpisany na stałe, nie z motywu).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linii]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34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39" name="Produkt z owocami (grupa) - przesuwaj całość; kliknij 2x, by zmienić obraz"/>
          <p:cNvGrpSpPr/>
          <p:nvPr/>
        </p:nvGrpSpPr>
        <p:grpSpPr>
          <a:xfrm>
            <a:off x="1309392" y="2340000"/>
            <a:ext cx="2282374" cy="2307000"/>
            <a:chOff x="1309392" y="2340000"/>
            <a:chExt cx="2282374" cy="2307000"/>
          </a:xfrm>
        </p:grpSpPr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3306070" y="2560189"/>
              <a:ext cx="285696" cy="273860"/>
            </a:xfrm>
            <a:prstGeom prst="rect">
              <a:avLst/>
            </a:prstGeom>
          </p:spPr>
        </p:pic>
        <p:sp>
          <p:nvSpPr>
            <p:cNvPr id="7" name="Cień pod paczką"/>
            <p:cNvSpPr/>
            <p:nvPr/>
          </p:nvSpPr>
          <p:spPr>
            <a:xfrm rot="21420000">
              <a:off x="1748772" y="4397000"/>
              <a:ext cx="1502454" cy="25000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8" name="Packshot - prawy klik: Zmień obraz (PNG bez tła)" descr="pack_arbu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420000">
              <a:off x="1709234" y="2340000"/>
              <a:ext cx="1581531" cy="22320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1309392" y="2839968"/>
              <a:ext cx="293593" cy="339264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arbuz_lisc1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1388471" y="4072032"/>
              <a:ext cx="325219" cy="374976"/>
            </a:xfrm>
            <a:prstGeom prst="rect">
              <a:avLst/>
            </a:prstGeom>
          </p:spPr>
        </p:pic>
      </p:grpSp>
      <p:sp>
        <p:nvSpPr>
          <p:cNvPr id="11" name="Karta / tło (kolor z motywu)"/>
          <p:cNvSpPr/>
          <p:nvPr/>
        </p:nvSpPr>
        <p:spPr>
          <a:xfrm>
            <a:off x="1188000" y="5112000"/>
            <a:ext cx="262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[Nazwa produktu, smak 1]"/>
          <p:cNvSpPr txBox="1"/>
          <p:nvPr/>
        </p:nvSpPr>
        <p:spPr>
          <a:xfrm>
            <a:off x="1188000" y="5238000"/>
            <a:ext cx="262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[Nazwa produktu, smak 1]</a:t>
            </a:r>
          </a:p>
        </p:txBody>
      </p:sp>
      <p:sp>
        <p:nvSpPr>
          <p:cNvPr id="13" name="Karta / tło (kolor z motywu)"/>
          <p:cNvSpPr/>
          <p:nvPr/>
        </p:nvSpPr>
        <p:spPr>
          <a:xfrm flipH="1">
            <a:off x="1188000" y="5652000"/>
            <a:ext cx="1074230" cy="396000"/>
          </a:xfrm>
          <a:prstGeom prst="homePlate">
            <a:avLst>
              <a:gd name="adj" fmla="val 2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[00 G]"/>
          <p:cNvSpPr txBox="1"/>
          <p:nvPr/>
        </p:nvSpPr>
        <p:spPr>
          <a:xfrm>
            <a:off x="1278000" y="5652000"/>
            <a:ext cx="9842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500" b="1" i="0" spc="60">
                <a:solidFill>
                  <a:schemeClr val="bg1"/>
                </a:solidFill>
                <a:latin typeface="+mn-lt"/>
              </a:rPr>
              <a:t>[00 G]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4460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40" name="Produkt z owocami (grupa) - przesuwaj całość; kliknij 2x, by zmienić obraz"/>
          <p:cNvGrpSpPr/>
          <p:nvPr/>
        </p:nvGrpSpPr>
        <p:grpSpPr>
          <a:xfrm>
            <a:off x="4883609" y="2340000"/>
            <a:ext cx="2303201" cy="2307000"/>
            <a:chOff x="4883609" y="2340000"/>
            <a:chExt cx="2303201" cy="2307000"/>
          </a:xfrm>
        </p:grpSpPr>
        <p:pic>
          <p:nvPicPr>
            <p:cNvPr id="16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440000">
              <a:off x="6901114" y="2593280"/>
              <a:ext cx="285696" cy="207679"/>
            </a:xfrm>
            <a:prstGeom prst="rect">
              <a:avLst/>
            </a:prstGeom>
          </p:spPr>
        </p:pic>
        <p:sp>
          <p:nvSpPr>
            <p:cNvPr id="17" name="Cień pod paczką"/>
            <p:cNvSpPr/>
            <p:nvPr/>
          </p:nvSpPr>
          <p:spPr>
            <a:xfrm rot="120000">
              <a:off x="5345529" y="4397000"/>
              <a:ext cx="1500940" cy="25000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20000">
              <a:off x="5306031" y="2340000"/>
              <a:ext cx="1579937" cy="2232000"/>
            </a:xfrm>
            <a:prstGeom prst="rect">
              <a:avLst/>
            </a:prstGeom>
          </p:spPr>
        </p:pic>
        <p:pic>
          <p:nvPicPr>
            <p:cNvPr id="19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640000">
              <a:off x="4883609" y="2846995"/>
              <a:ext cx="339264" cy="325208"/>
            </a:xfrm>
            <a:prstGeom prst="rect">
              <a:avLst/>
            </a:prstGeom>
          </p:spPr>
        </p:pic>
        <p:pic>
          <p:nvPicPr>
            <p:cNvPr id="20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600000">
              <a:off x="4960549" y="4083816"/>
              <a:ext cx="374976" cy="351406"/>
            </a:xfrm>
            <a:prstGeom prst="rect">
              <a:avLst/>
            </a:prstGeom>
          </p:spPr>
        </p:pic>
      </p:grpSp>
      <p:sp>
        <p:nvSpPr>
          <p:cNvPr id="21" name="Karta / tło (kolor z motywu)"/>
          <p:cNvSpPr/>
          <p:nvPr/>
        </p:nvSpPr>
        <p:spPr>
          <a:xfrm>
            <a:off x="4784000" y="5112000"/>
            <a:ext cx="262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[Nazwa produktu, smak 2]"/>
          <p:cNvSpPr txBox="1"/>
          <p:nvPr/>
        </p:nvSpPr>
        <p:spPr>
          <a:xfrm>
            <a:off x="4784000" y="5238000"/>
            <a:ext cx="262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[Nazwa produktu, smak 2]</a:t>
            </a:r>
          </a:p>
        </p:txBody>
      </p:sp>
      <p:sp>
        <p:nvSpPr>
          <p:cNvPr id="23" name="Karta / tło (kolor z motywu)"/>
          <p:cNvSpPr/>
          <p:nvPr/>
        </p:nvSpPr>
        <p:spPr>
          <a:xfrm flipH="1">
            <a:off x="4784000" y="5652000"/>
            <a:ext cx="1074230" cy="396000"/>
          </a:xfrm>
          <a:prstGeom prst="homePlate">
            <a:avLst>
              <a:gd name="adj" fmla="val 2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[00 G]"/>
          <p:cNvSpPr txBox="1"/>
          <p:nvPr/>
        </p:nvSpPr>
        <p:spPr>
          <a:xfrm>
            <a:off x="4874000" y="5652000"/>
            <a:ext cx="9842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500" b="1" i="0" spc="60">
                <a:solidFill>
                  <a:schemeClr val="bg1"/>
                </a:solidFill>
                <a:latin typeface="+mn-lt"/>
              </a:rPr>
              <a:t>[00 G]</a:t>
            </a:r>
          </a:p>
        </p:txBody>
      </p:sp>
      <p:sp>
        <p:nvSpPr>
          <p:cNvPr id="25" name="Karta / tło (kolor z motywu)"/>
          <p:cNvSpPr/>
          <p:nvPr/>
        </p:nvSpPr>
        <p:spPr>
          <a:xfrm>
            <a:off x="8056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41" name="Produkt z owocami (grupa) - przesuwaj całość; kliknij 2x, by zmienić obraz"/>
          <p:cNvGrpSpPr/>
          <p:nvPr/>
        </p:nvGrpSpPr>
        <p:grpSpPr>
          <a:xfrm>
            <a:off x="8479609" y="2340000"/>
            <a:ext cx="2303201" cy="2307000"/>
            <a:chOff x="8479609" y="2340000"/>
            <a:chExt cx="2303201" cy="2307000"/>
          </a:xfrm>
        </p:grpSpPr>
        <p:pic>
          <p:nvPicPr>
            <p:cNvPr id="2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0497114" y="2560189"/>
              <a:ext cx="285696" cy="273860"/>
            </a:xfrm>
            <a:prstGeom prst="rect">
              <a:avLst/>
            </a:prstGeom>
          </p:spPr>
        </p:pic>
        <p:sp>
          <p:nvSpPr>
            <p:cNvPr id="27" name="Cień pod paczką"/>
            <p:cNvSpPr/>
            <p:nvPr/>
          </p:nvSpPr>
          <p:spPr>
            <a:xfrm rot="240000">
              <a:off x="8941529" y="4397000"/>
              <a:ext cx="1500940" cy="25000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ackshot - prawy klik: Zmień obraz (PNG bez tła)" descr="pack_mango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0000">
              <a:off x="8902031" y="2340000"/>
              <a:ext cx="1579937" cy="2232000"/>
            </a:xfrm>
            <a:prstGeom prst="rect">
              <a:avLst/>
            </a:prstGeom>
          </p:spPr>
        </p:pic>
        <p:pic>
          <p:nvPicPr>
            <p:cNvPr id="29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 rot="20640000">
              <a:off x="8479609" y="2862476"/>
              <a:ext cx="339264" cy="294246"/>
            </a:xfrm>
            <a:prstGeom prst="rect">
              <a:avLst/>
            </a:prstGeom>
          </p:spPr>
        </p:pic>
        <p:pic>
          <p:nvPicPr>
            <p:cNvPr id="30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600000">
              <a:off x="8563400" y="4072032"/>
              <a:ext cx="361274" cy="374976"/>
            </a:xfrm>
            <a:prstGeom prst="rect">
              <a:avLst/>
            </a:prstGeom>
          </p:spPr>
        </p:pic>
      </p:grpSp>
      <p:sp>
        <p:nvSpPr>
          <p:cNvPr id="31" name="Karta / tło (kolor z motywu)"/>
          <p:cNvSpPr/>
          <p:nvPr/>
        </p:nvSpPr>
        <p:spPr>
          <a:xfrm>
            <a:off x="8380000" y="5112000"/>
            <a:ext cx="262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kst: [Nazwa produktu, smak 3]"/>
          <p:cNvSpPr txBox="1"/>
          <p:nvPr/>
        </p:nvSpPr>
        <p:spPr>
          <a:xfrm>
            <a:off x="8380000" y="5238000"/>
            <a:ext cx="262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[Nazwa produktu, smak 3]</a:t>
            </a:r>
          </a:p>
        </p:txBody>
      </p:sp>
      <p:sp>
        <p:nvSpPr>
          <p:cNvPr id="33" name="Karta / tło (kolor z motywu)"/>
          <p:cNvSpPr/>
          <p:nvPr/>
        </p:nvSpPr>
        <p:spPr>
          <a:xfrm flipH="1">
            <a:off x="8380000" y="5652000"/>
            <a:ext cx="1074230" cy="396000"/>
          </a:xfrm>
          <a:prstGeom prst="homePlate">
            <a:avLst>
              <a:gd name="adj" fmla="val 2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kst: [00 G]"/>
          <p:cNvSpPr txBox="1"/>
          <p:nvPr/>
        </p:nvSpPr>
        <p:spPr>
          <a:xfrm>
            <a:off x="8470000" y="5652000"/>
            <a:ext cx="9842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500" b="1" i="0" spc="60">
                <a:solidFill>
                  <a:schemeClr val="bg1"/>
                </a:solidFill>
                <a:latin typeface="+mn-lt"/>
              </a:rPr>
              <a:t>[00 G]</a:t>
            </a:r>
          </a:p>
        </p:txBody>
      </p:sp>
      <p:sp>
        <p:nvSpPr>
          <p:cNvPr id="3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kst: SLAJD 3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34 - do czego służy</a:t>
            </a:r>
          </a:p>
        </p:txBody>
      </p:sp>
      <p:sp>
        <p:nvSpPr>
          <p:cNvPr id="37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kst: Linia produktów / portfolio: 2-4 SKU obo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Linia produktów / portfolio: 2-4 SKU obok siebie - packshot, nazwa, metka z gramaturą (bez znaczków i opisów, jak w wersji z 29.09). Znaczek NOWOŚĆ / opis dodasz w specu polami badge / text.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Wartości odżywcze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35</a:t>
            </a:r>
          </a:p>
        </p:txBody>
      </p:sp>
      <p:grpSp>
        <p:nvGrpSpPr>
          <p:cNvPr id="47" name="Produkt z owocami (grupa) - przesuwaj całość; kliknij 2x, by zmienić obraz"/>
          <p:cNvGrpSpPr/>
          <p:nvPr/>
        </p:nvGrpSpPr>
        <p:grpSpPr>
          <a:xfrm>
            <a:off x="797744" y="1980000"/>
            <a:ext cx="4375125" cy="4077730"/>
            <a:chOff x="797744" y="1980000"/>
            <a:chExt cx="4375125" cy="4077730"/>
          </a:xfrm>
        </p:grpSpPr>
        <p:pic>
          <p:nvPicPr>
            <p:cNvPr id="5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4389068" y="2383310"/>
              <a:ext cx="633600" cy="460578"/>
            </a:xfrm>
            <a:prstGeom prst="rect">
              <a:avLst/>
            </a:prstGeom>
          </p:spPr>
        </p:pic>
        <p:sp>
          <p:nvSpPr>
            <p:cNvPr id="6" name="Cień pod paczką"/>
            <p:cNvSpPr/>
            <p:nvPr/>
          </p:nvSpPr>
          <p:spPr>
            <a:xfrm rot="21360000">
              <a:off x="1692520" y="5665294"/>
              <a:ext cx="2662958" cy="392436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7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360000">
              <a:off x="1622442" y="1980000"/>
              <a:ext cx="2803114" cy="3960000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797744" y="2807385"/>
              <a:ext cx="752400" cy="721229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926331" y="4995936"/>
              <a:ext cx="831600" cy="779328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4463116" y="4356000"/>
              <a:ext cx="709753" cy="792000"/>
            </a:xfrm>
            <a:prstGeom prst="rect">
              <a:avLst/>
            </a:prstGeom>
          </p:spPr>
        </p:pic>
      </p:grpSp>
      <p:sp>
        <p:nvSpPr>
          <p:cNvPr id="11" name="Tekst: Wartość odżywcza"/>
          <p:cNvSpPr txBox="1"/>
          <p:nvPr/>
        </p:nvSpPr>
        <p:spPr>
          <a:xfrm>
            <a:off x="6120000" y="1908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Wartość odżywcza</a:t>
            </a:r>
          </a:p>
        </p:txBody>
      </p:sp>
      <p:sp>
        <p:nvSpPr>
          <p:cNvPr id="12" name="Tekst: 100 g"/>
          <p:cNvSpPr txBox="1"/>
          <p:nvPr/>
        </p:nvSpPr>
        <p:spPr>
          <a:xfrm>
            <a:off x="8724480" y="1908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1" i="0">
                <a:solidFill>
                  <a:schemeClr val="tx1"/>
                </a:solidFill>
                <a:latin typeface="+mn-lt"/>
              </a:rPr>
              <a:t>100 g</a:t>
            </a:r>
          </a:p>
        </p:txBody>
      </p:sp>
      <p:sp>
        <p:nvSpPr>
          <p:cNvPr id="13" name="Tekst: [porcja]"/>
          <p:cNvSpPr txBox="1"/>
          <p:nvPr/>
        </p:nvSpPr>
        <p:spPr>
          <a:xfrm>
            <a:off x="10026240" y="1908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1" i="0">
                <a:solidFill>
                  <a:schemeClr val="tx1"/>
                </a:solidFill>
                <a:latin typeface="+mn-lt"/>
              </a:rPr>
              <a:t>[porcja]</a:t>
            </a:r>
          </a:p>
        </p:txBody>
      </p:sp>
      <p:sp>
        <p:nvSpPr>
          <p:cNvPr id="14" name="Karta / tło (kolor z motywu)"/>
          <p:cNvSpPr/>
          <p:nvPr/>
        </p:nvSpPr>
        <p:spPr>
          <a:xfrm>
            <a:off x="5904000" y="2286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Wartość energetyczna"/>
          <p:cNvSpPr txBox="1"/>
          <p:nvPr/>
        </p:nvSpPr>
        <p:spPr>
          <a:xfrm>
            <a:off x="6120000" y="2286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Wartość energetyczna</a:t>
            </a:r>
          </a:p>
        </p:txBody>
      </p:sp>
      <p:sp>
        <p:nvSpPr>
          <p:cNvPr id="16" name="Tekst: [wartość]"/>
          <p:cNvSpPr txBox="1"/>
          <p:nvPr/>
        </p:nvSpPr>
        <p:spPr>
          <a:xfrm>
            <a:off x="8724480" y="2286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17" name="Tekst: [wartość]"/>
          <p:cNvSpPr txBox="1"/>
          <p:nvPr/>
        </p:nvSpPr>
        <p:spPr>
          <a:xfrm>
            <a:off x="10026240" y="2286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18" name="Tekst: Tłuszcz"/>
          <p:cNvSpPr txBox="1"/>
          <p:nvPr/>
        </p:nvSpPr>
        <p:spPr>
          <a:xfrm>
            <a:off x="6120000" y="2664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Tłuszcz</a:t>
            </a:r>
          </a:p>
        </p:txBody>
      </p:sp>
      <p:sp>
        <p:nvSpPr>
          <p:cNvPr id="19" name="Tekst: [wartość]"/>
          <p:cNvSpPr txBox="1"/>
          <p:nvPr/>
        </p:nvSpPr>
        <p:spPr>
          <a:xfrm>
            <a:off x="8724480" y="2664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0" name="Tekst: [wartość]"/>
          <p:cNvSpPr txBox="1"/>
          <p:nvPr/>
        </p:nvSpPr>
        <p:spPr>
          <a:xfrm>
            <a:off x="10026240" y="2664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5904000" y="3042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w tym kwasy nasycone"/>
          <p:cNvSpPr txBox="1"/>
          <p:nvPr/>
        </p:nvSpPr>
        <p:spPr>
          <a:xfrm>
            <a:off x="6120000" y="3042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 tym kwasy nasycone</a:t>
            </a:r>
          </a:p>
        </p:txBody>
      </p:sp>
      <p:sp>
        <p:nvSpPr>
          <p:cNvPr id="23" name="Tekst: [wartość]"/>
          <p:cNvSpPr txBox="1"/>
          <p:nvPr/>
        </p:nvSpPr>
        <p:spPr>
          <a:xfrm>
            <a:off x="8724480" y="3042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4" name="Tekst: [wartość]"/>
          <p:cNvSpPr txBox="1"/>
          <p:nvPr/>
        </p:nvSpPr>
        <p:spPr>
          <a:xfrm>
            <a:off x="10026240" y="3042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5" name="Tekst: Węglowodany"/>
          <p:cNvSpPr txBox="1"/>
          <p:nvPr/>
        </p:nvSpPr>
        <p:spPr>
          <a:xfrm>
            <a:off x="6120000" y="3420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Węglowodany</a:t>
            </a:r>
          </a:p>
        </p:txBody>
      </p:sp>
      <p:sp>
        <p:nvSpPr>
          <p:cNvPr id="26" name="Tekst: [wartość]"/>
          <p:cNvSpPr txBox="1"/>
          <p:nvPr/>
        </p:nvSpPr>
        <p:spPr>
          <a:xfrm>
            <a:off x="8724480" y="3420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7" name="Tekst: [wartość]"/>
          <p:cNvSpPr txBox="1"/>
          <p:nvPr/>
        </p:nvSpPr>
        <p:spPr>
          <a:xfrm>
            <a:off x="10026240" y="3420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8" name="Karta / tło (kolor z motywu)"/>
          <p:cNvSpPr/>
          <p:nvPr/>
        </p:nvSpPr>
        <p:spPr>
          <a:xfrm>
            <a:off x="5904000" y="3798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kst: w tym cukry"/>
          <p:cNvSpPr txBox="1"/>
          <p:nvPr/>
        </p:nvSpPr>
        <p:spPr>
          <a:xfrm>
            <a:off x="6120000" y="3798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 tym cukry</a:t>
            </a:r>
          </a:p>
        </p:txBody>
      </p:sp>
      <p:sp>
        <p:nvSpPr>
          <p:cNvPr id="30" name="Tekst: [wartość]"/>
          <p:cNvSpPr txBox="1"/>
          <p:nvPr/>
        </p:nvSpPr>
        <p:spPr>
          <a:xfrm>
            <a:off x="8724480" y="3798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1" name="Tekst: [wartość]"/>
          <p:cNvSpPr txBox="1"/>
          <p:nvPr/>
        </p:nvSpPr>
        <p:spPr>
          <a:xfrm>
            <a:off x="10026240" y="3798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2" name="Tekst: Błonnik"/>
          <p:cNvSpPr txBox="1"/>
          <p:nvPr/>
        </p:nvSpPr>
        <p:spPr>
          <a:xfrm>
            <a:off x="6120000" y="4176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Błonnik</a:t>
            </a:r>
          </a:p>
        </p:txBody>
      </p:sp>
      <p:sp>
        <p:nvSpPr>
          <p:cNvPr id="33" name="Tekst: [wartość]"/>
          <p:cNvSpPr txBox="1"/>
          <p:nvPr/>
        </p:nvSpPr>
        <p:spPr>
          <a:xfrm>
            <a:off x="8724480" y="4176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4" name="Tekst: [wartość]"/>
          <p:cNvSpPr txBox="1"/>
          <p:nvPr/>
        </p:nvSpPr>
        <p:spPr>
          <a:xfrm>
            <a:off x="10026240" y="4176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5" name="Karta / tło (kolor z motywu)"/>
          <p:cNvSpPr/>
          <p:nvPr/>
        </p:nvSpPr>
        <p:spPr>
          <a:xfrm>
            <a:off x="5904000" y="4554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kst: Białko"/>
          <p:cNvSpPr txBox="1"/>
          <p:nvPr/>
        </p:nvSpPr>
        <p:spPr>
          <a:xfrm>
            <a:off x="6120000" y="4554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Białko</a:t>
            </a:r>
          </a:p>
        </p:txBody>
      </p:sp>
      <p:sp>
        <p:nvSpPr>
          <p:cNvPr id="37" name="Tekst: [wartość]"/>
          <p:cNvSpPr txBox="1"/>
          <p:nvPr/>
        </p:nvSpPr>
        <p:spPr>
          <a:xfrm>
            <a:off x="8724480" y="4554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8" name="Tekst: [wartość]"/>
          <p:cNvSpPr txBox="1"/>
          <p:nvPr/>
        </p:nvSpPr>
        <p:spPr>
          <a:xfrm>
            <a:off x="10026240" y="4554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9" name="Tekst: Sól"/>
          <p:cNvSpPr txBox="1"/>
          <p:nvPr/>
        </p:nvSpPr>
        <p:spPr>
          <a:xfrm>
            <a:off x="6120000" y="4932000"/>
            <a:ext cx="2712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Sól</a:t>
            </a:r>
          </a:p>
        </p:txBody>
      </p:sp>
      <p:sp>
        <p:nvSpPr>
          <p:cNvPr id="40" name="Tekst: [wartość]"/>
          <p:cNvSpPr txBox="1"/>
          <p:nvPr/>
        </p:nvSpPr>
        <p:spPr>
          <a:xfrm>
            <a:off x="8724480" y="4932000"/>
            <a:ext cx="119328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41" name="Tekst: [wartość]"/>
          <p:cNvSpPr txBox="1"/>
          <p:nvPr/>
        </p:nvSpPr>
        <p:spPr>
          <a:xfrm>
            <a:off x="10026240" y="4932000"/>
            <a:ext cx="1085760" cy="37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42" name="Tekst: [Przepisz wartości z karty wprowadzenia]"/>
          <p:cNvSpPr txBox="1"/>
          <p:nvPr/>
        </p:nvSpPr>
        <p:spPr>
          <a:xfrm>
            <a:off x="5904000" y="5526000"/>
            <a:ext cx="5424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[Przepisz wartości z karty wprowadzenia]</a:t>
            </a:r>
          </a:p>
        </p:txBody>
      </p:sp>
      <p:sp>
        <p:nvSpPr>
          <p:cNvPr id="4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kst: SLAJD 3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35 - do czego służy</a:t>
            </a:r>
          </a:p>
        </p:txBody>
      </p:sp>
      <p:sp>
        <p:nvSpPr>
          <p:cNvPr id="45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kst: Wartości odżywcze: packshot + tabela 100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Wartości odżywcze: packshot + tabela 100 g / opakowanie przepisana z karty wprowadzenia.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Ikona / grafika - prawy klik: Zmień obraz" descr="p_kulka_ugry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049" y="2232000"/>
            <a:ext cx="1276900" cy="1224000"/>
          </a:xfrm>
          <a:prstGeom prst="rect">
            <a:avLst/>
          </a:prstGeom>
        </p:spPr>
      </p:pic>
      <p:sp>
        <p:nvSpPr>
          <p:cNvPr id="7" name="Tekst: [Zaleta 1]"/>
          <p:cNvSpPr txBox="1"/>
          <p:nvPr/>
        </p:nvSpPr>
        <p:spPr>
          <a:xfrm>
            <a:off x="1188000" y="4320000"/>
            <a:ext cx="172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1]</a:t>
            </a:r>
          </a:p>
        </p:txBody>
      </p:sp>
      <p:sp>
        <p:nvSpPr>
          <p:cNvPr id="8" name="Tekst: [krótki opis]"/>
          <p:cNvSpPr txBox="1"/>
          <p:nvPr/>
        </p:nvSpPr>
        <p:spPr>
          <a:xfrm>
            <a:off x="1188000" y="5076000"/>
            <a:ext cx="1725000" cy="10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3561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Ikona / grafika - prawy klik: Zmień obraz" descr="p_arbuz_kli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00000">
            <a:off x="4217884" y="2232000"/>
            <a:ext cx="1059230" cy="1224000"/>
          </a:xfrm>
          <a:prstGeom prst="rect">
            <a:avLst/>
          </a:prstGeom>
        </p:spPr>
      </p:pic>
      <p:sp>
        <p:nvSpPr>
          <p:cNvPr id="11" name="Tekst: [Zaleta 2]"/>
          <p:cNvSpPr txBox="1"/>
          <p:nvPr/>
        </p:nvSpPr>
        <p:spPr>
          <a:xfrm>
            <a:off x="3885000" y="4320000"/>
            <a:ext cx="172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2]</a:t>
            </a:r>
          </a:p>
        </p:txBody>
      </p:sp>
      <p:sp>
        <p:nvSpPr>
          <p:cNvPr id="12" name="Tekst: [krótki opis]"/>
          <p:cNvSpPr txBox="1"/>
          <p:nvPr/>
        </p:nvSpPr>
        <p:spPr>
          <a:xfrm>
            <a:off x="3885000" y="5076000"/>
            <a:ext cx="1725000" cy="10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6258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kona / grafika - prawy klik: Zmień obraz" descr="p_mango_kostk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868" y="2232000"/>
            <a:ext cx="1411263" cy="1224000"/>
          </a:xfrm>
          <a:prstGeom prst="rect">
            <a:avLst/>
          </a:prstGeom>
        </p:spPr>
      </p:pic>
      <p:sp>
        <p:nvSpPr>
          <p:cNvPr id="15" name="Tekst: [Zaleta 3]"/>
          <p:cNvSpPr txBox="1"/>
          <p:nvPr/>
        </p:nvSpPr>
        <p:spPr>
          <a:xfrm>
            <a:off x="6582000" y="4320000"/>
            <a:ext cx="172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3]</a:t>
            </a:r>
          </a:p>
        </p:txBody>
      </p:sp>
      <p:sp>
        <p:nvSpPr>
          <p:cNvPr id="16" name="Tekst: [krótki opis]"/>
          <p:cNvSpPr txBox="1"/>
          <p:nvPr/>
        </p:nvSpPr>
        <p:spPr>
          <a:xfrm>
            <a:off x="6582000" y="5076000"/>
            <a:ext cx="1725000" cy="10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955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Zdjęcie - prawy klik: Zmień obraz (rogi i rozmiar zostają)" descr="p_cola_cytryna_plas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9299595" y="2232000"/>
            <a:ext cx="1683809" cy="1224000"/>
          </a:xfrm>
          <a:prstGeom prst="rect">
            <a:avLst/>
          </a:prstGeom>
        </p:spPr>
      </p:pic>
      <p:sp>
        <p:nvSpPr>
          <p:cNvPr id="19" name="Tekst: [Zaleta 4]"/>
          <p:cNvSpPr txBox="1"/>
          <p:nvPr/>
        </p:nvSpPr>
        <p:spPr>
          <a:xfrm>
            <a:off x="9279000" y="4320000"/>
            <a:ext cx="172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4]</a:t>
            </a:r>
          </a:p>
        </p:txBody>
      </p:sp>
      <p:sp>
        <p:nvSpPr>
          <p:cNvPr id="20" name="Tekst: [krótki opis]"/>
          <p:cNvSpPr txBox="1"/>
          <p:nvPr/>
        </p:nvSpPr>
        <p:spPr>
          <a:xfrm>
            <a:off x="9279000" y="5076000"/>
            <a:ext cx="1725000" cy="10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SLAJD 3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36 -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Zalety jako zielone kafle (jak sekcja 'Z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Zalety jako zielone kafle (jak sekcja 'Zalety naszych produktów' w sklepie).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3-4 claimy z obrazkiem.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[WYNIK]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37</a:t>
            </a:r>
          </a:p>
        </p:txBody>
      </p:sp>
      <p:grpSp>
        <p:nvGrpSpPr>
          <p:cNvPr id="25" name="Produkt z owocami (grupa) - przesuwaj całość; kliknij 2x, by zmienić obraz"/>
          <p:cNvGrpSpPr/>
          <p:nvPr/>
        </p:nvGrpSpPr>
        <p:grpSpPr>
          <a:xfrm>
            <a:off x="7445744" y="1836000"/>
            <a:ext cx="4375125" cy="4077730"/>
            <a:chOff x="7445744" y="1836000"/>
            <a:chExt cx="4375125" cy="4077730"/>
          </a:xfrm>
        </p:grpSpPr>
        <p:pic>
          <p:nvPicPr>
            <p:cNvPr id="7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1037068" y="2239310"/>
              <a:ext cx="633600" cy="460578"/>
            </a:xfrm>
            <a:prstGeom prst="rect">
              <a:avLst/>
            </a:prstGeom>
          </p:spPr>
        </p:pic>
        <p:sp>
          <p:nvSpPr>
            <p:cNvPr id="8" name="Cień pod paczką"/>
            <p:cNvSpPr/>
            <p:nvPr/>
          </p:nvSpPr>
          <p:spPr>
            <a:xfrm rot="300000">
              <a:off x="8340520" y="5521294"/>
              <a:ext cx="2662958" cy="392436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9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300000">
              <a:off x="8270442" y="1836000"/>
              <a:ext cx="2803114" cy="3960000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7445744" y="2663385"/>
              <a:ext cx="752400" cy="721229"/>
            </a:xfrm>
            <a:prstGeom prst="rect">
              <a:avLst/>
            </a:prstGeom>
          </p:spPr>
        </p:pic>
        <p:pic>
          <p:nvPicPr>
            <p:cNvPr id="11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7574331" y="4851936"/>
              <a:ext cx="831600" cy="779328"/>
            </a:xfrm>
            <a:prstGeom prst="rect">
              <a:avLst/>
            </a:prstGeom>
          </p:spPr>
        </p:pic>
        <p:pic>
          <p:nvPicPr>
            <p:cNvPr id="12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11111116" y="4212000"/>
              <a:ext cx="709753" cy="792000"/>
            </a:xfrm>
            <a:prstGeom prst="rect">
              <a:avLst/>
            </a:prstGeom>
          </p:spPr>
        </p:pic>
      </p:grpSp>
      <p:sp>
        <p:nvSpPr>
          <p:cNvPr id="13" name="Tekst: 00%"/>
          <p:cNvSpPr txBox="1"/>
          <p:nvPr/>
        </p:nvSpPr>
        <p:spPr>
          <a:xfrm>
            <a:off x="810000" y="1476000"/>
            <a:ext cx="6120000" cy="230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4" name="Tekst: [Czego dotyczy liczba i w jakiej grupie]"/>
          <p:cNvSpPr txBox="1"/>
          <p:nvPr/>
        </p:nvSpPr>
        <p:spPr>
          <a:xfrm>
            <a:off x="864000" y="3492000"/>
            <a:ext cx="540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000"/>
              </a:lnSpc>
            </a:pPr>
            <a:r>
              <a:rPr sz="2200" b="1" i="0">
                <a:solidFill>
                  <a:schemeClr val="tx1"/>
                </a:solidFill>
                <a:latin typeface="+mn-lt"/>
              </a:rPr>
              <a:t>[Czego dotyczy liczba i w jakiej grupie]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864000" y="4536000"/>
            <a:ext cx="2592000" cy="1332000"/>
          </a:xfrm>
          <a:prstGeom prst="roundRect">
            <a:avLst>
              <a:gd name="adj" fmla="val 12162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00%"/>
          <p:cNvSpPr txBox="1"/>
          <p:nvPr/>
        </p:nvSpPr>
        <p:spPr>
          <a:xfrm>
            <a:off x="1080000" y="4644000"/>
            <a:ext cx="216000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4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7" name="Tekst: [liczba pomocnicza]"/>
          <p:cNvSpPr txBox="1"/>
          <p:nvPr/>
        </p:nvSpPr>
        <p:spPr>
          <a:xfrm>
            <a:off x="1080000" y="5292000"/>
            <a:ext cx="2160000" cy="50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[liczba pomocnicza]</a:t>
            </a:r>
          </a:p>
        </p:txBody>
      </p:sp>
      <p:sp>
        <p:nvSpPr>
          <p:cNvPr id="18" name="Karta / tło (kolor z motywu)"/>
          <p:cNvSpPr/>
          <p:nvPr/>
        </p:nvSpPr>
        <p:spPr>
          <a:xfrm>
            <a:off x="3780000" y="4536000"/>
            <a:ext cx="2592000" cy="1332000"/>
          </a:xfrm>
          <a:prstGeom prst="roundRect">
            <a:avLst>
              <a:gd name="adj" fmla="val 12162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00%"/>
          <p:cNvSpPr txBox="1"/>
          <p:nvPr/>
        </p:nvSpPr>
        <p:spPr>
          <a:xfrm>
            <a:off x="3996000" y="4644000"/>
            <a:ext cx="2160000" cy="6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4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0" name="Tekst: [liczba pomocnicza]"/>
          <p:cNvSpPr txBox="1"/>
          <p:nvPr/>
        </p:nvSpPr>
        <p:spPr>
          <a:xfrm>
            <a:off x="3996000" y="5292000"/>
            <a:ext cx="2160000" cy="50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[liczba pomocnicza]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SLAJD 3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37 -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Liczba-bohater: jedna duża liczba + opis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Liczba-bohater: jedna duża liczba + opis + 1-2 liczby pomocnicze.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Najważniejszy wynik.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[WYNIKI]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38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Numer slajdu"/>
          <p:cNvSpPr txBox="1"/>
          <p:nvPr/>
        </p:nvSpPr>
        <p:spPr>
          <a:xfrm>
            <a:off x="1260000" y="2160000"/>
            <a:ext cx="1581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200" b="0" i="0">
                <a:solidFill>
                  <a:schemeClr val="bg1"/>
                </a:solidFill>
                <a:latin typeface="+mj-lt"/>
              </a:rPr>
              <a:t>00</a:t>
            </a:r>
          </a:p>
        </p:txBody>
      </p:sp>
      <p:sp>
        <p:nvSpPr>
          <p:cNvPr id="9" name="Tekst: [wskaźnik 1]"/>
          <p:cNvSpPr txBox="1"/>
          <p:nvPr/>
        </p:nvSpPr>
        <p:spPr>
          <a:xfrm>
            <a:off x="1260000" y="3384000"/>
            <a:ext cx="1581000" cy="2667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bg1"/>
                </a:solidFill>
                <a:latin typeface="+mn-lt"/>
              </a:rPr>
              <a:t>[wskaźnik 1]</a:t>
            </a:r>
          </a:p>
        </p:txBody>
      </p:sp>
      <p:sp>
        <p:nvSpPr>
          <p:cNvPr id="10" name="Tekst: [krótki komentarz]"/>
          <p:cNvSpPr txBox="1"/>
          <p:nvPr/>
        </p:nvSpPr>
        <p:spPr>
          <a:xfrm>
            <a:off x="1260000" y="3740700"/>
            <a:ext cx="1581000" cy="12633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3561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Numer slajdu"/>
          <p:cNvSpPr txBox="1"/>
          <p:nvPr/>
        </p:nvSpPr>
        <p:spPr>
          <a:xfrm>
            <a:off x="3957000" y="2160000"/>
            <a:ext cx="1581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200" b="0" i="0">
                <a:solidFill>
                  <a:schemeClr val="accent1"/>
                </a:solidFill>
                <a:latin typeface="+mj-lt"/>
              </a:rPr>
              <a:t>00</a:t>
            </a:r>
          </a:p>
        </p:txBody>
      </p:sp>
      <p:sp>
        <p:nvSpPr>
          <p:cNvPr id="13" name="Tekst: [wskaźnik 2]"/>
          <p:cNvSpPr txBox="1"/>
          <p:nvPr/>
        </p:nvSpPr>
        <p:spPr>
          <a:xfrm>
            <a:off x="3957000" y="3384000"/>
            <a:ext cx="1581000" cy="2667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[wskaźnik 2]</a:t>
            </a:r>
          </a:p>
        </p:txBody>
      </p:sp>
      <p:sp>
        <p:nvSpPr>
          <p:cNvPr id="14" name="Tekst: [krótki komentarz]"/>
          <p:cNvSpPr txBox="1"/>
          <p:nvPr/>
        </p:nvSpPr>
        <p:spPr>
          <a:xfrm>
            <a:off x="3957000" y="3740700"/>
            <a:ext cx="1581000" cy="12633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6258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Numer slajdu"/>
          <p:cNvSpPr txBox="1"/>
          <p:nvPr/>
        </p:nvSpPr>
        <p:spPr>
          <a:xfrm>
            <a:off x="6654000" y="2160000"/>
            <a:ext cx="1581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200" b="0" i="0">
                <a:solidFill>
                  <a:schemeClr val="accent1"/>
                </a:solidFill>
                <a:latin typeface="+mj-lt"/>
              </a:rPr>
              <a:t>00</a:t>
            </a:r>
          </a:p>
        </p:txBody>
      </p:sp>
      <p:sp>
        <p:nvSpPr>
          <p:cNvPr id="17" name="Tekst: [wskaźnik 3]"/>
          <p:cNvSpPr txBox="1"/>
          <p:nvPr/>
        </p:nvSpPr>
        <p:spPr>
          <a:xfrm>
            <a:off x="6654000" y="3384000"/>
            <a:ext cx="1581000" cy="2667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[wskaźnik 3]</a:t>
            </a:r>
          </a:p>
        </p:txBody>
      </p:sp>
      <p:sp>
        <p:nvSpPr>
          <p:cNvPr id="18" name="Tekst: [krótki komentarz]"/>
          <p:cNvSpPr txBox="1"/>
          <p:nvPr/>
        </p:nvSpPr>
        <p:spPr>
          <a:xfrm>
            <a:off x="6654000" y="3740700"/>
            <a:ext cx="1581000" cy="12633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8955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Numer slajdu"/>
          <p:cNvSpPr txBox="1"/>
          <p:nvPr/>
        </p:nvSpPr>
        <p:spPr>
          <a:xfrm>
            <a:off x="9351000" y="2160000"/>
            <a:ext cx="1581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200" b="0" i="0">
                <a:solidFill>
                  <a:schemeClr val="accent1"/>
                </a:solidFill>
                <a:latin typeface="+mj-lt"/>
              </a:rPr>
              <a:t>00</a:t>
            </a:r>
          </a:p>
        </p:txBody>
      </p:sp>
      <p:sp>
        <p:nvSpPr>
          <p:cNvPr id="21" name="Tekst: [wskaźnik 4]"/>
          <p:cNvSpPr txBox="1"/>
          <p:nvPr/>
        </p:nvSpPr>
        <p:spPr>
          <a:xfrm>
            <a:off x="9351000" y="3384000"/>
            <a:ext cx="1581000" cy="2667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[wskaźnik 4]</a:t>
            </a:r>
          </a:p>
        </p:txBody>
      </p:sp>
      <p:sp>
        <p:nvSpPr>
          <p:cNvPr id="22" name="Tekst: [krótki komentarz]"/>
          <p:cNvSpPr txBox="1"/>
          <p:nvPr/>
        </p:nvSpPr>
        <p:spPr>
          <a:xfrm>
            <a:off x="9351000" y="3740700"/>
            <a:ext cx="1581000" cy="12633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SLAJD 3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38 -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KPI: 3-4 wskaźniki obok siebie. Jeden mo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KPI: 3-4 wskaźniki obok siebie. Jeden można wyróżnić (highlight).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[DANE]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39</a:t>
            </a:r>
          </a:p>
        </p:txBody>
      </p:sp>
      <p:sp>
        <p:nvSpPr>
          <p:cNvPr id="7" name="Tekst: [Pozycja 1]"/>
          <p:cNvSpPr txBox="1"/>
          <p:nvPr/>
        </p:nvSpPr>
        <p:spPr>
          <a:xfrm>
            <a:off x="864000" y="1908000"/>
            <a:ext cx="630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[Pozycja 1]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864000" y="22140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Karta / tło (kolor z motywu)"/>
          <p:cNvSpPr/>
          <p:nvPr/>
        </p:nvSpPr>
        <p:spPr>
          <a:xfrm>
            <a:off x="864000" y="2214000"/>
            <a:ext cx="5040000" cy="21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00%"/>
          <p:cNvSpPr txBox="1"/>
          <p:nvPr/>
        </p:nvSpPr>
        <p:spPr>
          <a:xfrm>
            <a:off x="7344000" y="20160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26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1" name="Tekst: [Pozycja 2]"/>
          <p:cNvSpPr txBox="1"/>
          <p:nvPr/>
        </p:nvSpPr>
        <p:spPr>
          <a:xfrm>
            <a:off x="864000" y="2707200"/>
            <a:ext cx="630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[Pozycja 2]</a:t>
            </a:r>
          </a:p>
        </p:txBody>
      </p:sp>
      <p:sp>
        <p:nvSpPr>
          <p:cNvPr id="12" name="Karta / tło (kolor z motywu)"/>
          <p:cNvSpPr/>
          <p:nvPr/>
        </p:nvSpPr>
        <p:spPr>
          <a:xfrm>
            <a:off x="864000" y="30132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Karta / tło (kolor z motywu)"/>
          <p:cNvSpPr/>
          <p:nvPr/>
        </p:nvSpPr>
        <p:spPr>
          <a:xfrm>
            <a:off x="864000" y="3013200"/>
            <a:ext cx="4158000" cy="21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00%"/>
          <p:cNvSpPr txBox="1"/>
          <p:nvPr/>
        </p:nvSpPr>
        <p:spPr>
          <a:xfrm>
            <a:off x="7344000" y="28152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26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5" name="Tekst: [Pozycja 3]"/>
          <p:cNvSpPr txBox="1"/>
          <p:nvPr/>
        </p:nvSpPr>
        <p:spPr>
          <a:xfrm>
            <a:off x="864000" y="3506400"/>
            <a:ext cx="630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[Pozycja 3]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864000" y="38124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Karta / tło (kolor z motywu)"/>
          <p:cNvSpPr/>
          <p:nvPr/>
        </p:nvSpPr>
        <p:spPr>
          <a:xfrm>
            <a:off x="864000" y="3812400"/>
            <a:ext cx="3465000" cy="2160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00%"/>
          <p:cNvSpPr txBox="1"/>
          <p:nvPr/>
        </p:nvSpPr>
        <p:spPr>
          <a:xfrm>
            <a:off x="7344000" y="36144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9" name="Tekst: [Pozycja 4]"/>
          <p:cNvSpPr txBox="1"/>
          <p:nvPr/>
        </p:nvSpPr>
        <p:spPr>
          <a:xfrm>
            <a:off x="864000" y="4305600"/>
            <a:ext cx="630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[Pozycja 4]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864000" y="46116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Karta / tło (kolor z motywu)"/>
          <p:cNvSpPr/>
          <p:nvPr/>
        </p:nvSpPr>
        <p:spPr>
          <a:xfrm>
            <a:off x="864000" y="4611600"/>
            <a:ext cx="3213000" cy="2160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00%"/>
          <p:cNvSpPr txBox="1"/>
          <p:nvPr/>
        </p:nvSpPr>
        <p:spPr>
          <a:xfrm>
            <a:off x="7344000" y="44136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3" name="Tekst: [Pozycja 5]"/>
          <p:cNvSpPr txBox="1"/>
          <p:nvPr/>
        </p:nvSpPr>
        <p:spPr>
          <a:xfrm>
            <a:off x="864000" y="5104800"/>
            <a:ext cx="630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[Pozycja 5]</a:t>
            </a:r>
          </a:p>
        </p:txBody>
      </p:sp>
      <p:sp>
        <p:nvSpPr>
          <p:cNvPr id="24" name="Karta / tło (kolor z motywu)"/>
          <p:cNvSpPr/>
          <p:nvPr/>
        </p:nvSpPr>
        <p:spPr>
          <a:xfrm>
            <a:off x="864000" y="54108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Karta / tło (kolor z motywu)"/>
          <p:cNvSpPr/>
          <p:nvPr/>
        </p:nvSpPr>
        <p:spPr>
          <a:xfrm>
            <a:off x="864000" y="5410800"/>
            <a:ext cx="2457000" cy="2160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00%"/>
          <p:cNvSpPr txBox="1"/>
          <p:nvPr/>
        </p:nvSpPr>
        <p:spPr>
          <a:xfrm>
            <a:off x="7344000" y="52128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7" name="Karta / tło (kolor z motywu)"/>
          <p:cNvSpPr/>
          <p:nvPr/>
        </p:nvSpPr>
        <p:spPr>
          <a:xfrm>
            <a:off x="8424000" y="1908000"/>
            <a:ext cx="2904000" cy="4068000"/>
          </a:xfrm>
          <a:prstGeom prst="roundRect">
            <a:avLst>
              <a:gd name="adj" fmla="val 5578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kst: [Wniosek z wykresu w 1-2 zdaniach]"/>
          <p:cNvSpPr txBox="1"/>
          <p:nvPr/>
        </p:nvSpPr>
        <p:spPr>
          <a:xfrm>
            <a:off x="8712000" y="2052000"/>
            <a:ext cx="2328000" cy="345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5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[Wniosek z wykresu w 1-2 zdaniach]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kst: SLAJD 3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39 -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kst: Wykres słupkowy poziomy: 3-7 pozycji. Dł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Wykres słupkowy poziomy: 3-7 pozycji.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Długość słupka zmienisz szerokością kształtu; liczba to tekst.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[BADANIE]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40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1908000"/>
            <a:ext cx="5070000" cy="43200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Grupa 1]"/>
          <p:cNvSpPr txBox="1"/>
          <p:nvPr/>
        </p:nvSpPr>
        <p:spPr>
          <a:xfrm>
            <a:off x="1296000" y="2160000"/>
            <a:ext cx="4206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0" i="0">
                <a:solidFill>
                  <a:schemeClr val="tx1"/>
                </a:solidFill>
                <a:latin typeface="+mj-lt"/>
              </a:rPr>
              <a:t>[Grupa 1]</a:t>
            </a:r>
          </a:p>
        </p:txBody>
      </p:sp>
      <p:sp>
        <p:nvSpPr>
          <p:cNvPr id="9" name="Tekst: [Krótki opis grupy]"/>
          <p:cNvSpPr txBox="1"/>
          <p:nvPr/>
        </p:nvSpPr>
        <p:spPr>
          <a:xfrm>
            <a:off x="1296000" y="2574000"/>
            <a:ext cx="4206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grupy]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1296000" y="3276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00%"/>
          <p:cNvSpPr txBox="1"/>
          <p:nvPr/>
        </p:nvSpPr>
        <p:spPr>
          <a:xfrm>
            <a:off x="1296000" y="3276000"/>
            <a:ext cx="1764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2" name="Tekst: [opis wyniku]"/>
          <p:cNvSpPr txBox="1"/>
          <p:nvPr/>
        </p:nvSpPr>
        <p:spPr>
          <a:xfrm>
            <a:off x="3096000" y="3276000"/>
            <a:ext cx="2406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1296000" y="4680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00%"/>
          <p:cNvSpPr txBox="1"/>
          <p:nvPr/>
        </p:nvSpPr>
        <p:spPr>
          <a:xfrm>
            <a:off x="1296000" y="4680000"/>
            <a:ext cx="1764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5" name="Tekst: [opis wyniku]"/>
          <p:cNvSpPr txBox="1"/>
          <p:nvPr/>
        </p:nvSpPr>
        <p:spPr>
          <a:xfrm>
            <a:off x="3096000" y="4680000"/>
            <a:ext cx="2406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6258000" y="1908000"/>
            <a:ext cx="5070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[Grupa 2]"/>
          <p:cNvSpPr txBox="1"/>
          <p:nvPr/>
        </p:nvSpPr>
        <p:spPr>
          <a:xfrm>
            <a:off x="6690000" y="2160000"/>
            <a:ext cx="4206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0" i="0">
                <a:solidFill>
                  <a:schemeClr val="tx1"/>
                </a:solidFill>
                <a:latin typeface="+mj-lt"/>
              </a:rPr>
              <a:t>[Grupa 2]</a:t>
            </a:r>
          </a:p>
        </p:txBody>
      </p:sp>
      <p:sp>
        <p:nvSpPr>
          <p:cNvPr id="18" name="Tekst: [Krótki opis grupy]"/>
          <p:cNvSpPr txBox="1"/>
          <p:nvPr/>
        </p:nvSpPr>
        <p:spPr>
          <a:xfrm>
            <a:off x="6690000" y="2574000"/>
            <a:ext cx="4206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grupy]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6690000" y="3276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00%"/>
          <p:cNvSpPr txBox="1"/>
          <p:nvPr/>
        </p:nvSpPr>
        <p:spPr>
          <a:xfrm>
            <a:off x="6690000" y="3276000"/>
            <a:ext cx="1764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1" name="Tekst: [opis wyniku]"/>
          <p:cNvSpPr txBox="1"/>
          <p:nvPr/>
        </p:nvSpPr>
        <p:spPr>
          <a:xfrm>
            <a:off x="8490000" y="3276000"/>
            <a:ext cx="2406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22" name="Karta / tło (kolor z motywu)"/>
          <p:cNvSpPr/>
          <p:nvPr/>
        </p:nvSpPr>
        <p:spPr>
          <a:xfrm>
            <a:off x="6690000" y="4680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00%"/>
          <p:cNvSpPr txBox="1"/>
          <p:nvPr/>
        </p:nvSpPr>
        <p:spPr>
          <a:xfrm>
            <a:off x="6690000" y="4680000"/>
            <a:ext cx="1764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4" name="Tekst: [opis wyniku]"/>
          <p:cNvSpPr txBox="1"/>
          <p:nvPr/>
        </p:nvSpPr>
        <p:spPr>
          <a:xfrm>
            <a:off x="8490000" y="4680000"/>
            <a:ext cx="2406000" cy="14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2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SLAJD 4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40 - do czego służy</a:t>
            </a:r>
          </a:p>
        </p:txBody>
      </p:sp>
      <p:sp>
        <p:nvSpPr>
          <p:cNvPr id="27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kst: Dwie grupy obok siebie (segmenty, kanały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Dwie grupy obok siebie (segmenty, kanały, regiony), w każdej 2-4 wyniki.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[PORÓWNANIE]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41</a:t>
            </a:r>
          </a:p>
        </p:txBody>
      </p:sp>
      <p:sp>
        <p:nvSpPr>
          <p:cNvPr id="7" name="Tekst: 00%"/>
          <p:cNvSpPr txBox="1"/>
          <p:nvPr/>
        </p:nvSpPr>
        <p:spPr>
          <a:xfrm>
            <a:off x="864000" y="1800000"/>
            <a:ext cx="5040000" cy="172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8" name="Tekst: 00%"/>
          <p:cNvSpPr txBox="1"/>
          <p:nvPr/>
        </p:nvSpPr>
        <p:spPr>
          <a:xfrm>
            <a:off x="7728000" y="2268000"/>
            <a:ext cx="3600000" cy="10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6400" b="0" i="0">
                <a:solidFill>
                  <a:schemeClr val="accent5"/>
                </a:solidFill>
                <a:latin typeface="+mj-lt"/>
              </a:rPr>
              <a:t>00%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864000" y="3456000"/>
            <a:ext cx="1046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Karta / tło (kolor z motywu)"/>
          <p:cNvSpPr/>
          <p:nvPr/>
        </p:nvSpPr>
        <p:spPr>
          <a:xfrm>
            <a:off x="864000" y="3456000"/>
            <a:ext cx="701088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Opcja A]"/>
          <p:cNvSpPr txBox="1"/>
          <p:nvPr/>
        </p:nvSpPr>
        <p:spPr>
          <a:xfrm>
            <a:off x="864000" y="3924000"/>
            <a:ext cx="504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[Opcja A]</a:t>
            </a:r>
          </a:p>
        </p:txBody>
      </p:sp>
      <p:sp>
        <p:nvSpPr>
          <p:cNvPr id="12" name="Tekst: [Opcja B]"/>
          <p:cNvSpPr txBox="1"/>
          <p:nvPr/>
        </p:nvSpPr>
        <p:spPr>
          <a:xfrm>
            <a:off x="6288000" y="3924000"/>
            <a:ext cx="504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8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[Opcja B]</a:t>
            </a:r>
          </a:p>
        </p:txBody>
      </p:sp>
      <p:sp>
        <p:nvSpPr>
          <p:cNvPr id="13" name="Tekst: [Komentarz do wyniku]"/>
          <p:cNvSpPr txBox="1"/>
          <p:nvPr/>
        </p:nvSpPr>
        <p:spPr>
          <a:xfrm>
            <a:off x="864000" y="4824000"/>
            <a:ext cx="936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[Komentarz do wyniku]</a:t>
            </a:r>
          </a:p>
        </p:txBody>
      </p:sp>
      <p:sp>
        <p:nvSpPr>
          <p:cNvPr id="14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SLAJD 4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41 - do czego służy</a:t>
            </a:r>
          </a:p>
        </p:txBody>
      </p:sp>
      <p:sp>
        <p:nvSpPr>
          <p:cNvPr id="16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A kontra B jednym paskiem: preferencja,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 kontra B jednym paskiem: preferencja, udział, podział głosów. Długość paska zmienisz ręcznie.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tabeli]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42</a:t>
            </a:r>
          </a:p>
        </p:txBody>
      </p:sp>
      <p:sp>
        <p:nvSpPr>
          <p:cNvPr id="5" name="Tekst: Produkt"/>
          <p:cNvSpPr txBox="1"/>
          <p:nvPr/>
        </p:nvSpPr>
        <p:spPr>
          <a:xfrm>
            <a:off x="1044000" y="1908000"/>
            <a:ext cx="3290232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Produkt</a:t>
            </a:r>
          </a:p>
        </p:txBody>
      </p:sp>
      <p:sp>
        <p:nvSpPr>
          <p:cNvPr id="6" name="Tekst: Indeks"/>
          <p:cNvSpPr txBox="1"/>
          <p:nvPr/>
        </p:nvSpPr>
        <p:spPr>
          <a:xfrm>
            <a:off x="4694232" y="1908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Indeks</a:t>
            </a:r>
          </a:p>
        </p:txBody>
      </p:sp>
      <p:sp>
        <p:nvSpPr>
          <p:cNvPr id="7" name="Tekst: EAN"/>
          <p:cNvSpPr txBox="1"/>
          <p:nvPr/>
        </p:nvSpPr>
        <p:spPr>
          <a:xfrm>
            <a:off x="6154325" y="1908000"/>
            <a:ext cx="2073488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EAN</a:t>
            </a:r>
          </a:p>
        </p:txBody>
      </p:sp>
      <p:sp>
        <p:nvSpPr>
          <p:cNvPr id="8" name="Tekst: Gramatura"/>
          <p:cNvSpPr txBox="1"/>
          <p:nvPr/>
        </p:nvSpPr>
        <p:spPr>
          <a:xfrm>
            <a:off x="8587813" y="1908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Gramatura</a:t>
            </a:r>
          </a:p>
        </p:txBody>
      </p:sp>
      <p:sp>
        <p:nvSpPr>
          <p:cNvPr id="9" name="Tekst: Karton"/>
          <p:cNvSpPr txBox="1"/>
          <p:nvPr/>
        </p:nvSpPr>
        <p:spPr>
          <a:xfrm>
            <a:off x="10047906" y="1908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Karton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864000" y="2376000"/>
            <a:ext cx="10464000" cy="46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Produkt 1]"/>
          <p:cNvSpPr txBox="1"/>
          <p:nvPr/>
        </p:nvSpPr>
        <p:spPr>
          <a:xfrm>
            <a:off x="1044000" y="2376000"/>
            <a:ext cx="3290232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[Produkt 1]</a:t>
            </a:r>
          </a:p>
        </p:txBody>
      </p:sp>
      <p:sp>
        <p:nvSpPr>
          <p:cNvPr id="12" name="Tekst: [indeks]"/>
          <p:cNvSpPr txBox="1"/>
          <p:nvPr/>
        </p:nvSpPr>
        <p:spPr>
          <a:xfrm>
            <a:off x="4694232" y="2376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[indeks]</a:t>
            </a:r>
          </a:p>
        </p:txBody>
      </p:sp>
      <p:sp>
        <p:nvSpPr>
          <p:cNvPr id="13" name="Tekst: [EAN]"/>
          <p:cNvSpPr txBox="1"/>
          <p:nvPr/>
        </p:nvSpPr>
        <p:spPr>
          <a:xfrm>
            <a:off x="6154325" y="2376000"/>
            <a:ext cx="2073488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[EAN]</a:t>
            </a:r>
          </a:p>
        </p:txBody>
      </p:sp>
      <p:sp>
        <p:nvSpPr>
          <p:cNvPr id="14" name="Tekst: [00 g]"/>
          <p:cNvSpPr txBox="1"/>
          <p:nvPr/>
        </p:nvSpPr>
        <p:spPr>
          <a:xfrm>
            <a:off x="8587813" y="2376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[00 g]</a:t>
            </a:r>
          </a:p>
        </p:txBody>
      </p:sp>
      <p:sp>
        <p:nvSpPr>
          <p:cNvPr id="15" name="Tekst: [szt.]"/>
          <p:cNvSpPr txBox="1"/>
          <p:nvPr/>
        </p:nvSpPr>
        <p:spPr>
          <a:xfrm>
            <a:off x="10047906" y="2376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[szt.]</a:t>
            </a:r>
          </a:p>
        </p:txBody>
      </p:sp>
      <p:sp>
        <p:nvSpPr>
          <p:cNvPr id="16" name="Tekst: [Produkt 2]"/>
          <p:cNvSpPr txBox="1"/>
          <p:nvPr/>
        </p:nvSpPr>
        <p:spPr>
          <a:xfrm>
            <a:off x="1044000" y="2844000"/>
            <a:ext cx="3290232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[Produkt 2]</a:t>
            </a:r>
          </a:p>
        </p:txBody>
      </p:sp>
      <p:sp>
        <p:nvSpPr>
          <p:cNvPr id="17" name="Tekst: [indeks]"/>
          <p:cNvSpPr txBox="1"/>
          <p:nvPr/>
        </p:nvSpPr>
        <p:spPr>
          <a:xfrm>
            <a:off x="4694232" y="2844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[indeks]</a:t>
            </a:r>
          </a:p>
        </p:txBody>
      </p:sp>
      <p:sp>
        <p:nvSpPr>
          <p:cNvPr id="18" name="Tekst: [EAN]"/>
          <p:cNvSpPr txBox="1"/>
          <p:nvPr/>
        </p:nvSpPr>
        <p:spPr>
          <a:xfrm>
            <a:off x="6154325" y="2844000"/>
            <a:ext cx="2073488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[EAN]</a:t>
            </a:r>
          </a:p>
        </p:txBody>
      </p:sp>
      <p:sp>
        <p:nvSpPr>
          <p:cNvPr id="19" name="Tekst: [00 g]"/>
          <p:cNvSpPr txBox="1"/>
          <p:nvPr/>
        </p:nvSpPr>
        <p:spPr>
          <a:xfrm>
            <a:off x="8587813" y="2844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[00 g]</a:t>
            </a:r>
          </a:p>
        </p:txBody>
      </p:sp>
      <p:sp>
        <p:nvSpPr>
          <p:cNvPr id="20" name="Tekst: [szt.]"/>
          <p:cNvSpPr txBox="1"/>
          <p:nvPr/>
        </p:nvSpPr>
        <p:spPr>
          <a:xfrm>
            <a:off x="10047906" y="2844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[szt.]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864000" y="3312000"/>
            <a:ext cx="10464000" cy="46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[Produkt 3]"/>
          <p:cNvSpPr txBox="1"/>
          <p:nvPr/>
        </p:nvSpPr>
        <p:spPr>
          <a:xfrm>
            <a:off x="1044000" y="3312000"/>
            <a:ext cx="3290232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[Produkt 3]</a:t>
            </a:r>
          </a:p>
        </p:txBody>
      </p:sp>
      <p:sp>
        <p:nvSpPr>
          <p:cNvPr id="23" name="Tekst: [indeks]"/>
          <p:cNvSpPr txBox="1"/>
          <p:nvPr/>
        </p:nvSpPr>
        <p:spPr>
          <a:xfrm>
            <a:off x="4694232" y="3312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[indeks]</a:t>
            </a:r>
          </a:p>
        </p:txBody>
      </p:sp>
      <p:sp>
        <p:nvSpPr>
          <p:cNvPr id="24" name="Tekst: [EAN]"/>
          <p:cNvSpPr txBox="1"/>
          <p:nvPr/>
        </p:nvSpPr>
        <p:spPr>
          <a:xfrm>
            <a:off x="6154325" y="3312000"/>
            <a:ext cx="2073488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[EAN]</a:t>
            </a:r>
          </a:p>
        </p:txBody>
      </p:sp>
      <p:sp>
        <p:nvSpPr>
          <p:cNvPr id="25" name="Tekst: [00 g]"/>
          <p:cNvSpPr txBox="1"/>
          <p:nvPr/>
        </p:nvSpPr>
        <p:spPr>
          <a:xfrm>
            <a:off x="8587813" y="3312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[00 g]</a:t>
            </a:r>
          </a:p>
        </p:txBody>
      </p:sp>
      <p:sp>
        <p:nvSpPr>
          <p:cNvPr id="26" name="Tekst: [szt.]"/>
          <p:cNvSpPr txBox="1"/>
          <p:nvPr/>
        </p:nvSpPr>
        <p:spPr>
          <a:xfrm>
            <a:off x="10047906" y="3312000"/>
            <a:ext cx="1100093" cy="468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[szt.]</a:t>
            </a:r>
          </a:p>
        </p:txBody>
      </p:sp>
      <p:sp>
        <p:nvSpPr>
          <p:cNvPr id="2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kst: SLAJD 4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42 - do czego służy</a:t>
            </a:r>
          </a:p>
        </p:txBody>
      </p:sp>
      <p:sp>
        <p:nvSpPr>
          <p:cNvPr id="29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kst: Tabela: asortyment, cennik, indeksy. Lic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Tabela: asortyment, cennik, indeksy.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Liczby same wyrównują się do prawej.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harmonogramu]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43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1224000" y="3801600"/>
            <a:ext cx="9744000" cy="28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unktor"/>
          <p:cNvSpPr/>
          <p:nvPr/>
        </p:nvSpPr>
        <p:spPr>
          <a:xfrm>
            <a:off x="1062000" y="3654000"/>
            <a:ext cx="324000" cy="32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unktor"/>
          <p:cNvSpPr/>
          <p:nvPr/>
        </p:nvSpPr>
        <p:spPr>
          <a:xfrm>
            <a:off x="1062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Termin 1]"/>
          <p:cNvSpPr txBox="1"/>
          <p:nvPr/>
        </p:nvSpPr>
        <p:spPr>
          <a:xfrm>
            <a:off x="864000" y="2592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chemeClr val="accent1"/>
                </a:solidFill>
                <a:latin typeface="+mn-lt"/>
              </a:rPr>
              <a:t>[Termin 1]</a:t>
            </a:r>
          </a:p>
        </p:txBody>
      </p:sp>
      <p:sp>
        <p:nvSpPr>
          <p:cNvPr id="9" name="Tekst: [Etap 1]"/>
          <p:cNvSpPr txBox="1"/>
          <p:nvPr/>
        </p:nvSpPr>
        <p:spPr>
          <a:xfrm>
            <a:off x="864000" y="2880000"/>
            <a:ext cx="23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j-lt"/>
              </a:rPr>
              <a:t>[Etap 1]</a:t>
            </a:r>
          </a:p>
        </p:txBody>
      </p:sp>
      <p:sp>
        <p:nvSpPr>
          <p:cNvPr id="10" name="Tekst: [krótki opis]"/>
          <p:cNvSpPr txBox="1"/>
          <p:nvPr/>
        </p:nvSpPr>
        <p:spPr>
          <a:xfrm>
            <a:off x="864000" y="3204000"/>
            <a:ext cx="2340000" cy="64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1" name="Punktor"/>
          <p:cNvSpPr/>
          <p:nvPr/>
        </p:nvSpPr>
        <p:spPr>
          <a:xfrm>
            <a:off x="4310000" y="3654000"/>
            <a:ext cx="324000" cy="3240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Punktor"/>
          <p:cNvSpPr/>
          <p:nvPr/>
        </p:nvSpPr>
        <p:spPr>
          <a:xfrm>
            <a:off x="4310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[Termin 2]"/>
          <p:cNvSpPr txBox="1"/>
          <p:nvPr/>
        </p:nvSpPr>
        <p:spPr>
          <a:xfrm>
            <a:off x="3302000" y="417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600" b="1" i="0">
                <a:solidFill>
                  <a:schemeClr val="accent1"/>
                </a:solidFill>
                <a:latin typeface="+mn-lt"/>
              </a:rPr>
              <a:t>[Termin 2]</a:t>
            </a:r>
          </a:p>
        </p:txBody>
      </p:sp>
      <p:sp>
        <p:nvSpPr>
          <p:cNvPr id="14" name="Tekst: [Etap 2]"/>
          <p:cNvSpPr txBox="1"/>
          <p:nvPr/>
        </p:nvSpPr>
        <p:spPr>
          <a:xfrm>
            <a:off x="3302000" y="4464000"/>
            <a:ext cx="23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800" b="0" i="0">
                <a:solidFill>
                  <a:schemeClr val="tx1"/>
                </a:solidFill>
                <a:latin typeface="+mj-lt"/>
              </a:rPr>
              <a:t>[Etap 2]</a:t>
            </a:r>
          </a:p>
        </p:txBody>
      </p:sp>
      <p:sp>
        <p:nvSpPr>
          <p:cNvPr id="15" name="Tekst: [krótki opis]"/>
          <p:cNvSpPr txBox="1"/>
          <p:nvPr/>
        </p:nvSpPr>
        <p:spPr>
          <a:xfrm>
            <a:off x="3302000" y="4788000"/>
            <a:ext cx="2340000" cy="64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6" name="Punktor"/>
          <p:cNvSpPr/>
          <p:nvPr/>
        </p:nvSpPr>
        <p:spPr>
          <a:xfrm>
            <a:off x="7558000" y="3654000"/>
            <a:ext cx="324000" cy="32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Punktor"/>
          <p:cNvSpPr/>
          <p:nvPr/>
        </p:nvSpPr>
        <p:spPr>
          <a:xfrm>
            <a:off x="7558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[Termin 3]"/>
          <p:cNvSpPr txBox="1"/>
          <p:nvPr/>
        </p:nvSpPr>
        <p:spPr>
          <a:xfrm>
            <a:off x="6550000" y="2592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600" b="1" i="0">
                <a:solidFill>
                  <a:schemeClr val="accent1"/>
                </a:solidFill>
                <a:latin typeface="+mn-lt"/>
              </a:rPr>
              <a:t>[Termin 3]</a:t>
            </a:r>
          </a:p>
        </p:txBody>
      </p:sp>
      <p:sp>
        <p:nvSpPr>
          <p:cNvPr id="19" name="Tekst: [Etap 3]"/>
          <p:cNvSpPr txBox="1"/>
          <p:nvPr/>
        </p:nvSpPr>
        <p:spPr>
          <a:xfrm>
            <a:off x="6550000" y="2880000"/>
            <a:ext cx="23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800" b="0" i="0">
                <a:solidFill>
                  <a:schemeClr val="tx1"/>
                </a:solidFill>
                <a:latin typeface="+mj-lt"/>
              </a:rPr>
              <a:t>[Etap 3]</a:t>
            </a:r>
          </a:p>
        </p:txBody>
      </p:sp>
      <p:sp>
        <p:nvSpPr>
          <p:cNvPr id="20" name="Tekst: [krótki opis]"/>
          <p:cNvSpPr txBox="1"/>
          <p:nvPr/>
        </p:nvSpPr>
        <p:spPr>
          <a:xfrm>
            <a:off x="6550000" y="3204000"/>
            <a:ext cx="2340000" cy="64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21" name="Punktor"/>
          <p:cNvSpPr/>
          <p:nvPr/>
        </p:nvSpPr>
        <p:spPr>
          <a:xfrm>
            <a:off x="10806000" y="3654000"/>
            <a:ext cx="324000" cy="32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Punktor"/>
          <p:cNvSpPr/>
          <p:nvPr/>
        </p:nvSpPr>
        <p:spPr>
          <a:xfrm>
            <a:off x="10806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[Termin 4]"/>
          <p:cNvSpPr txBox="1"/>
          <p:nvPr/>
        </p:nvSpPr>
        <p:spPr>
          <a:xfrm>
            <a:off x="8988000" y="417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600" b="1" i="0">
                <a:solidFill>
                  <a:schemeClr val="accent1"/>
                </a:solidFill>
                <a:latin typeface="+mn-lt"/>
              </a:rPr>
              <a:t>[Termin 4]</a:t>
            </a:r>
          </a:p>
        </p:txBody>
      </p:sp>
      <p:sp>
        <p:nvSpPr>
          <p:cNvPr id="24" name="Tekst: [Etap 4]"/>
          <p:cNvSpPr txBox="1"/>
          <p:nvPr/>
        </p:nvSpPr>
        <p:spPr>
          <a:xfrm>
            <a:off x="8988000" y="4464000"/>
            <a:ext cx="23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800" b="0" i="0">
                <a:solidFill>
                  <a:schemeClr val="tx1"/>
                </a:solidFill>
                <a:latin typeface="+mj-lt"/>
              </a:rPr>
              <a:t>[Etap 4]</a:t>
            </a:r>
          </a:p>
        </p:txBody>
      </p:sp>
      <p:sp>
        <p:nvSpPr>
          <p:cNvPr id="25" name="Tekst: [krótki opis]"/>
          <p:cNvSpPr txBox="1"/>
          <p:nvPr/>
        </p:nvSpPr>
        <p:spPr>
          <a:xfrm>
            <a:off x="8988000" y="4788000"/>
            <a:ext cx="2340000" cy="64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2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SLAJD 4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43 - do czego służy</a:t>
            </a:r>
          </a:p>
        </p:txBody>
      </p:sp>
      <p:sp>
        <p:nvSpPr>
          <p:cNvPr id="2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kst: Oś czasu: 3-6 etapów (wprowadzenie produ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Oś czasu: 3-6 etapów (wprowadzenie produktu, plan kampanii). Wypełnione kółko = bieżący etap.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[Dlaczego warto mieć na półce]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44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umer slajdu"/>
          <p:cNvSpPr txBox="1"/>
          <p:nvPr/>
        </p:nvSpPr>
        <p:spPr>
          <a:xfrm>
            <a:off x="1152000" y="2196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bg1">
                    <a:lumMod val="88000"/>
                  </a:schemeClr>
                </a:solidFill>
                <a:latin typeface="+mn-lt"/>
              </a:rPr>
              <a:t>01</a:t>
            </a:r>
          </a:p>
        </p:txBody>
      </p:sp>
      <p:sp>
        <p:nvSpPr>
          <p:cNvPr id="7" name="Tekst: 00%"/>
          <p:cNvSpPr txBox="1"/>
          <p:nvPr/>
        </p:nvSpPr>
        <p:spPr>
          <a:xfrm>
            <a:off x="1152000" y="2916000"/>
            <a:ext cx="1797000" cy="86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5400" b="0" i="0">
                <a:solidFill>
                  <a:schemeClr val="bg1"/>
                </a:solidFill>
                <a:latin typeface="+mj-lt"/>
              </a:rPr>
              <a:t>00%</a:t>
            </a:r>
          </a:p>
        </p:txBody>
      </p:sp>
      <p:sp>
        <p:nvSpPr>
          <p:cNvPr id="8" name="Tekst: [Argument 1]"/>
          <p:cNvSpPr txBox="1"/>
          <p:nvPr/>
        </p:nvSpPr>
        <p:spPr>
          <a:xfrm>
            <a:off x="1152000" y="3852000"/>
            <a:ext cx="1797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bg1"/>
                </a:solidFill>
                <a:latin typeface="+mn-lt"/>
              </a:rPr>
              <a:t>[Argument 1]</a:t>
            </a:r>
          </a:p>
        </p:txBody>
      </p:sp>
      <p:sp>
        <p:nvSpPr>
          <p:cNvPr id="9" name="Tekst: [Uzasadnienie z liczbą i źródłem]"/>
          <p:cNvSpPr txBox="1"/>
          <p:nvPr/>
        </p:nvSpPr>
        <p:spPr>
          <a:xfrm>
            <a:off x="1152000" y="4536000"/>
            <a:ext cx="1797000" cy="13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3561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Numer slajdu"/>
          <p:cNvSpPr txBox="1"/>
          <p:nvPr/>
        </p:nvSpPr>
        <p:spPr>
          <a:xfrm>
            <a:off x="3849000" y="2196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02</a:t>
            </a:r>
          </a:p>
        </p:txBody>
      </p:sp>
      <p:sp>
        <p:nvSpPr>
          <p:cNvPr id="12" name="Tekst: 00%"/>
          <p:cNvSpPr txBox="1"/>
          <p:nvPr/>
        </p:nvSpPr>
        <p:spPr>
          <a:xfrm>
            <a:off x="3849000" y="2916000"/>
            <a:ext cx="1797000" cy="86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3" name="Tekst: [Argument 2]"/>
          <p:cNvSpPr txBox="1"/>
          <p:nvPr/>
        </p:nvSpPr>
        <p:spPr>
          <a:xfrm>
            <a:off x="3849000" y="3852000"/>
            <a:ext cx="1797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tx1"/>
                </a:solidFill>
                <a:latin typeface="+mn-lt"/>
              </a:rPr>
              <a:t>[Argument 2]</a:t>
            </a:r>
          </a:p>
        </p:txBody>
      </p:sp>
      <p:sp>
        <p:nvSpPr>
          <p:cNvPr id="14" name="Tekst: [Uzasadnienie z liczbą i źródłem]"/>
          <p:cNvSpPr txBox="1"/>
          <p:nvPr/>
        </p:nvSpPr>
        <p:spPr>
          <a:xfrm>
            <a:off x="3849000" y="4536000"/>
            <a:ext cx="1797000" cy="13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6258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Numer slajdu"/>
          <p:cNvSpPr txBox="1"/>
          <p:nvPr/>
        </p:nvSpPr>
        <p:spPr>
          <a:xfrm>
            <a:off x="6546000" y="2196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03</a:t>
            </a:r>
          </a:p>
        </p:txBody>
      </p:sp>
      <p:sp>
        <p:nvSpPr>
          <p:cNvPr id="17" name="Tekst: 00%"/>
          <p:cNvSpPr txBox="1"/>
          <p:nvPr/>
        </p:nvSpPr>
        <p:spPr>
          <a:xfrm>
            <a:off x="6546000" y="2916000"/>
            <a:ext cx="1797000" cy="86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8" name="Tekst: [Argument 3]"/>
          <p:cNvSpPr txBox="1"/>
          <p:nvPr/>
        </p:nvSpPr>
        <p:spPr>
          <a:xfrm>
            <a:off x="6546000" y="3852000"/>
            <a:ext cx="1797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tx1"/>
                </a:solidFill>
                <a:latin typeface="+mn-lt"/>
              </a:rPr>
              <a:t>[Argument 3]</a:t>
            </a:r>
          </a:p>
        </p:txBody>
      </p:sp>
      <p:sp>
        <p:nvSpPr>
          <p:cNvPr id="19" name="Tekst: [Uzasadnienie z liczbą i źródłem]"/>
          <p:cNvSpPr txBox="1"/>
          <p:nvPr/>
        </p:nvSpPr>
        <p:spPr>
          <a:xfrm>
            <a:off x="6546000" y="4536000"/>
            <a:ext cx="1797000" cy="13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8955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umer slajdu"/>
          <p:cNvSpPr txBox="1"/>
          <p:nvPr/>
        </p:nvSpPr>
        <p:spPr>
          <a:xfrm>
            <a:off x="9243000" y="2196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04</a:t>
            </a:r>
          </a:p>
        </p:txBody>
      </p:sp>
      <p:sp>
        <p:nvSpPr>
          <p:cNvPr id="22" name="Tekst: 00%"/>
          <p:cNvSpPr txBox="1"/>
          <p:nvPr/>
        </p:nvSpPr>
        <p:spPr>
          <a:xfrm>
            <a:off x="9243000" y="2916000"/>
            <a:ext cx="1797000" cy="86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23" name="Tekst: [Argument 4]"/>
          <p:cNvSpPr txBox="1"/>
          <p:nvPr/>
        </p:nvSpPr>
        <p:spPr>
          <a:xfrm>
            <a:off x="9243000" y="3852000"/>
            <a:ext cx="1797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tx1"/>
                </a:solidFill>
                <a:latin typeface="+mn-lt"/>
              </a:rPr>
              <a:t>[Argument 4]</a:t>
            </a:r>
          </a:p>
        </p:txBody>
      </p:sp>
      <p:sp>
        <p:nvSpPr>
          <p:cNvPr id="24" name="Tekst: [Uzasadnienie z liczbą i źródłem]"/>
          <p:cNvSpPr txBox="1"/>
          <p:nvPr/>
        </p:nvSpPr>
        <p:spPr>
          <a:xfrm>
            <a:off x="9243000" y="4536000"/>
            <a:ext cx="1797000" cy="13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2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SLAJD 4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44 - do czego służy</a:t>
            </a:r>
          </a:p>
        </p:txBody>
      </p:sp>
      <p:sp>
        <p:nvSpPr>
          <p:cNvPr id="2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kst: Argumenty dla handlu: 3-4 powody, żeby w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Argumenty dla handlu: 3-4 powody, żeby wprowadzić produkt. Pierwsza karta wyróżniona.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Informacje logistyczne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45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GRAMATURA"/>
          <p:cNvSpPr txBox="1"/>
          <p:nvPr/>
        </p:nvSpPr>
        <p:spPr>
          <a:xfrm>
            <a:off x="1188000" y="2196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GRAMATURA</a:t>
            </a:r>
          </a:p>
        </p:txBody>
      </p:sp>
      <p:sp>
        <p:nvSpPr>
          <p:cNvPr id="7" name="Tekst: [wartość]"/>
          <p:cNvSpPr txBox="1"/>
          <p:nvPr/>
        </p:nvSpPr>
        <p:spPr>
          <a:xfrm>
            <a:off x="1188000" y="2520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3561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KARTON"/>
          <p:cNvSpPr txBox="1"/>
          <p:nvPr/>
        </p:nvSpPr>
        <p:spPr>
          <a:xfrm>
            <a:off x="3885000" y="2196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KARTON</a:t>
            </a:r>
          </a:p>
        </p:txBody>
      </p:sp>
      <p:sp>
        <p:nvSpPr>
          <p:cNvPr id="10" name="Tekst: [wartość]"/>
          <p:cNvSpPr txBox="1"/>
          <p:nvPr/>
        </p:nvSpPr>
        <p:spPr>
          <a:xfrm>
            <a:off x="3885000" y="2520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6258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PALETA"/>
          <p:cNvSpPr txBox="1"/>
          <p:nvPr/>
        </p:nvSpPr>
        <p:spPr>
          <a:xfrm>
            <a:off x="6582000" y="2196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PALETA</a:t>
            </a:r>
          </a:p>
        </p:txBody>
      </p:sp>
      <p:sp>
        <p:nvSpPr>
          <p:cNvPr id="13" name="Tekst: [wartość]"/>
          <p:cNvSpPr txBox="1"/>
          <p:nvPr/>
        </p:nvSpPr>
        <p:spPr>
          <a:xfrm>
            <a:off x="6582000" y="2520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14" name="Karta / tło (kolor z motywu)"/>
          <p:cNvSpPr/>
          <p:nvPr/>
        </p:nvSpPr>
        <p:spPr>
          <a:xfrm>
            <a:off x="8955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TERMIN"/>
          <p:cNvSpPr txBox="1"/>
          <p:nvPr/>
        </p:nvSpPr>
        <p:spPr>
          <a:xfrm>
            <a:off x="9279000" y="2196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TERMIN</a:t>
            </a:r>
          </a:p>
        </p:txBody>
      </p:sp>
      <p:sp>
        <p:nvSpPr>
          <p:cNvPr id="16" name="Tekst: [wartość]"/>
          <p:cNvSpPr txBox="1"/>
          <p:nvPr/>
        </p:nvSpPr>
        <p:spPr>
          <a:xfrm>
            <a:off x="9279000" y="2520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64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PRZECHOWYWANIE"/>
          <p:cNvSpPr txBox="1"/>
          <p:nvPr/>
        </p:nvSpPr>
        <p:spPr>
          <a:xfrm>
            <a:off x="1188000" y="4428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PRZECHOWYWANIE</a:t>
            </a:r>
          </a:p>
        </p:txBody>
      </p:sp>
      <p:sp>
        <p:nvSpPr>
          <p:cNvPr id="19" name="Tekst: [wartość]"/>
          <p:cNvSpPr txBox="1"/>
          <p:nvPr/>
        </p:nvSpPr>
        <p:spPr>
          <a:xfrm>
            <a:off x="1188000" y="4752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3561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INDEKS"/>
          <p:cNvSpPr txBox="1"/>
          <p:nvPr/>
        </p:nvSpPr>
        <p:spPr>
          <a:xfrm>
            <a:off x="3885000" y="4428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INDEKS</a:t>
            </a:r>
          </a:p>
        </p:txBody>
      </p:sp>
      <p:sp>
        <p:nvSpPr>
          <p:cNvPr id="22" name="Tekst: [wartość]"/>
          <p:cNvSpPr txBox="1"/>
          <p:nvPr/>
        </p:nvSpPr>
        <p:spPr>
          <a:xfrm>
            <a:off x="3885000" y="4752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3" name="Karta / tło (kolor z motywu)"/>
          <p:cNvSpPr/>
          <p:nvPr/>
        </p:nvSpPr>
        <p:spPr>
          <a:xfrm>
            <a:off x="6258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EAN"/>
          <p:cNvSpPr txBox="1"/>
          <p:nvPr/>
        </p:nvSpPr>
        <p:spPr>
          <a:xfrm>
            <a:off x="6582000" y="4428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EAN</a:t>
            </a:r>
          </a:p>
        </p:txBody>
      </p:sp>
      <p:sp>
        <p:nvSpPr>
          <p:cNvPr id="25" name="Tekst: [wartość]"/>
          <p:cNvSpPr txBox="1"/>
          <p:nvPr/>
        </p:nvSpPr>
        <p:spPr>
          <a:xfrm>
            <a:off x="6582000" y="4752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6" name="Karta / tło (kolor z motywu)"/>
          <p:cNvSpPr/>
          <p:nvPr/>
        </p:nvSpPr>
        <p:spPr>
          <a:xfrm>
            <a:off x="8955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DOSTĘPNOŚĆ"/>
          <p:cNvSpPr txBox="1"/>
          <p:nvPr/>
        </p:nvSpPr>
        <p:spPr>
          <a:xfrm>
            <a:off x="9279000" y="4428000"/>
            <a:ext cx="1725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DOSTĘPNOŚĆ</a:t>
            </a:r>
          </a:p>
        </p:txBody>
      </p:sp>
      <p:sp>
        <p:nvSpPr>
          <p:cNvPr id="28" name="Tekst: [wartość]"/>
          <p:cNvSpPr txBox="1"/>
          <p:nvPr/>
        </p:nvSpPr>
        <p:spPr>
          <a:xfrm>
            <a:off x="9279000" y="4752000"/>
            <a:ext cx="1725000" cy="104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kst: SLAJD 4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45 -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kst: Logistyka / fakty: siatka 4-8 kart warto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Logistyka / fakty: siatka 4-8 kart wartość + etykieta (karton, paleta, termin, przechowywanie).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tlo-zdjecie" descr="ph_1623_ZDJCIE.png"/>
          <p:cNvPicPr>
            <a:picLocks noChangeAspect="1"/>
          </p:cNvPicPr>
          <p:nvPr/>
        </p:nvPicPr>
        <p:blipFill>
          <a:blip r:embed="rId3"/>
          <a:srcRect l="25" r="25"/>
          <a:stretch>
            <a:fillRect/>
          </a:stretch>
        </p:blipFill>
        <p:spPr>
          <a:xfrm>
            <a:off x="864000" y="1908000"/>
            <a:ext cx="3272000" cy="2016000"/>
          </a:xfrm>
          <a:prstGeom prst="rect">
            <a:avLst/>
          </a:prstGeom>
        </p:spPr>
      </p:pic>
      <p:sp>
        <p:nvSpPr>
          <p:cNvPr id="7" name="Karta / tło (kolor z motywu)"/>
          <p:cNvSpPr/>
          <p:nvPr/>
        </p:nvSpPr>
        <p:spPr>
          <a:xfrm>
            <a:off x="1044000" y="2088000"/>
            <a:ext cx="1245680" cy="306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KANAŁ 1]"/>
          <p:cNvSpPr txBox="1"/>
          <p:nvPr/>
        </p:nvSpPr>
        <p:spPr>
          <a:xfrm>
            <a:off x="1044000" y="2088000"/>
            <a:ext cx="1245680" cy="30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bg1"/>
                </a:solidFill>
                <a:latin typeface="+mn-lt"/>
              </a:rPr>
              <a:t>[KANAŁ 1]</a:t>
            </a:r>
          </a:p>
        </p:txBody>
      </p:sp>
      <p:sp>
        <p:nvSpPr>
          <p:cNvPr id="9" name="Tekst: [Działanie 1]"/>
          <p:cNvSpPr txBox="1"/>
          <p:nvPr/>
        </p:nvSpPr>
        <p:spPr>
          <a:xfrm>
            <a:off x="1260000" y="4140000"/>
            <a:ext cx="2480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[Działanie 1]</a:t>
            </a:r>
          </a:p>
        </p:txBody>
      </p:sp>
      <p:sp>
        <p:nvSpPr>
          <p:cNvPr id="10" name="Tekst: [Krótki opis działania]"/>
          <p:cNvSpPr txBox="1"/>
          <p:nvPr/>
        </p:nvSpPr>
        <p:spPr>
          <a:xfrm>
            <a:off x="1260000" y="4572000"/>
            <a:ext cx="2480000" cy="11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działania]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4460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tlo-zdjecie" descr="ph_1623_ZDJCIE.png"/>
          <p:cNvPicPr>
            <a:picLocks noChangeAspect="1"/>
          </p:cNvPicPr>
          <p:nvPr/>
        </p:nvPicPr>
        <p:blipFill>
          <a:blip r:embed="rId3"/>
          <a:srcRect l="25" r="25"/>
          <a:stretch>
            <a:fillRect/>
          </a:stretch>
        </p:blipFill>
        <p:spPr>
          <a:xfrm>
            <a:off x="4460000" y="1908000"/>
            <a:ext cx="3272000" cy="2016000"/>
          </a:xfrm>
          <a:prstGeom prst="rect">
            <a:avLst/>
          </a:prstGeom>
        </p:spPr>
      </p:pic>
      <p:sp>
        <p:nvSpPr>
          <p:cNvPr id="13" name="Karta / tło (kolor z motywu)"/>
          <p:cNvSpPr/>
          <p:nvPr/>
        </p:nvSpPr>
        <p:spPr>
          <a:xfrm>
            <a:off x="4640000" y="2088000"/>
            <a:ext cx="1245680" cy="306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[KANAŁ 2]"/>
          <p:cNvSpPr txBox="1"/>
          <p:nvPr/>
        </p:nvSpPr>
        <p:spPr>
          <a:xfrm>
            <a:off x="4640000" y="2088000"/>
            <a:ext cx="1245680" cy="30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bg1"/>
                </a:solidFill>
                <a:latin typeface="+mn-lt"/>
              </a:rPr>
              <a:t>[KANAŁ 2]</a:t>
            </a:r>
          </a:p>
        </p:txBody>
      </p:sp>
      <p:sp>
        <p:nvSpPr>
          <p:cNvPr id="15" name="Tekst: [Działanie 2]"/>
          <p:cNvSpPr txBox="1"/>
          <p:nvPr/>
        </p:nvSpPr>
        <p:spPr>
          <a:xfrm>
            <a:off x="4856000" y="4140000"/>
            <a:ext cx="2480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[Działanie 2]</a:t>
            </a:r>
          </a:p>
        </p:txBody>
      </p:sp>
      <p:sp>
        <p:nvSpPr>
          <p:cNvPr id="16" name="Tekst: [Krótki opis działania]"/>
          <p:cNvSpPr txBox="1"/>
          <p:nvPr/>
        </p:nvSpPr>
        <p:spPr>
          <a:xfrm>
            <a:off x="4856000" y="4572000"/>
            <a:ext cx="2480000" cy="11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działania]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056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tlo-zdjecie" descr="ph_1623_ZDJCIE.png"/>
          <p:cNvPicPr>
            <a:picLocks noChangeAspect="1"/>
          </p:cNvPicPr>
          <p:nvPr/>
        </p:nvPicPr>
        <p:blipFill>
          <a:blip r:embed="rId3"/>
          <a:srcRect l="25" r="25"/>
          <a:stretch>
            <a:fillRect/>
          </a:stretch>
        </p:blipFill>
        <p:spPr>
          <a:xfrm>
            <a:off x="8056000" y="1908000"/>
            <a:ext cx="3272000" cy="2016000"/>
          </a:xfrm>
          <a:prstGeom prst="rect">
            <a:avLst/>
          </a:prstGeom>
        </p:spPr>
      </p:pic>
      <p:sp>
        <p:nvSpPr>
          <p:cNvPr id="19" name="Karta / tło (kolor z motywu)"/>
          <p:cNvSpPr/>
          <p:nvPr/>
        </p:nvSpPr>
        <p:spPr>
          <a:xfrm>
            <a:off x="8236000" y="2088000"/>
            <a:ext cx="1245680" cy="306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[KANAŁ 3]"/>
          <p:cNvSpPr txBox="1"/>
          <p:nvPr/>
        </p:nvSpPr>
        <p:spPr>
          <a:xfrm>
            <a:off x="8236000" y="2088000"/>
            <a:ext cx="1245680" cy="30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bg1"/>
                </a:solidFill>
                <a:latin typeface="+mn-lt"/>
              </a:rPr>
              <a:t>[KANAŁ 3]</a:t>
            </a:r>
          </a:p>
        </p:txBody>
      </p:sp>
      <p:sp>
        <p:nvSpPr>
          <p:cNvPr id="21" name="Tekst: [Działanie 3]"/>
          <p:cNvSpPr txBox="1"/>
          <p:nvPr/>
        </p:nvSpPr>
        <p:spPr>
          <a:xfrm>
            <a:off x="8452000" y="4140000"/>
            <a:ext cx="2480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[Działanie 3]</a:t>
            </a:r>
          </a:p>
        </p:txBody>
      </p:sp>
      <p:sp>
        <p:nvSpPr>
          <p:cNvPr id="22" name="Tekst: [Krótki opis działania]"/>
          <p:cNvSpPr txBox="1"/>
          <p:nvPr/>
        </p:nvSpPr>
        <p:spPr>
          <a:xfrm>
            <a:off x="8452000" y="4572000"/>
            <a:ext cx="2480000" cy="11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działania]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kst: SLAJD 4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46 -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Karty ze zdjęciem: wsparcie marketingow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Karty ze zdjęciem: wsparcie marketingowe, materiały POS, kanały komunikacji.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Porozmawiajmy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47</a:t>
            </a:r>
          </a:p>
        </p:txBody>
      </p:sp>
      <p:pic>
        <p:nvPicPr>
          <p:cNvPr id="5" name="Zdjęcie - prawy klik: Zmień obraz (rogi i rozmiar zostają)" descr="ph_1000_ZDJC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000" y="1872000"/>
            <a:ext cx="3060000" cy="3060000"/>
          </a:xfrm>
          <a:prstGeom prst="ellipse">
            <a:avLst/>
          </a:prstGeom>
        </p:spPr>
      </p:pic>
      <p:sp>
        <p:nvSpPr>
          <p:cNvPr id="6" name="Tekst: [Imię Nazwisko]"/>
          <p:cNvSpPr txBox="1"/>
          <p:nvPr/>
        </p:nvSpPr>
        <p:spPr>
          <a:xfrm>
            <a:off x="4860000" y="2160000"/>
            <a:ext cx="6480000" cy="64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4400" b="0" i="0">
                <a:solidFill>
                  <a:schemeClr val="tx1"/>
                </a:solidFill>
                <a:latin typeface="+mj-lt"/>
              </a:rPr>
              <a:t>[Imię Nazwisko]</a:t>
            </a:r>
          </a:p>
        </p:txBody>
      </p:sp>
      <p:sp>
        <p:nvSpPr>
          <p:cNvPr id="7" name="Tekst: [Stanowisko]"/>
          <p:cNvSpPr txBox="1"/>
          <p:nvPr/>
        </p:nvSpPr>
        <p:spPr>
          <a:xfrm>
            <a:off x="4860000" y="2880000"/>
            <a:ext cx="648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[Stanowisko]</a:t>
            </a:r>
          </a:p>
        </p:txBody>
      </p:sp>
      <p:sp>
        <p:nvSpPr>
          <p:cNvPr id="8" name="Tekst: TELEFON"/>
          <p:cNvSpPr txBox="1"/>
          <p:nvPr/>
        </p:nvSpPr>
        <p:spPr>
          <a:xfrm>
            <a:off x="4860000" y="3528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TELEFON</a:t>
            </a:r>
          </a:p>
        </p:txBody>
      </p:sp>
      <p:sp>
        <p:nvSpPr>
          <p:cNvPr id="9" name="Tekst: [+48 000 000 000]"/>
          <p:cNvSpPr txBox="1"/>
          <p:nvPr/>
        </p:nvSpPr>
        <p:spPr>
          <a:xfrm>
            <a:off x="6156000" y="34920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n-lt"/>
              </a:rPr>
              <a:t>[+48 000 000 000]</a:t>
            </a:r>
          </a:p>
        </p:txBody>
      </p:sp>
      <p:sp>
        <p:nvSpPr>
          <p:cNvPr id="10" name="Tekst: E-MAIL"/>
          <p:cNvSpPr txBox="1"/>
          <p:nvPr/>
        </p:nvSpPr>
        <p:spPr>
          <a:xfrm>
            <a:off x="4860000" y="3924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E-MAIL</a:t>
            </a:r>
          </a:p>
        </p:txBody>
      </p:sp>
      <p:sp>
        <p:nvSpPr>
          <p:cNvPr id="11" name="Tekst: [imie.nazwisko@dobrakaloria.pl]"/>
          <p:cNvSpPr txBox="1"/>
          <p:nvPr/>
        </p:nvSpPr>
        <p:spPr>
          <a:xfrm>
            <a:off x="6156000" y="38880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n-lt"/>
              </a:rPr>
              <a:t>[imie.nazwisko@dobrakaloria.pl]</a:t>
            </a:r>
          </a:p>
        </p:txBody>
      </p:sp>
      <p:sp>
        <p:nvSpPr>
          <p:cNvPr id="12" name="Tekst: WWW"/>
          <p:cNvSpPr txBox="1"/>
          <p:nvPr/>
        </p:nvSpPr>
        <p:spPr>
          <a:xfrm>
            <a:off x="4860000" y="4320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WWW</a:t>
            </a:r>
          </a:p>
        </p:txBody>
      </p:sp>
      <p:sp>
        <p:nvSpPr>
          <p:cNvPr id="13" name="Tekst: dobrakaloria.pl"/>
          <p:cNvSpPr txBox="1"/>
          <p:nvPr/>
        </p:nvSpPr>
        <p:spPr>
          <a:xfrm>
            <a:off x="6156000" y="4284000"/>
            <a:ext cx="5040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n-lt"/>
              </a:rPr>
              <a:t>dobrakaloria.pl</a:t>
            </a:r>
          </a:p>
        </p:txBody>
      </p:sp>
      <p:sp>
        <p:nvSpPr>
          <p:cNvPr id="14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SLAJD 4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47 - do czego służy</a:t>
            </a:r>
          </a:p>
        </p:txBody>
      </p:sp>
      <p:sp>
        <p:nvSpPr>
          <p:cNvPr id="16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Osoba kontaktowa: zdjęcie, imię, rola, t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Osoba kontaktowa: zdjęcie, imię, rola, telefon, e-mail. Na koniec spotkania handlowego.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ilm YouTube (link) - prawy klik: Edytuj link / Zmień obraz" descr="yt_Jk7RAkFN4vk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ilm - przycisk play (link)">
            <a:hlinkClick r:id="rId3"/>
          </p:cNvPr>
          <p:cNvSpPr/>
          <p:nvPr/>
        </p:nvSpPr>
        <p:spPr>
          <a:xfrm>
            <a:off x="5273040" y="26060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ilm - trojkat play (link)">
            <a:hlinkClick r:id="rId3"/>
          </p:cNvPr>
          <p:cNvSpPr/>
          <p:nvPr/>
        </p:nvSpPr>
        <p:spPr>
          <a:xfrm rot="5400000">
            <a:off x="5882030" y="3083356"/>
            <a:ext cx="592531" cy="691286"/>
          </a:xfrm>
          <a:prstGeom prst="triangle">
            <a:avLst/>
          </a:prstGeom>
          <a:solidFill>
            <a:srgbClr val="0F7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lm - podpis (link)">
            <a:hlinkClick r:id="rId3"/>
          </p:cNvPr>
          <p:cNvSpPr/>
          <p:nvPr/>
        </p:nvSpPr>
        <p:spPr>
          <a:xfrm>
            <a:off x="4511990" y="6354000"/>
            <a:ext cx="316802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+mn-lt"/>
              </a:rPr>
              <a:t>Kliknij - film otworzy się na YouTube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5058000"/>
            <a:ext cx="4320000" cy="936000"/>
          </a:xfrm>
          <a:prstGeom prst="roundRect">
            <a:avLst>
              <a:gd name="adj" fmla="val 1730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Tytuł filmu]"/>
          <p:cNvSpPr txBox="1"/>
          <p:nvPr/>
        </p:nvSpPr>
        <p:spPr>
          <a:xfrm>
            <a:off x="1152000" y="5238000"/>
            <a:ext cx="3744000" cy="43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[Tytuł filmu]</a:t>
            </a:r>
          </a:p>
        </p:txBody>
      </p:sp>
      <p:sp>
        <p:nvSpPr>
          <p:cNvPr id="8" name="Tekst: [Jedno zdanie: co pokazuje film]"/>
          <p:cNvSpPr txBox="1"/>
          <p:nvPr/>
        </p:nvSpPr>
        <p:spPr>
          <a:xfrm>
            <a:off x="1152000" y="5634000"/>
            <a:ext cx="374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co pokazuje film]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SLAJD 4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48 -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9771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FILM na cały slajd: spot, film produktow"/>
          <p:cNvSpPr txBox="1"/>
          <p:nvPr/>
        </p:nvSpPr>
        <p:spPr>
          <a:xfrm>
            <a:off x="12552000" y="666000"/>
            <a:ext cx="2772000" cy="19771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FILM na cały slajd: spot, film produktowy, relacja z eventu.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 pokazie film odtworzy się po kliknięciu. Wstaw: Wstawianie &gt; Wideo &gt; To urządzenie, rozciągnij na cały slajd, usuń przykładową miniaturę. Film z YouTube: prawy klik &gt; Edytuj link.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co dobrego w składniku]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49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656000"/>
            <a:ext cx="4157399" cy="4572000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Karta / tło (kolor z motywu)"/>
          <p:cNvSpPr/>
          <p:nvPr/>
        </p:nvSpPr>
        <p:spPr>
          <a:xfrm>
            <a:off x="5345400" y="1656000"/>
            <a:ext cx="5982600" cy="4572000"/>
          </a:xfrm>
          <a:prstGeom prst="roundRect">
            <a:avLst>
              <a:gd name="adj" fmla="val 3543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Ikona / grafika - prawy klik: Zmień obraz" descr="p_kulka_ugry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694" y="2394300"/>
            <a:ext cx="1352011" cy="1296000"/>
          </a:xfrm>
          <a:prstGeom prst="rect">
            <a:avLst/>
          </a:prstGeom>
        </p:spPr>
      </p:pic>
      <p:sp>
        <p:nvSpPr>
          <p:cNvPr id="8" name="Tekst: [Claim: np. 1 g składnika w porcji]"/>
          <p:cNvSpPr txBox="1"/>
          <p:nvPr/>
        </p:nvSpPr>
        <p:spPr>
          <a:xfrm>
            <a:off x="1224000" y="3978300"/>
            <a:ext cx="3437399" cy="76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3000"/>
              </a:lnSpc>
            </a:pPr>
            <a:r>
              <a:rPr sz="3000" b="0" i="0">
                <a:solidFill>
                  <a:schemeClr val="accent1"/>
                </a:solidFill>
                <a:latin typeface="+mj-lt"/>
              </a:rPr>
              <a:t>[Claim: np. 1 g</a:t>
            </a:r>
          </a:p>
          <a:p>
            <a:pPr algn="ctr">
              <a:lnSpc>
                <a:spcPts val="3000"/>
              </a:lnSpc>
            </a:pPr>
            <a:r>
              <a:rPr sz="3000" b="0" i="0">
                <a:solidFill>
                  <a:schemeClr val="accent1"/>
                </a:solidFill>
                <a:latin typeface="+mj-lt"/>
              </a:rPr>
              <a:t>składnika w porcji]</a:t>
            </a:r>
          </a:p>
        </p:txBody>
      </p:sp>
      <p:sp>
        <p:nvSpPr>
          <p:cNvPr id="9" name="Tekst: [1-2 zdania: dlaczego ten składnik jest "/>
          <p:cNvSpPr txBox="1"/>
          <p:nvPr/>
        </p:nvSpPr>
        <p:spPr>
          <a:xfrm>
            <a:off x="1224000" y="4956300"/>
            <a:ext cx="3437399" cy="533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zdania: dlaczego ten składnik jest ważny dla odbiorcy.]</a:t>
            </a:r>
          </a:p>
        </p:txBody>
      </p:sp>
      <p:sp>
        <p:nvSpPr>
          <p:cNvPr id="10" name="Tekst: [Zaproszenie do filmu / podcastu: tytuł "/>
          <p:cNvSpPr txBox="1"/>
          <p:nvPr/>
        </p:nvSpPr>
        <p:spPr>
          <a:xfrm>
            <a:off x="5705400" y="2016000"/>
            <a:ext cx="5262600" cy="533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2000" b="0" i="0">
                <a:solidFill>
                  <a:schemeClr val="accent5"/>
                </a:solidFill>
                <a:latin typeface="+mj-lt"/>
              </a:rPr>
              <a:t>[Zaproszenie do filmu /</a:t>
            </a:r>
          </a:p>
          <a:p>
            <a:pPr algn="l">
              <a:lnSpc>
                <a:spcPts val="2100"/>
              </a:lnSpc>
            </a:pPr>
            <a:r>
              <a:rPr sz="2000" b="0" i="0">
                <a:solidFill>
                  <a:schemeClr val="accent5"/>
                </a:solidFill>
                <a:latin typeface="+mj-lt"/>
              </a:rPr>
              <a:t>podcastu: tytuł i o czym jest]</a:t>
            </a:r>
          </a:p>
        </p:txBody>
      </p:sp>
      <p:pic>
        <p:nvPicPr>
          <p:cNvPr id="11" name="Film YouTube (link) - prawy klik: Edytuj link / Zmień obraz" descr="yt_Jk7RAkFN4vk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5400" y="2765400"/>
            <a:ext cx="5262600" cy="2960212"/>
          </a:xfrm>
          <a:prstGeom prst="roundRect">
            <a:avLst>
              <a:gd name="adj" fmla="val 5472"/>
            </a:avLst>
          </a:prstGeom>
        </p:spPr>
      </p:pic>
      <p:sp>
        <p:nvSpPr>
          <p:cNvPr id="12" name="Film - przycisk play (link)">
            <a:hlinkClick r:id="rId5"/>
          </p:cNvPr>
          <p:cNvSpPr/>
          <p:nvPr/>
        </p:nvSpPr>
        <p:spPr>
          <a:xfrm>
            <a:off x="7981474" y="3890280"/>
            <a:ext cx="710451" cy="71045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ilm - trojkat play (link)">
            <a:hlinkClick r:id="rId5"/>
          </p:cNvPr>
          <p:cNvSpPr/>
          <p:nvPr/>
        </p:nvSpPr>
        <p:spPr>
          <a:xfrm rot="5400000">
            <a:off x="8244341" y="4096311"/>
            <a:ext cx="255762" cy="298389"/>
          </a:xfrm>
          <a:prstGeom prst="triangle">
            <a:avLst/>
          </a:prstGeom>
          <a:solidFill>
            <a:srgbClr val="0F7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ilm - podpis (link)">
            <a:hlinkClick r:id="rId5"/>
          </p:cNvPr>
          <p:cNvSpPr/>
          <p:nvPr/>
        </p:nvSpPr>
        <p:spPr>
          <a:xfrm>
            <a:off x="6752690" y="5221612"/>
            <a:ext cx="316802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+mn-lt"/>
              </a:rPr>
              <a:t>Kliknij - film otworzy się na YouTube</a:t>
            </a:r>
          </a:p>
        </p:txBody>
      </p:sp>
      <p:sp>
        <p:nvSpPr>
          <p:cNvPr id="1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SLAJD 4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49 - do czego służy</a:t>
            </a:r>
          </a:p>
        </p:txBody>
      </p:sp>
      <p:sp>
        <p:nvSpPr>
          <p:cNvPr id="17" name="OPIS - tresc"/>
          <p:cNvSpPr/>
          <p:nvPr/>
        </p:nvSpPr>
        <p:spPr>
          <a:xfrm>
            <a:off x="12408000" y="522000"/>
            <a:ext cx="3060000" cy="22184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CLAIM + FILM (wzór z 29.09, 'Co dobrego "/>
          <p:cNvSpPr txBox="1"/>
          <p:nvPr/>
        </p:nvSpPr>
        <p:spPr>
          <a:xfrm>
            <a:off x="12552000" y="666000"/>
            <a:ext cx="2772000" cy="2218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CLAIM + FILM (wzór z 29.09, 'Co dobrego w kreatynie'): po lewej element produktu, zielony claim i opis; po prawej tytuł i film YouTube (zaokrąglona miniatura, play, podpis) - w pokazie klik otwiera film. Swój film: prawy klik &gt; Edytuj link na miniaturze, przycisku i podpisie; miniatura: Zmień obraz.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3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50</a:t>
            </a:r>
          </a:p>
        </p:txBody>
      </p:sp>
      <p:pic>
        <p:nvPicPr>
          <p:cNvPr id="4" name="Film YouTube (link) - prawy klik: Edytuj link / Zmień obraz" descr="yt_Jk7RAkFN4vk.jp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320" y="1721340"/>
            <a:ext cx="6583680" cy="3703320"/>
          </a:xfrm>
          <a:prstGeom prst="roundRect">
            <a:avLst>
              <a:gd name="adj" fmla="val 4374"/>
            </a:avLst>
          </a:prstGeom>
        </p:spPr>
      </p:pic>
      <p:sp>
        <p:nvSpPr>
          <p:cNvPr id="5" name="Film - przycisk play (link)">
            <a:hlinkClick r:id="rId4"/>
          </p:cNvPr>
          <p:cNvSpPr/>
          <p:nvPr/>
        </p:nvSpPr>
        <p:spPr>
          <a:xfrm>
            <a:off x="7591761" y="3128601"/>
            <a:ext cx="888796" cy="8887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lm - trojkat play (link)">
            <a:hlinkClick r:id="rId4"/>
          </p:cNvPr>
          <p:cNvSpPr/>
          <p:nvPr/>
        </p:nvSpPr>
        <p:spPr>
          <a:xfrm rot="5400000">
            <a:off x="7920616" y="3386352"/>
            <a:ext cx="319966" cy="373294"/>
          </a:xfrm>
          <a:prstGeom prst="triangle">
            <a:avLst/>
          </a:prstGeom>
          <a:solidFill>
            <a:srgbClr val="0F7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lm - podpis (link)">
            <a:hlinkClick r:id="rId4"/>
          </p:cNvPr>
          <p:cNvSpPr/>
          <p:nvPr/>
        </p:nvSpPr>
        <p:spPr>
          <a:xfrm>
            <a:off x="6452150" y="4920660"/>
            <a:ext cx="316802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+mn-lt"/>
              </a:rPr>
              <a:t>Kliknij - film otworzy się na YouTube</a:t>
            </a:r>
          </a:p>
        </p:txBody>
      </p:sp>
      <p:sp>
        <p:nvSpPr>
          <p:cNvPr id="8" name="Tytuł slajdu"/>
          <p:cNvSpPr txBox="1"/>
          <p:nvPr/>
        </p:nvSpPr>
        <p:spPr>
          <a:xfrm>
            <a:off x="864000" y="1721340"/>
            <a:ext cx="330432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92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sp>
        <p:nvSpPr>
          <p:cNvPr id="9" name="Tekst: [2-3 zdania: co widać w filmie i po co g"/>
          <p:cNvSpPr txBox="1"/>
          <p:nvPr/>
        </p:nvSpPr>
        <p:spPr>
          <a:xfrm>
            <a:off x="864000" y="2381180"/>
            <a:ext cx="3304320" cy="584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[2-3 zdania: co widać w filmie i po co go pokazujemy]</a:t>
            </a:r>
          </a:p>
        </p:txBody>
      </p:sp>
      <p:sp>
        <p:nvSpPr>
          <p:cNvPr id="10" name="Punktor"/>
          <p:cNvSpPr/>
          <p:nvPr/>
        </p:nvSpPr>
        <p:spPr>
          <a:xfrm>
            <a:off x="871200" y="325338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Punkt 1]"/>
          <p:cNvSpPr txBox="1"/>
          <p:nvPr/>
        </p:nvSpPr>
        <p:spPr>
          <a:xfrm>
            <a:off x="1080000" y="3181380"/>
            <a:ext cx="308832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12" name="Punktor"/>
          <p:cNvSpPr/>
          <p:nvPr/>
        </p:nvSpPr>
        <p:spPr>
          <a:xfrm>
            <a:off x="871200" y="359538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[Punkt 2]"/>
          <p:cNvSpPr txBox="1"/>
          <p:nvPr/>
        </p:nvSpPr>
        <p:spPr>
          <a:xfrm>
            <a:off x="1080000" y="3523380"/>
            <a:ext cx="308832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4" name="Punktor"/>
          <p:cNvSpPr/>
          <p:nvPr/>
        </p:nvSpPr>
        <p:spPr>
          <a:xfrm>
            <a:off x="871200" y="393738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[Punkt 3]"/>
          <p:cNvSpPr txBox="1"/>
          <p:nvPr/>
        </p:nvSpPr>
        <p:spPr>
          <a:xfrm>
            <a:off x="1080000" y="3865380"/>
            <a:ext cx="308832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SLAJD 5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50 -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9771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kst: FILM + TEKST: film 16:9 w zaokrąglonej r"/>
          <p:cNvSpPr txBox="1"/>
          <p:nvPr/>
        </p:nvSpPr>
        <p:spPr>
          <a:xfrm>
            <a:off x="12552000" y="666000"/>
            <a:ext cx="2772000" cy="19771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FILM + TEKST: film 16:9 w zaokrąglonej ramce po prawej, opis i punkty po lewej.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Gdy film trzeba skomentować (kampania, proces produkcji, reklama).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Swój film: Edytuj link (YouTube) albo wstaw mp4 i Malarz formatów z miniatury na film - rogi się przeniosą.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co się zmieniło]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51</a:t>
            </a:r>
          </a:p>
        </p:txBody>
      </p:sp>
      <p:pic>
        <p:nvPicPr>
          <p:cNvPr id="5" name="tlo-zdjecie" descr="ph_1354_ZDJCIE.png"/>
          <p:cNvPicPr>
            <a:picLocks noChangeAspect="1"/>
          </p:cNvPicPr>
          <p:nvPr/>
        </p:nvPicPr>
        <p:blipFill>
          <a:blip r:embed="rId3"/>
          <a:srcRect l="9" r="9"/>
          <a:stretch>
            <a:fillRect/>
          </a:stretch>
        </p:blipFill>
        <p:spPr>
          <a:xfrm>
            <a:off x="864000" y="1908000"/>
            <a:ext cx="5070000" cy="3744000"/>
          </a:xfrm>
          <a:prstGeom prst="roundRect">
            <a:avLst>
              <a:gd name="adj" fmla="val 4326"/>
            </a:avLst>
          </a:prstGeom>
        </p:spPr>
      </p:pic>
      <p:sp>
        <p:nvSpPr>
          <p:cNvPr id="6" name="Karta / tło (kolor z motywu)"/>
          <p:cNvSpPr/>
          <p:nvPr/>
        </p:nvSpPr>
        <p:spPr>
          <a:xfrm>
            <a:off x="1080000" y="2124000"/>
            <a:ext cx="1029780" cy="342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PRZED"/>
          <p:cNvSpPr txBox="1"/>
          <p:nvPr/>
        </p:nvSpPr>
        <p:spPr>
          <a:xfrm>
            <a:off x="1080000" y="2124000"/>
            <a:ext cx="1029780" cy="34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200" b="1" i="0" spc="60">
                <a:solidFill>
                  <a:schemeClr val="bg1"/>
                </a:solidFill>
                <a:latin typeface="+mn-lt"/>
              </a:rPr>
              <a:t>PRZED</a:t>
            </a:r>
          </a:p>
        </p:txBody>
      </p:sp>
      <p:sp>
        <p:nvSpPr>
          <p:cNvPr id="8" name="Tekst: [Opis stanu przed]"/>
          <p:cNvSpPr txBox="1"/>
          <p:nvPr/>
        </p:nvSpPr>
        <p:spPr>
          <a:xfrm>
            <a:off x="864000" y="5778000"/>
            <a:ext cx="5070000" cy="39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 stanu przed]</a:t>
            </a:r>
          </a:p>
        </p:txBody>
      </p:sp>
      <p:pic>
        <p:nvPicPr>
          <p:cNvPr id="9" name="tlo-zdjecie" descr="ph_1354_ZDJCIE.png"/>
          <p:cNvPicPr>
            <a:picLocks noChangeAspect="1"/>
          </p:cNvPicPr>
          <p:nvPr/>
        </p:nvPicPr>
        <p:blipFill>
          <a:blip r:embed="rId3"/>
          <a:srcRect l="9" r="9"/>
          <a:stretch>
            <a:fillRect/>
          </a:stretch>
        </p:blipFill>
        <p:spPr>
          <a:xfrm>
            <a:off x="6258000" y="1908000"/>
            <a:ext cx="5070000" cy="3744000"/>
          </a:xfrm>
          <a:prstGeom prst="roundRect">
            <a:avLst>
              <a:gd name="adj" fmla="val 4326"/>
            </a:avLst>
          </a:prstGeom>
        </p:spPr>
      </p:pic>
      <p:sp>
        <p:nvSpPr>
          <p:cNvPr id="10" name="Karta / tło (kolor z motywu)"/>
          <p:cNvSpPr/>
          <p:nvPr/>
        </p:nvSpPr>
        <p:spPr>
          <a:xfrm>
            <a:off x="6474000" y="2124000"/>
            <a:ext cx="736410" cy="342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PO"/>
          <p:cNvSpPr txBox="1"/>
          <p:nvPr/>
        </p:nvSpPr>
        <p:spPr>
          <a:xfrm>
            <a:off x="6474000" y="2124000"/>
            <a:ext cx="736410" cy="34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200" b="1" i="0" spc="60">
                <a:solidFill>
                  <a:schemeClr val="bg1"/>
                </a:solidFill>
                <a:latin typeface="+mn-lt"/>
              </a:rPr>
              <a:t>PO</a:t>
            </a:r>
          </a:p>
        </p:txBody>
      </p:sp>
      <p:sp>
        <p:nvSpPr>
          <p:cNvPr id="12" name="Tekst: [Opis stanu po]"/>
          <p:cNvSpPr txBox="1"/>
          <p:nvPr/>
        </p:nvSpPr>
        <p:spPr>
          <a:xfrm>
            <a:off x="6258000" y="5778000"/>
            <a:ext cx="5070000" cy="39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 stanu po]</a:t>
            </a:r>
          </a:p>
        </p:txBody>
      </p:sp>
      <p:sp>
        <p:nvSpPr>
          <p:cNvPr id="1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SLAJD 5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51 - do czego służy</a:t>
            </a:r>
          </a:p>
        </p:txBody>
      </p:sp>
      <p:sp>
        <p:nvSpPr>
          <p:cNvPr id="15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PRZED / PO: dwa zdjęcia obok siebie (pół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PRZED / PO: dwa zdjęcia obok siebie (półka przed i po wprowadzeniu, stare i nowe opakowanie, ekspozycja).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Znaczki 'Przed' / 'Po' możesz przepisać.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[UDZIAŁ]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52</a:t>
            </a:r>
          </a:p>
        </p:txBody>
      </p:sp>
      <p:graphicFrame>
        <p:nvGraphicFramePr>
          <p:cNvPr id="7" name="tlo-wykres"/>
          <p:cNvGraphicFramePr>
            <a:graphicFrameLocks noGrp="1"/>
          </p:cNvGraphicFramePr>
          <p:nvPr/>
        </p:nvGraphicFramePr>
        <p:xfrm>
          <a:off x="864000" y="1908000"/>
          <a:ext cx="432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kst: 00%"/>
          <p:cNvSpPr txBox="1"/>
          <p:nvPr/>
        </p:nvSpPr>
        <p:spPr>
          <a:xfrm>
            <a:off x="864000" y="3492000"/>
            <a:ext cx="4320000" cy="86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9" name="Tekst: [czego dotyczy]"/>
          <p:cNvSpPr txBox="1"/>
          <p:nvPr/>
        </p:nvSpPr>
        <p:spPr>
          <a:xfrm>
            <a:off x="864000" y="4356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[czego dotyczy]</a:t>
            </a:r>
          </a:p>
        </p:txBody>
      </p:sp>
      <p:sp>
        <p:nvSpPr>
          <p:cNvPr id="10" name="Punktor"/>
          <p:cNvSpPr/>
          <p:nvPr/>
        </p:nvSpPr>
        <p:spPr>
          <a:xfrm>
            <a:off x="5904000" y="2736000"/>
            <a:ext cx="216000" cy="216000"/>
          </a:xfrm>
          <a:prstGeom prst="roundRect">
            <a:avLst>
              <a:gd name="adj" fmla="val 3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00% · [Kategoria 1]"/>
          <p:cNvSpPr txBox="1"/>
          <p:nvPr/>
        </p:nvSpPr>
        <p:spPr>
          <a:xfrm>
            <a:off x="6264000" y="2664000"/>
            <a:ext cx="5064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00% · [Kategoria 1]</a:t>
            </a:r>
          </a:p>
        </p:txBody>
      </p:sp>
      <p:sp>
        <p:nvSpPr>
          <p:cNvPr id="12" name="Tekst: [krótki opis]"/>
          <p:cNvSpPr txBox="1"/>
          <p:nvPr/>
        </p:nvSpPr>
        <p:spPr>
          <a:xfrm>
            <a:off x="6264000" y="3006000"/>
            <a:ext cx="5064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3" name="Punktor"/>
          <p:cNvSpPr/>
          <p:nvPr/>
        </p:nvSpPr>
        <p:spPr>
          <a:xfrm>
            <a:off x="5904000" y="3672000"/>
            <a:ext cx="216000" cy="216000"/>
          </a:xfrm>
          <a:prstGeom prst="roundRect">
            <a:avLst>
              <a:gd name="adj" fmla="val 3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00% · [Kategoria 2]"/>
          <p:cNvSpPr txBox="1"/>
          <p:nvPr/>
        </p:nvSpPr>
        <p:spPr>
          <a:xfrm>
            <a:off x="6264000" y="3600000"/>
            <a:ext cx="5064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00% · [Kategoria 2]</a:t>
            </a:r>
          </a:p>
        </p:txBody>
      </p:sp>
      <p:sp>
        <p:nvSpPr>
          <p:cNvPr id="15" name="Tekst: [krótki opis]"/>
          <p:cNvSpPr txBox="1"/>
          <p:nvPr/>
        </p:nvSpPr>
        <p:spPr>
          <a:xfrm>
            <a:off x="6264000" y="3942000"/>
            <a:ext cx="5064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6" name="Punktor"/>
          <p:cNvSpPr/>
          <p:nvPr/>
        </p:nvSpPr>
        <p:spPr>
          <a:xfrm>
            <a:off x="5904000" y="4608000"/>
            <a:ext cx="216000" cy="216000"/>
          </a:xfrm>
          <a:prstGeom prst="roundRect">
            <a:avLst>
              <a:gd name="adj" fmla="val 30000"/>
            </a:avLst>
          </a:prstGeom>
          <a:solidFill>
            <a:schemeClr val="accent5">
              <a:lumMod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00% · [Kategoria 3]"/>
          <p:cNvSpPr txBox="1"/>
          <p:nvPr/>
        </p:nvSpPr>
        <p:spPr>
          <a:xfrm>
            <a:off x="6264000" y="4536000"/>
            <a:ext cx="5064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00% · [Kategoria 3]</a:t>
            </a:r>
          </a:p>
        </p:txBody>
      </p:sp>
      <p:sp>
        <p:nvSpPr>
          <p:cNvPr id="18" name="Tekst: [krótki opis]"/>
          <p:cNvSpPr txBox="1"/>
          <p:nvPr/>
        </p:nvSpPr>
        <p:spPr>
          <a:xfrm>
            <a:off x="6264000" y="4878000"/>
            <a:ext cx="5064000" cy="57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SLAJD 5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52 - do czego służy</a:t>
            </a:r>
          </a:p>
        </p:txBody>
      </p:sp>
      <p:sp>
        <p:nvSpPr>
          <p:cNvPr id="21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kst: Wykres PIERŚCIENIOWY (udział, struktura 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Wykres PIERŚCIENIOWY (udział, struktura sprzedaży, podział grupy).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EDYTOWALNY: prawy klik na wykresie &gt; Edytuj dane. Liczbę w środku wpisz ręcznie.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tykieta nad tytułem (można usunąć)"/>
          <p:cNvSpPr txBox="1"/>
          <p:nvPr/>
        </p:nvSpPr>
        <p:spPr>
          <a:xfrm>
            <a:off x="864000" y="432000"/>
            <a:ext cx="72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[TREND]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53</a:t>
            </a:r>
          </a:p>
        </p:txBody>
      </p:sp>
      <p:graphicFrame>
        <p:nvGraphicFramePr>
          <p:cNvPr id="7" name="tlo-wykres"/>
          <p:cNvGraphicFramePr>
            <a:graphicFrameLocks noGrp="1"/>
          </p:cNvGraphicFramePr>
          <p:nvPr/>
        </p:nvGraphicFramePr>
        <p:xfrm>
          <a:off x="864000" y="1908000"/>
          <a:ext cx="7728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Karta / tło (kolor z motywu)"/>
          <p:cNvSpPr/>
          <p:nvPr/>
        </p:nvSpPr>
        <p:spPr>
          <a:xfrm>
            <a:off x="8952000" y="1908000"/>
            <a:ext cx="2376000" cy="4320000"/>
          </a:xfrm>
          <a:prstGeom prst="roundRect">
            <a:avLst>
              <a:gd name="adj" fmla="val 6818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WNIOSEK"/>
          <p:cNvSpPr txBox="1"/>
          <p:nvPr/>
        </p:nvSpPr>
        <p:spPr>
          <a:xfrm>
            <a:off x="9240000" y="219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WNIOSEK</a:t>
            </a:r>
          </a:p>
        </p:txBody>
      </p:sp>
      <p:sp>
        <p:nvSpPr>
          <p:cNvPr id="10" name="Tekst: [Wniosek z wykresu w 1-2 zdaniach]"/>
          <p:cNvSpPr txBox="1"/>
          <p:nvPr/>
        </p:nvSpPr>
        <p:spPr>
          <a:xfrm>
            <a:off x="9240000" y="2556000"/>
            <a:ext cx="1800000" cy="33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5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[Wniosek z wykresu w 1-2 zdaniach]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SLAJD 5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53 -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Wykres KOLUMNOWY - trend w czasie (sprze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Wykres KOLUMNOWY - trend w czasie (sprzedaż, dystrybucja, zasięg).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EDYTOWALNY: prawy klik &gt; Edytuj dane - wpisz swoje miesiące i wartości.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[Cena i marża]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54</a:t>
            </a:r>
          </a:p>
        </p:txBody>
      </p:sp>
      <p:grpSp>
        <p:nvGrpSpPr>
          <p:cNvPr id="29" name="Produkt z owocami (grupa) - przesuwaj całość; kliknij 2x, by zmienić obraz"/>
          <p:cNvGrpSpPr/>
          <p:nvPr/>
        </p:nvGrpSpPr>
        <p:grpSpPr>
          <a:xfrm>
            <a:off x="710174" y="2196000"/>
            <a:ext cx="3571382" cy="4077730"/>
            <a:chOff x="710174" y="2196000"/>
            <a:chExt cx="3571382" cy="4077730"/>
          </a:xfrm>
        </p:grpSpPr>
        <p:sp>
          <p:nvSpPr>
            <p:cNvPr id="5" name="Cień pod paczką"/>
            <p:cNvSpPr/>
            <p:nvPr/>
          </p:nvSpPr>
          <p:spPr>
            <a:xfrm rot="21360000">
              <a:off x="1548520" y="5881294"/>
              <a:ext cx="2662958" cy="392436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6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360000">
              <a:off x="1478442" y="2196000"/>
              <a:ext cx="2803114" cy="3960000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0640000">
              <a:off x="710174" y="3077477"/>
              <a:ext cx="639540" cy="613044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600000">
              <a:off x="844701" y="5270385"/>
              <a:ext cx="706860" cy="662428"/>
            </a:xfrm>
            <a:prstGeom prst="rect">
              <a:avLst/>
            </a:prstGeom>
          </p:spPr>
        </p:pic>
      </p:grpSp>
      <p:sp>
        <p:nvSpPr>
          <p:cNvPr id="9" name="Tekst: REKOMENDOWANA CENA DETALICZNA"/>
          <p:cNvSpPr txBox="1"/>
          <p:nvPr/>
        </p:nvSpPr>
        <p:spPr>
          <a:xfrm>
            <a:off x="4824000" y="1908000"/>
            <a:ext cx="650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REKOMENDOWANA CENA DETALICZNA</a:t>
            </a:r>
          </a:p>
        </p:txBody>
      </p:sp>
      <p:sp>
        <p:nvSpPr>
          <p:cNvPr id="10" name="Karta / tło (kolor z motywu)"/>
          <p:cNvSpPr/>
          <p:nvPr/>
        </p:nvSpPr>
        <p:spPr>
          <a:xfrm flipH="1">
            <a:off x="4824000" y="2232000"/>
            <a:ext cx="3730390" cy="936000"/>
          </a:xfrm>
          <a:prstGeom prst="homePlate">
            <a:avLst>
              <a:gd name="adj" fmla="val 2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0,00 zł]"/>
          <p:cNvSpPr txBox="1"/>
          <p:nvPr/>
        </p:nvSpPr>
        <p:spPr>
          <a:xfrm>
            <a:off x="5256000" y="2232000"/>
            <a:ext cx="3298390" cy="936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6000" b="0" i="0">
                <a:solidFill>
                  <a:schemeClr val="bg1"/>
                </a:solidFill>
                <a:latin typeface="+mj-lt"/>
              </a:rPr>
              <a:t>[0,00 zł]</a:t>
            </a:r>
          </a:p>
        </p:txBody>
      </p:sp>
      <p:sp>
        <p:nvSpPr>
          <p:cNvPr id="12" name="Tekst: [np. cena za 100 g, cena promocyjna]"/>
          <p:cNvSpPr txBox="1"/>
          <p:nvPr/>
        </p:nvSpPr>
        <p:spPr>
          <a:xfrm>
            <a:off x="4824000" y="3276000"/>
            <a:ext cx="6504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[np. cena za 100 g, cena promocyjna]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4824000" y="3708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CENA ZAKUPU"/>
          <p:cNvSpPr txBox="1"/>
          <p:nvPr/>
        </p:nvSpPr>
        <p:spPr>
          <a:xfrm>
            <a:off x="5076000" y="3888000"/>
            <a:ext cx="2586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CENA ZAKUPU</a:t>
            </a:r>
          </a:p>
        </p:txBody>
      </p:sp>
      <p:sp>
        <p:nvSpPr>
          <p:cNvPr id="15" name="Tekst: [0,00 zł]"/>
          <p:cNvSpPr txBox="1"/>
          <p:nvPr/>
        </p:nvSpPr>
        <p:spPr>
          <a:xfrm>
            <a:off x="5076000" y="4140000"/>
            <a:ext cx="258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[0,00 zł]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8238000" y="3708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kst: MARŻA"/>
          <p:cNvSpPr txBox="1"/>
          <p:nvPr/>
        </p:nvSpPr>
        <p:spPr>
          <a:xfrm>
            <a:off x="8490000" y="3888000"/>
            <a:ext cx="2586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MARŻA</a:t>
            </a:r>
          </a:p>
        </p:txBody>
      </p:sp>
      <p:sp>
        <p:nvSpPr>
          <p:cNvPr id="18" name="Tekst: [00%]"/>
          <p:cNvSpPr txBox="1"/>
          <p:nvPr/>
        </p:nvSpPr>
        <p:spPr>
          <a:xfrm>
            <a:off x="8490000" y="4140000"/>
            <a:ext cx="258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[00%]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4824000" y="5004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kst: PROMOCJA"/>
          <p:cNvSpPr txBox="1"/>
          <p:nvPr/>
        </p:nvSpPr>
        <p:spPr>
          <a:xfrm>
            <a:off x="5076000" y="5184000"/>
            <a:ext cx="2586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PROMOCJA</a:t>
            </a:r>
          </a:p>
        </p:txBody>
      </p:sp>
      <p:sp>
        <p:nvSpPr>
          <p:cNvPr id="21" name="Tekst: [mechanizm]"/>
          <p:cNvSpPr txBox="1"/>
          <p:nvPr/>
        </p:nvSpPr>
        <p:spPr>
          <a:xfrm>
            <a:off x="5076000" y="5436000"/>
            <a:ext cx="258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[mechanizm]</a:t>
            </a:r>
          </a:p>
        </p:txBody>
      </p:sp>
      <p:sp>
        <p:nvSpPr>
          <p:cNvPr id="22" name="Karta / tło (kolor z motywu)"/>
          <p:cNvSpPr/>
          <p:nvPr/>
        </p:nvSpPr>
        <p:spPr>
          <a:xfrm>
            <a:off x="8238000" y="5004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MIN. ZAMÓWIENIE"/>
          <p:cNvSpPr txBox="1"/>
          <p:nvPr/>
        </p:nvSpPr>
        <p:spPr>
          <a:xfrm>
            <a:off x="8490000" y="5184000"/>
            <a:ext cx="2586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MIN. ZAMÓWIENIE</a:t>
            </a:r>
          </a:p>
        </p:txBody>
      </p:sp>
      <p:sp>
        <p:nvSpPr>
          <p:cNvPr id="24" name="Tekst: [szt.]"/>
          <p:cNvSpPr txBox="1"/>
          <p:nvPr/>
        </p:nvSpPr>
        <p:spPr>
          <a:xfrm>
            <a:off x="8490000" y="5436000"/>
            <a:ext cx="258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[szt.]</a:t>
            </a:r>
          </a:p>
        </p:txBody>
      </p:sp>
      <p:sp>
        <p:nvSpPr>
          <p:cNvPr id="2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kst: SLAJD 5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54 - do czego służy</a:t>
            </a:r>
          </a:p>
        </p:txBody>
      </p:sp>
      <p:sp>
        <p:nvSpPr>
          <p:cNvPr id="2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kst: CENA I MARŻA dla handlu: produkt, rekom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CENA I MARŻA dla handlu: produkt, rekomendowana cena detaliczna w metce, 4 karty warunków.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przewaga]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55</a:t>
            </a:r>
          </a:p>
        </p:txBody>
      </p:sp>
      <p:sp>
        <p:nvSpPr>
          <p:cNvPr id="5" name="tlo-kolumna"/>
          <p:cNvSpPr/>
          <p:nvPr/>
        </p:nvSpPr>
        <p:spPr>
          <a:xfrm>
            <a:off x="4644000" y="1836000"/>
            <a:ext cx="2228000" cy="3420000"/>
          </a:xfrm>
          <a:prstGeom prst="roundRect">
            <a:avLst>
              <a:gd name="adj" fmla="val 7271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[Nasz produkt]"/>
          <p:cNvSpPr txBox="1"/>
          <p:nvPr/>
        </p:nvSpPr>
        <p:spPr>
          <a:xfrm>
            <a:off x="4644000" y="1908000"/>
            <a:ext cx="2228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  <a:latin typeface="+mn-lt"/>
              </a:rPr>
              <a:t>[Nasz produkt]</a:t>
            </a:r>
          </a:p>
        </p:txBody>
      </p:sp>
      <p:sp>
        <p:nvSpPr>
          <p:cNvPr id="7" name="Tekst: [Konkurent A]"/>
          <p:cNvSpPr txBox="1"/>
          <p:nvPr/>
        </p:nvSpPr>
        <p:spPr>
          <a:xfrm>
            <a:off x="6872000" y="1908000"/>
            <a:ext cx="2228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600" b="1" i="0">
                <a:solidFill>
                  <a:schemeClr val="tx1"/>
                </a:solidFill>
                <a:latin typeface="+mn-lt"/>
              </a:rPr>
              <a:t>[Konkurent A]</a:t>
            </a:r>
          </a:p>
        </p:txBody>
      </p:sp>
      <p:sp>
        <p:nvSpPr>
          <p:cNvPr id="8" name="Tekst: [Konkurent B]"/>
          <p:cNvSpPr txBox="1"/>
          <p:nvPr/>
        </p:nvSpPr>
        <p:spPr>
          <a:xfrm>
            <a:off x="9100000" y="1908000"/>
            <a:ext cx="2228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600" b="1" i="0">
                <a:solidFill>
                  <a:schemeClr val="tx1"/>
                </a:solidFill>
                <a:latin typeface="+mn-lt"/>
              </a:rPr>
              <a:t>[Konkurent B]</a:t>
            </a:r>
          </a:p>
        </p:txBody>
      </p:sp>
      <p:sp>
        <p:nvSpPr>
          <p:cNvPr id="9" name="Tekst: [Cecha 1]"/>
          <p:cNvSpPr txBox="1"/>
          <p:nvPr/>
        </p:nvSpPr>
        <p:spPr>
          <a:xfrm>
            <a:off x="864000" y="2484000"/>
            <a:ext cx="3636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1]</a:t>
            </a:r>
          </a:p>
        </p:txBody>
      </p:sp>
      <p:pic>
        <p:nvPicPr>
          <p:cNvPr id="10" name="Ikona / grafika - prawy klik: Zmień obraz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000" y="2592000"/>
            <a:ext cx="324000" cy="324000"/>
          </a:xfrm>
          <a:prstGeom prst="rect">
            <a:avLst/>
          </a:prstGeom>
        </p:spPr>
      </p:pic>
      <p:pic>
        <p:nvPicPr>
          <p:cNvPr id="11" name="Ikona / grafika - prawy klik: Zmień obraz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4000" y="2592000"/>
            <a:ext cx="324000" cy="324000"/>
          </a:xfrm>
          <a:prstGeom prst="rect">
            <a:avLst/>
          </a:prstGeom>
        </p:spPr>
      </p:pic>
      <p:pic>
        <p:nvPicPr>
          <p:cNvPr id="12" name="Ikona / grafika - prawy klik: Zmień obraz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000" y="2592000"/>
            <a:ext cx="324000" cy="324000"/>
          </a:xfrm>
          <a:prstGeom prst="rect">
            <a:avLst/>
          </a:prstGeom>
        </p:spPr>
      </p:pic>
      <p:sp>
        <p:nvSpPr>
          <p:cNvPr id="13" name="Karta / tło (kolor z motywu)"/>
          <p:cNvSpPr/>
          <p:nvPr/>
        </p:nvSpPr>
        <p:spPr>
          <a:xfrm>
            <a:off x="864000" y="302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Karta / tło (kolor z motywu)"/>
          <p:cNvSpPr/>
          <p:nvPr/>
        </p:nvSpPr>
        <p:spPr>
          <a:xfrm>
            <a:off x="6872000" y="302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kst: [Cecha 2]"/>
          <p:cNvSpPr txBox="1"/>
          <p:nvPr/>
        </p:nvSpPr>
        <p:spPr>
          <a:xfrm>
            <a:off x="864000" y="3024000"/>
            <a:ext cx="3636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2]</a:t>
            </a:r>
          </a:p>
        </p:txBody>
      </p:sp>
      <p:pic>
        <p:nvPicPr>
          <p:cNvPr id="16" name="Ikona / grafika - prawy klik: Zmień obraz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000" y="3132000"/>
            <a:ext cx="324000" cy="324000"/>
          </a:xfrm>
          <a:prstGeom prst="rect">
            <a:avLst/>
          </a:prstGeom>
        </p:spPr>
      </p:pic>
      <p:pic>
        <p:nvPicPr>
          <p:cNvPr id="17" name="Ikona / grafika - prawy klik: Zmień obraz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00" y="3132000"/>
            <a:ext cx="324000" cy="324000"/>
          </a:xfrm>
          <a:prstGeom prst="rect">
            <a:avLst/>
          </a:prstGeom>
        </p:spPr>
      </p:pic>
      <p:pic>
        <p:nvPicPr>
          <p:cNvPr id="18" name="Ikona / grafika - prawy klik: Zmień obraz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000" y="3132000"/>
            <a:ext cx="324000" cy="324000"/>
          </a:xfrm>
          <a:prstGeom prst="rect">
            <a:avLst/>
          </a:prstGeom>
        </p:spPr>
      </p:pic>
      <p:sp>
        <p:nvSpPr>
          <p:cNvPr id="19" name="Karta / tło (kolor z motywu)"/>
          <p:cNvSpPr/>
          <p:nvPr/>
        </p:nvSpPr>
        <p:spPr>
          <a:xfrm>
            <a:off x="864000" y="356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Karta / tło (kolor z motywu)"/>
          <p:cNvSpPr/>
          <p:nvPr/>
        </p:nvSpPr>
        <p:spPr>
          <a:xfrm>
            <a:off x="6872000" y="356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[Cecha 3]"/>
          <p:cNvSpPr txBox="1"/>
          <p:nvPr/>
        </p:nvSpPr>
        <p:spPr>
          <a:xfrm>
            <a:off x="864000" y="3564000"/>
            <a:ext cx="3636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3]</a:t>
            </a:r>
          </a:p>
        </p:txBody>
      </p:sp>
      <p:pic>
        <p:nvPicPr>
          <p:cNvPr id="22" name="Ikona / grafika - prawy klik: Zmień obraz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000" y="3672000"/>
            <a:ext cx="324000" cy="324000"/>
          </a:xfrm>
          <a:prstGeom prst="rect">
            <a:avLst/>
          </a:prstGeom>
        </p:spPr>
      </p:pic>
      <p:pic>
        <p:nvPicPr>
          <p:cNvPr id="23" name="Ikona / grafika - prawy klik: Zmień obraz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4000" y="3672000"/>
            <a:ext cx="324000" cy="324000"/>
          </a:xfrm>
          <a:prstGeom prst="rect">
            <a:avLst/>
          </a:prstGeom>
        </p:spPr>
      </p:pic>
      <p:pic>
        <p:nvPicPr>
          <p:cNvPr id="24" name="Ikona / grafika - prawy klik: Zmień obraz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2000" y="3672000"/>
            <a:ext cx="324000" cy="324000"/>
          </a:xfrm>
          <a:prstGeom prst="rect">
            <a:avLst/>
          </a:prstGeom>
        </p:spPr>
      </p:pic>
      <p:sp>
        <p:nvSpPr>
          <p:cNvPr id="25" name="Karta / tło (kolor z motywu)"/>
          <p:cNvSpPr/>
          <p:nvPr/>
        </p:nvSpPr>
        <p:spPr>
          <a:xfrm>
            <a:off x="864000" y="410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Karta / tło (kolor z motywu)"/>
          <p:cNvSpPr/>
          <p:nvPr/>
        </p:nvSpPr>
        <p:spPr>
          <a:xfrm>
            <a:off x="6872000" y="410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[Cecha 4]"/>
          <p:cNvSpPr txBox="1"/>
          <p:nvPr/>
        </p:nvSpPr>
        <p:spPr>
          <a:xfrm>
            <a:off x="864000" y="4104000"/>
            <a:ext cx="3636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4]</a:t>
            </a:r>
          </a:p>
        </p:txBody>
      </p:sp>
      <p:pic>
        <p:nvPicPr>
          <p:cNvPr id="28" name="Ikona / grafika - prawy klik: Zmień obraz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000" y="4212000"/>
            <a:ext cx="324000" cy="324000"/>
          </a:xfrm>
          <a:prstGeom prst="rect">
            <a:avLst/>
          </a:prstGeom>
        </p:spPr>
      </p:pic>
      <p:pic>
        <p:nvPicPr>
          <p:cNvPr id="29" name="Ikona / grafika - prawy klik: Zmień obraz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4000" y="4212000"/>
            <a:ext cx="324000" cy="324000"/>
          </a:xfrm>
          <a:prstGeom prst="rect">
            <a:avLst/>
          </a:prstGeom>
        </p:spPr>
      </p:pic>
      <p:pic>
        <p:nvPicPr>
          <p:cNvPr id="30" name="Ikona / grafika - prawy klik: Zmień obraz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000" y="4212000"/>
            <a:ext cx="324000" cy="324000"/>
          </a:xfrm>
          <a:prstGeom prst="rect">
            <a:avLst/>
          </a:prstGeom>
        </p:spPr>
      </p:pic>
      <p:sp>
        <p:nvSpPr>
          <p:cNvPr id="31" name="Karta / tło (kolor z motywu)"/>
          <p:cNvSpPr/>
          <p:nvPr/>
        </p:nvSpPr>
        <p:spPr>
          <a:xfrm>
            <a:off x="864000" y="464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Karta / tło (kolor z motywu)"/>
          <p:cNvSpPr/>
          <p:nvPr/>
        </p:nvSpPr>
        <p:spPr>
          <a:xfrm>
            <a:off x="6872000" y="464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kst: [Cena]"/>
          <p:cNvSpPr txBox="1"/>
          <p:nvPr/>
        </p:nvSpPr>
        <p:spPr>
          <a:xfrm>
            <a:off x="864000" y="4644000"/>
            <a:ext cx="3636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[Cena]</a:t>
            </a:r>
          </a:p>
        </p:txBody>
      </p:sp>
      <p:sp>
        <p:nvSpPr>
          <p:cNvPr id="34" name="Tekst: [0,00 zł]"/>
          <p:cNvSpPr txBox="1"/>
          <p:nvPr/>
        </p:nvSpPr>
        <p:spPr>
          <a:xfrm>
            <a:off x="4644000" y="4644000"/>
            <a:ext cx="2228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500" b="1" i="0">
                <a:solidFill>
                  <a:schemeClr val="bg1"/>
                </a:solidFill>
                <a:latin typeface="+mn-lt"/>
              </a:rPr>
              <a:t>[0,00 zł]</a:t>
            </a:r>
          </a:p>
        </p:txBody>
      </p:sp>
      <p:sp>
        <p:nvSpPr>
          <p:cNvPr id="35" name="Tekst: [0,00 zł]"/>
          <p:cNvSpPr txBox="1"/>
          <p:nvPr/>
        </p:nvSpPr>
        <p:spPr>
          <a:xfrm>
            <a:off x="6872000" y="4644000"/>
            <a:ext cx="2228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  <a:latin typeface="+mn-lt"/>
              </a:rPr>
              <a:t>[0,00 zł]</a:t>
            </a:r>
          </a:p>
        </p:txBody>
      </p:sp>
      <p:sp>
        <p:nvSpPr>
          <p:cNvPr id="36" name="Tekst: [0,00 zł]"/>
          <p:cNvSpPr txBox="1"/>
          <p:nvPr/>
        </p:nvSpPr>
        <p:spPr>
          <a:xfrm>
            <a:off x="9100000" y="4644000"/>
            <a:ext cx="2228000" cy="54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  <a:latin typeface="+mn-lt"/>
              </a:rPr>
              <a:t>[0,00 zł]</a:t>
            </a:r>
          </a:p>
        </p:txBody>
      </p:sp>
      <p:sp>
        <p:nvSpPr>
          <p:cNvPr id="3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kst: SLAJD 5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55 - do czego służy</a:t>
            </a:r>
          </a:p>
        </p:txBody>
      </p:sp>
      <p:sp>
        <p:nvSpPr>
          <p:cNvPr id="39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kst: PORÓWNANIE z konkurencją / innymi produk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PORÓWNANIE z konkurencją / innymi produktami: cechy w wierszach, ✓ lub ✗.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Pierwsza kolumna (nasz produkt) jest wyróżniona. Ikonę ✓/✗ zmienisz kopiując z innej komórki.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okazje spożycia]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2050500" y="2736000"/>
            <a:ext cx="8091000" cy="180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Karta / tło (kolor z motywu)"/>
          <p:cNvSpPr/>
          <p:nvPr/>
        </p:nvSpPr>
        <p:spPr>
          <a:xfrm>
            <a:off x="1510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Ikona / grafika - prawy klik: Zmień obraz" descr="sunr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00" y="2466000"/>
            <a:ext cx="540000" cy="540000"/>
          </a:xfrm>
          <a:prstGeom prst="rect">
            <a:avLst/>
          </a:prstGeom>
        </p:spPr>
      </p:pic>
      <p:sp>
        <p:nvSpPr>
          <p:cNvPr id="8" name="Tekst: [PORA 1]"/>
          <p:cNvSpPr txBox="1"/>
          <p:nvPr/>
        </p:nvSpPr>
        <p:spPr>
          <a:xfrm>
            <a:off x="864000" y="3492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1]</a:t>
            </a:r>
          </a:p>
        </p:txBody>
      </p:sp>
      <p:sp>
        <p:nvSpPr>
          <p:cNvPr id="9" name="Tekst: [Okazja 1]"/>
          <p:cNvSpPr txBox="1"/>
          <p:nvPr/>
        </p:nvSpPr>
        <p:spPr>
          <a:xfrm>
            <a:off x="864000" y="3780000"/>
            <a:ext cx="2373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1]</a:t>
            </a:r>
          </a:p>
        </p:txBody>
      </p:sp>
      <p:sp>
        <p:nvSpPr>
          <p:cNvPr id="10" name="Tekst: [1-2 zdania, dlaczego wtedy]"/>
          <p:cNvSpPr txBox="1"/>
          <p:nvPr/>
        </p:nvSpPr>
        <p:spPr>
          <a:xfrm>
            <a:off x="1008000" y="4248000"/>
            <a:ext cx="2085000" cy="93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4207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Ikona / grafika - prawy klik: Zmień obraz" descr="dumbbe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500" y="2466000"/>
            <a:ext cx="540000" cy="540000"/>
          </a:xfrm>
          <a:prstGeom prst="rect">
            <a:avLst/>
          </a:prstGeom>
        </p:spPr>
      </p:pic>
      <p:sp>
        <p:nvSpPr>
          <p:cNvPr id="13" name="Tekst: [PORA 2]"/>
          <p:cNvSpPr txBox="1"/>
          <p:nvPr/>
        </p:nvSpPr>
        <p:spPr>
          <a:xfrm>
            <a:off x="3561000" y="3492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2]</a:t>
            </a:r>
          </a:p>
        </p:txBody>
      </p:sp>
      <p:sp>
        <p:nvSpPr>
          <p:cNvPr id="14" name="Tekst: [Okazja 2]"/>
          <p:cNvSpPr txBox="1"/>
          <p:nvPr/>
        </p:nvSpPr>
        <p:spPr>
          <a:xfrm>
            <a:off x="3561000" y="3780000"/>
            <a:ext cx="2373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2]</a:t>
            </a:r>
          </a:p>
        </p:txBody>
      </p:sp>
      <p:sp>
        <p:nvSpPr>
          <p:cNvPr id="15" name="Tekst: [1-2 zdania, dlaczego wtedy]"/>
          <p:cNvSpPr txBox="1"/>
          <p:nvPr/>
        </p:nvSpPr>
        <p:spPr>
          <a:xfrm>
            <a:off x="3705000" y="4248000"/>
            <a:ext cx="2085000" cy="93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6904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kona / grafika - prawy klik: Zmień obraz" descr="coff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4500" y="2466000"/>
            <a:ext cx="540000" cy="540000"/>
          </a:xfrm>
          <a:prstGeom prst="rect">
            <a:avLst/>
          </a:prstGeom>
        </p:spPr>
      </p:pic>
      <p:sp>
        <p:nvSpPr>
          <p:cNvPr id="18" name="Tekst: [PORA 3]"/>
          <p:cNvSpPr txBox="1"/>
          <p:nvPr/>
        </p:nvSpPr>
        <p:spPr>
          <a:xfrm>
            <a:off x="6258000" y="3492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3]</a:t>
            </a:r>
          </a:p>
        </p:txBody>
      </p:sp>
      <p:sp>
        <p:nvSpPr>
          <p:cNvPr id="19" name="Tekst: [Okazja 3]"/>
          <p:cNvSpPr txBox="1"/>
          <p:nvPr/>
        </p:nvSpPr>
        <p:spPr>
          <a:xfrm>
            <a:off x="6258000" y="3780000"/>
            <a:ext cx="2373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3]</a:t>
            </a:r>
          </a:p>
        </p:txBody>
      </p:sp>
      <p:sp>
        <p:nvSpPr>
          <p:cNvPr id="20" name="Tekst: [1-2 zdania, dlaczego wtedy]"/>
          <p:cNvSpPr txBox="1"/>
          <p:nvPr/>
        </p:nvSpPr>
        <p:spPr>
          <a:xfrm>
            <a:off x="6402000" y="4248000"/>
            <a:ext cx="2085000" cy="93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9601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Ikona / grafika - prawy klik: Zmień obraz" descr="mo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500" y="2466000"/>
            <a:ext cx="540000" cy="540000"/>
          </a:xfrm>
          <a:prstGeom prst="rect">
            <a:avLst/>
          </a:prstGeom>
        </p:spPr>
      </p:pic>
      <p:sp>
        <p:nvSpPr>
          <p:cNvPr id="23" name="Tekst: [PORA 4]"/>
          <p:cNvSpPr txBox="1"/>
          <p:nvPr/>
        </p:nvSpPr>
        <p:spPr>
          <a:xfrm>
            <a:off x="8955000" y="3492000"/>
            <a:ext cx="2373000" cy="252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4]</a:t>
            </a:r>
          </a:p>
        </p:txBody>
      </p:sp>
      <p:sp>
        <p:nvSpPr>
          <p:cNvPr id="24" name="Tekst: [Okazja 4]"/>
          <p:cNvSpPr txBox="1"/>
          <p:nvPr/>
        </p:nvSpPr>
        <p:spPr>
          <a:xfrm>
            <a:off x="8955000" y="3780000"/>
            <a:ext cx="2373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4]</a:t>
            </a:r>
          </a:p>
        </p:txBody>
      </p:sp>
      <p:sp>
        <p:nvSpPr>
          <p:cNvPr id="25" name="Tekst: [1-2 zdania, dlaczego wtedy]"/>
          <p:cNvSpPr txBox="1"/>
          <p:nvPr/>
        </p:nvSpPr>
        <p:spPr>
          <a:xfrm>
            <a:off x="9099000" y="4248000"/>
            <a:ext cx="2085000" cy="93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2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kst: SLAJD 5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56 - do czego służy</a:t>
            </a:r>
          </a:p>
        </p:txBody>
      </p:sp>
      <p:sp>
        <p:nvSpPr>
          <p:cNvPr id="2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kst: OKAZJE SPOŻYCIA / momenty dnia: kiedy i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OKAZJE SPOŻYCIA / momenty dnia: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kiedy i po co sięgnąć po produkt (4 momenty z ikonami).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kampanii]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57</a:t>
            </a:r>
          </a:p>
        </p:txBody>
      </p:sp>
      <p:sp>
        <p:nvSpPr>
          <p:cNvPr id="5" name="tlo-telefon"/>
          <p:cNvSpPr/>
          <p:nvPr/>
        </p:nvSpPr>
        <p:spPr>
          <a:xfrm>
            <a:off x="1656000" y="1908000"/>
            <a:ext cx="1512000" cy="3276000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tlo-ekran" descr="ph_430_ZDJCIE.png"/>
          <p:cNvPicPr>
            <a:picLocks noChangeAspect="1"/>
          </p:cNvPicPr>
          <p:nvPr/>
        </p:nvPicPr>
        <p:blipFill>
          <a:blip r:embed="rId3"/>
          <a:srcRect l="3" r="3"/>
          <a:stretch>
            <a:fillRect/>
          </a:stretch>
        </p:blipFill>
        <p:spPr>
          <a:xfrm>
            <a:off x="1746000" y="1998000"/>
            <a:ext cx="1332000" cy="3096000"/>
          </a:xfrm>
          <a:prstGeom prst="roundRect">
            <a:avLst>
              <a:gd name="adj" fmla="val 9459"/>
            </a:avLst>
          </a:prstGeom>
        </p:spPr>
      </p:pic>
      <p:sp>
        <p:nvSpPr>
          <p:cNvPr id="7" name="tlo-notch"/>
          <p:cNvSpPr/>
          <p:nvPr/>
        </p:nvSpPr>
        <p:spPr>
          <a:xfrm>
            <a:off x="2088000" y="2070000"/>
            <a:ext cx="648000" cy="12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Kanał 1]"/>
          <p:cNvSpPr txBox="1"/>
          <p:nvPr/>
        </p:nvSpPr>
        <p:spPr>
          <a:xfrm>
            <a:off x="1296000" y="53100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n-lt"/>
              </a:rPr>
              <a:t>[Kanał 1]</a:t>
            </a:r>
          </a:p>
        </p:txBody>
      </p:sp>
      <p:sp>
        <p:nvSpPr>
          <p:cNvPr id="9" name="Tekst: [wynik: zasięg, wyświetlenia]"/>
          <p:cNvSpPr txBox="1"/>
          <p:nvPr/>
        </p:nvSpPr>
        <p:spPr>
          <a:xfrm>
            <a:off x="936000" y="5616000"/>
            <a:ext cx="2952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[wynik: zasięg, wyświetlenia]</a:t>
            </a:r>
          </a:p>
        </p:txBody>
      </p:sp>
      <p:sp>
        <p:nvSpPr>
          <p:cNvPr id="10" name="tlo-telefon"/>
          <p:cNvSpPr/>
          <p:nvPr/>
        </p:nvSpPr>
        <p:spPr>
          <a:xfrm>
            <a:off x="5340000" y="1908000"/>
            <a:ext cx="1512000" cy="3276000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tlo-ekran" descr="ph_430_ZDJCIE.png"/>
          <p:cNvPicPr>
            <a:picLocks noChangeAspect="1"/>
          </p:cNvPicPr>
          <p:nvPr/>
        </p:nvPicPr>
        <p:blipFill>
          <a:blip r:embed="rId3"/>
          <a:srcRect l="3" r="3"/>
          <a:stretch>
            <a:fillRect/>
          </a:stretch>
        </p:blipFill>
        <p:spPr>
          <a:xfrm>
            <a:off x="5430000" y="1998000"/>
            <a:ext cx="1332000" cy="3096000"/>
          </a:xfrm>
          <a:prstGeom prst="roundRect">
            <a:avLst>
              <a:gd name="adj" fmla="val 9459"/>
            </a:avLst>
          </a:prstGeom>
        </p:spPr>
      </p:pic>
      <p:sp>
        <p:nvSpPr>
          <p:cNvPr id="12" name="tlo-notch"/>
          <p:cNvSpPr/>
          <p:nvPr/>
        </p:nvSpPr>
        <p:spPr>
          <a:xfrm>
            <a:off x="5772000" y="2070000"/>
            <a:ext cx="648000" cy="12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kst: [Kanał 2]"/>
          <p:cNvSpPr txBox="1"/>
          <p:nvPr/>
        </p:nvSpPr>
        <p:spPr>
          <a:xfrm>
            <a:off x="4980000" y="53100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n-lt"/>
              </a:rPr>
              <a:t>[Kanał 2]</a:t>
            </a:r>
          </a:p>
        </p:txBody>
      </p:sp>
      <p:sp>
        <p:nvSpPr>
          <p:cNvPr id="14" name="Tekst: [wynik: zasięg, wyświetlenia]"/>
          <p:cNvSpPr txBox="1"/>
          <p:nvPr/>
        </p:nvSpPr>
        <p:spPr>
          <a:xfrm>
            <a:off x="4620000" y="5616000"/>
            <a:ext cx="2952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[wynik: zasięg, wyświetlenia]</a:t>
            </a:r>
          </a:p>
        </p:txBody>
      </p:sp>
      <p:sp>
        <p:nvSpPr>
          <p:cNvPr id="15" name="tlo-telefon"/>
          <p:cNvSpPr/>
          <p:nvPr/>
        </p:nvSpPr>
        <p:spPr>
          <a:xfrm>
            <a:off x="9024000" y="1908000"/>
            <a:ext cx="1512000" cy="3276000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tlo-ekran" descr="ph_430_ZDJCIE.png"/>
          <p:cNvPicPr>
            <a:picLocks noChangeAspect="1"/>
          </p:cNvPicPr>
          <p:nvPr/>
        </p:nvPicPr>
        <p:blipFill>
          <a:blip r:embed="rId3"/>
          <a:srcRect l="3" r="3"/>
          <a:stretch>
            <a:fillRect/>
          </a:stretch>
        </p:blipFill>
        <p:spPr>
          <a:xfrm>
            <a:off x="9114000" y="1998000"/>
            <a:ext cx="1332000" cy="3096000"/>
          </a:xfrm>
          <a:prstGeom prst="roundRect">
            <a:avLst>
              <a:gd name="adj" fmla="val 9459"/>
            </a:avLst>
          </a:prstGeom>
        </p:spPr>
      </p:pic>
      <p:sp>
        <p:nvSpPr>
          <p:cNvPr id="17" name="tlo-notch"/>
          <p:cNvSpPr/>
          <p:nvPr/>
        </p:nvSpPr>
        <p:spPr>
          <a:xfrm>
            <a:off x="9456000" y="2070000"/>
            <a:ext cx="648000" cy="12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kst: [Kanał 3]"/>
          <p:cNvSpPr txBox="1"/>
          <p:nvPr/>
        </p:nvSpPr>
        <p:spPr>
          <a:xfrm>
            <a:off x="8664000" y="53100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n-lt"/>
              </a:rPr>
              <a:t>[Kanał 3]</a:t>
            </a:r>
          </a:p>
        </p:txBody>
      </p:sp>
      <p:sp>
        <p:nvSpPr>
          <p:cNvPr id="19" name="Tekst: [wynik: zasięg, wyświetlenia]"/>
          <p:cNvSpPr txBox="1"/>
          <p:nvPr/>
        </p:nvSpPr>
        <p:spPr>
          <a:xfrm>
            <a:off x="8304000" y="5616000"/>
            <a:ext cx="2952000" cy="46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[wynik: zasięg, wyświetlenia]</a:t>
            </a:r>
          </a:p>
        </p:txBody>
      </p: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kst: SLAJD 5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57 -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kst: SOCIAL MEDIA: 3 telefony z postami / ree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SOCIAL MEDIA: 3 telefony z postami / reelsami kampanii; pod każdym kanał i wynik. Zrzuty ekranu podmień: prawy klik &gt; Zmień obraz.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Następne kroki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58</a:t>
            </a:r>
          </a:p>
        </p:txBody>
      </p:sp>
      <p:sp>
        <p:nvSpPr>
          <p:cNvPr id="5" name="Tekst: ZADANIE"/>
          <p:cNvSpPr txBox="1"/>
          <p:nvPr/>
        </p:nvSpPr>
        <p:spPr>
          <a:xfrm>
            <a:off x="1440000" y="1908000"/>
            <a:ext cx="558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ZADANIE</a:t>
            </a:r>
          </a:p>
        </p:txBody>
      </p:sp>
      <p:sp>
        <p:nvSpPr>
          <p:cNvPr id="6" name="Tekst: KTO"/>
          <p:cNvSpPr txBox="1"/>
          <p:nvPr/>
        </p:nvSpPr>
        <p:spPr>
          <a:xfrm>
            <a:off x="7200000" y="1908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KTO</a:t>
            </a:r>
          </a:p>
        </p:txBody>
      </p:sp>
      <p:sp>
        <p:nvSpPr>
          <p:cNvPr id="7" name="Tekst: TERMIN"/>
          <p:cNvSpPr txBox="1"/>
          <p:nvPr/>
        </p:nvSpPr>
        <p:spPr>
          <a:xfrm>
            <a:off x="9720000" y="1908000"/>
            <a:ext cx="16080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TERMIN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864000" y="2304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Ikona / grafika - prawy klik: Zmień obraz" descr="squar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000" y="2457000"/>
            <a:ext cx="306000" cy="306000"/>
          </a:xfrm>
          <a:prstGeom prst="rect">
            <a:avLst/>
          </a:prstGeom>
        </p:spPr>
      </p:pic>
      <p:sp>
        <p:nvSpPr>
          <p:cNvPr id="10" name="Tekst: [Zadanie 1]"/>
          <p:cNvSpPr txBox="1"/>
          <p:nvPr/>
        </p:nvSpPr>
        <p:spPr>
          <a:xfrm>
            <a:off x="1440000" y="2304000"/>
            <a:ext cx="558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[Zadanie 1]</a:t>
            </a:r>
          </a:p>
        </p:txBody>
      </p:sp>
      <p:sp>
        <p:nvSpPr>
          <p:cNvPr id="11" name="Tekst: [Osoba]"/>
          <p:cNvSpPr txBox="1"/>
          <p:nvPr/>
        </p:nvSpPr>
        <p:spPr>
          <a:xfrm>
            <a:off x="7200000" y="2304000"/>
            <a:ext cx="234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12" name="Tekst: [Termin]"/>
          <p:cNvSpPr txBox="1"/>
          <p:nvPr/>
        </p:nvSpPr>
        <p:spPr>
          <a:xfrm>
            <a:off x="9720000" y="2304000"/>
            <a:ext cx="1608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864000" y="2916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kona / grafika - prawy klik: Zmień obraz" descr="squ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00" y="3069000"/>
            <a:ext cx="306000" cy="306000"/>
          </a:xfrm>
          <a:prstGeom prst="rect">
            <a:avLst/>
          </a:prstGeom>
        </p:spPr>
      </p:pic>
      <p:sp>
        <p:nvSpPr>
          <p:cNvPr id="15" name="Tekst: [Zadanie 2]"/>
          <p:cNvSpPr txBox="1"/>
          <p:nvPr/>
        </p:nvSpPr>
        <p:spPr>
          <a:xfrm>
            <a:off x="1440000" y="2916000"/>
            <a:ext cx="558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2]</a:t>
            </a:r>
          </a:p>
        </p:txBody>
      </p:sp>
      <p:sp>
        <p:nvSpPr>
          <p:cNvPr id="16" name="Tekst: [Osoba]"/>
          <p:cNvSpPr txBox="1"/>
          <p:nvPr/>
        </p:nvSpPr>
        <p:spPr>
          <a:xfrm>
            <a:off x="7200000" y="2916000"/>
            <a:ext cx="234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17" name="Tekst: [Termin]"/>
          <p:cNvSpPr txBox="1"/>
          <p:nvPr/>
        </p:nvSpPr>
        <p:spPr>
          <a:xfrm>
            <a:off x="9720000" y="2916000"/>
            <a:ext cx="1608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18" name="Karta / tło (kolor z motywu)"/>
          <p:cNvSpPr/>
          <p:nvPr/>
        </p:nvSpPr>
        <p:spPr>
          <a:xfrm>
            <a:off x="864000" y="3528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Ikona / grafika - prawy klik: Zmień obraz" descr="squ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00" y="3681000"/>
            <a:ext cx="306000" cy="306000"/>
          </a:xfrm>
          <a:prstGeom prst="rect">
            <a:avLst/>
          </a:prstGeom>
        </p:spPr>
      </p:pic>
      <p:sp>
        <p:nvSpPr>
          <p:cNvPr id="20" name="Tekst: [Zadanie 3]"/>
          <p:cNvSpPr txBox="1"/>
          <p:nvPr/>
        </p:nvSpPr>
        <p:spPr>
          <a:xfrm>
            <a:off x="1440000" y="3528000"/>
            <a:ext cx="558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3]</a:t>
            </a:r>
          </a:p>
        </p:txBody>
      </p:sp>
      <p:sp>
        <p:nvSpPr>
          <p:cNvPr id="21" name="Tekst: [Osoba]"/>
          <p:cNvSpPr txBox="1"/>
          <p:nvPr/>
        </p:nvSpPr>
        <p:spPr>
          <a:xfrm>
            <a:off x="7200000" y="3528000"/>
            <a:ext cx="234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22" name="Tekst: [Termin]"/>
          <p:cNvSpPr txBox="1"/>
          <p:nvPr/>
        </p:nvSpPr>
        <p:spPr>
          <a:xfrm>
            <a:off x="9720000" y="3528000"/>
            <a:ext cx="1608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23" name="Karta / tło (kolor z motywu)"/>
          <p:cNvSpPr/>
          <p:nvPr/>
        </p:nvSpPr>
        <p:spPr>
          <a:xfrm>
            <a:off x="864000" y="4140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kona / grafika - prawy klik: Zmień obraz" descr="squ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00" y="4293000"/>
            <a:ext cx="306000" cy="306000"/>
          </a:xfrm>
          <a:prstGeom prst="rect">
            <a:avLst/>
          </a:prstGeom>
        </p:spPr>
      </p:pic>
      <p:sp>
        <p:nvSpPr>
          <p:cNvPr id="25" name="Tekst: [Zadanie 4]"/>
          <p:cNvSpPr txBox="1"/>
          <p:nvPr/>
        </p:nvSpPr>
        <p:spPr>
          <a:xfrm>
            <a:off x="1440000" y="4140000"/>
            <a:ext cx="558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4]</a:t>
            </a:r>
          </a:p>
        </p:txBody>
      </p:sp>
      <p:sp>
        <p:nvSpPr>
          <p:cNvPr id="26" name="Tekst: [Osoba]"/>
          <p:cNvSpPr txBox="1"/>
          <p:nvPr/>
        </p:nvSpPr>
        <p:spPr>
          <a:xfrm>
            <a:off x="7200000" y="4140000"/>
            <a:ext cx="234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27" name="Tekst: [Termin]"/>
          <p:cNvSpPr txBox="1"/>
          <p:nvPr/>
        </p:nvSpPr>
        <p:spPr>
          <a:xfrm>
            <a:off x="9720000" y="4140000"/>
            <a:ext cx="1608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28" name="Karta / tło (kolor z motywu)"/>
          <p:cNvSpPr/>
          <p:nvPr/>
        </p:nvSpPr>
        <p:spPr>
          <a:xfrm>
            <a:off x="864000" y="4752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kona / grafika - prawy klik: Zmień obraz" descr="squ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00" y="4905000"/>
            <a:ext cx="306000" cy="306000"/>
          </a:xfrm>
          <a:prstGeom prst="rect">
            <a:avLst/>
          </a:prstGeom>
        </p:spPr>
      </p:pic>
      <p:sp>
        <p:nvSpPr>
          <p:cNvPr id="30" name="Tekst: [Zadanie 5]"/>
          <p:cNvSpPr txBox="1"/>
          <p:nvPr/>
        </p:nvSpPr>
        <p:spPr>
          <a:xfrm>
            <a:off x="1440000" y="4752000"/>
            <a:ext cx="558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5]</a:t>
            </a:r>
          </a:p>
        </p:txBody>
      </p:sp>
      <p:sp>
        <p:nvSpPr>
          <p:cNvPr id="31" name="Tekst: [Osoba]"/>
          <p:cNvSpPr txBox="1"/>
          <p:nvPr/>
        </p:nvSpPr>
        <p:spPr>
          <a:xfrm>
            <a:off x="7200000" y="4752000"/>
            <a:ext cx="2340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32" name="Tekst: [Termin]"/>
          <p:cNvSpPr txBox="1"/>
          <p:nvPr/>
        </p:nvSpPr>
        <p:spPr>
          <a:xfrm>
            <a:off x="9720000" y="4752000"/>
            <a:ext cx="1608000" cy="612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3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kst: SLAJD 5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58 - do czego służy</a:t>
            </a:r>
          </a:p>
        </p:txBody>
      </p:sp>
      <p:sp>
        <p:nvSpPr>
          <p:cNvPr id="35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kst: NASTĘPNE KROKI: checklista ustaleń po sp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NASTĘPNE KROKI: checklista ustaleń po spotkaniu - zadanie, kto, termin.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Zaznaczony kwadrat = zrobione (skopiuj ikonę z pierwszego wiersza).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dwie strony tej samej sprawy]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59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5070000" cy="2268672"/>
          </a:xfrm>
          <a:prstGeom prst="roundRect">
            <a:avLst>
              <a:gd name="adj" fmla="val 714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[Dobra wiadomość]"/>
          <p:cNvSpPr txBox="1"/>
          <p:nvPr/>
        </p:nvSpPr>
        <p:spPr>
          <a:xfrm>
            <a:off x="1296000" y="2340000"/>
            <a:ext cx="4206000" cy="3962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120"/>
              </a:lnSpc>
            </a:pPr>
            <a:r>
              <a:rPr sz="3000" b="0" i="0">
                <a:solidFill>
                  <a:schemeClr val="accent1"/>
                </a:solidFill>
                <a:latin typeface="+mj-lt"/>
              </a:rPr>
              <a:t>[Dobra wiadomość]</a:t>
            </a:r>
          </a:p>
        </p:txBody>
      </p:sp>
      <p:sp>
        <p:nvSpPr>
          <p:cNvPr id="7" name="Tekst: [jedno zdanie: co rośnie]"/>
          <p:cNvSpPr txBox="1"/>
          <p:nvPr/>
        </p:nvSpPr>
        <p:spPr>
          <a:xfrm>
            <a:off x="1296000" y="2851440"/>
            <a:ext cx="4206000" cy="3566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8"/>
              </a:lnSpc>
            </a:pPr>
            <a:r>
              <a:rPr sz="2600" b="0" i="0">
                <a:solidFill>
                  <a:schemeClr val="tx1"/>
                </a:solidFill>
                <a:latin typeface="+mj-lt"/>
              </a:rPr>
              <a:t>[jedno zdanie: co rośnie]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6258000" y="1908000"/>
            <a:ext cx="5070000" cy="2268672"/>
          </a:xfrm>
          <a:prstGeom prst="roundRect">
            <a:avLst>
              <a:gd name="adj" fmla="val 714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Zła wiadomość]"/>
          <p:cNvSpPr txBox="1"/>
          <p:nvPr/>
        </p:nvSpPr>
        <p:spPr>
          <a:xfrm>
            <a:off x="6690000" y="2340000"/>
            <a:ext cx="4206000" cy="3962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120"/>
              </a:lnSpc>
            </a:pPr>
            <a:r>
              <a:rPr sz="3000" b="0" i="0">
                <a:solidFill>
                  <a:schemeClr val="accent2"/>
                </a:solidFill>
                <a:latin typeface="+mj-lt"/>
              </a:rPr>
              <a:t>[Zła wiadomość]</a:t>
            </a:r>
          </a:p>
        </p:txBody>
      </p:sp>
      <p:sp>
        <p:nvSpPr>
          <p:cNvPr id="10" name="Tekst: [jedno zdanie: co nas hamuje]"/>
          <p:cNvSpPr txBox="1"/>
          <p:nvPr/>
        </p:nvSpPr>
        <p:spPr>
          <a:xfrm>
            <a:off x="6690000" y="2851440"/>
            <a:ext cx="4206000" cy="713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8"/>
              </a:lnSpc>
            </a:pPr>
            <a:r>
              <a:rPr sz="2600" b="0" i="0">
                <a:solidFill>
                  <a:schemeClr val="tx1"/>
                </a:solidFill>
                <a:latin typeface="+mj-lt"/>
              </a:rPr>
              <a:t>[jedno zdanie:</a:t>
            </a:r>
          </a:p>
          <a:p>
            <a:pPr algn="l">
              <a:lnSpc>
                <a:spcPts val="2808"/>
              </a:lnSpc>
            </a:pPr>
            <a:r>
              <a:rPr sz="2600" b="0" i="0">
                <a:solidFill>
                  <a:schemeClr val="tx1"/>
                </a:solidFill>
                <a:latin typeface="+mj-lt"/>
              </a:rPr>
              <a:t>co nas hamuje]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SLAJD 5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59 -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9771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DWIE KARTY: dobra / zła wiadomość (albo "/>
          <p:cNvSpPr txBox="1"/>
          <p:nvPr/>
        </p:nvSpPr>
        <p:spPr>
          <a:xfrm>
            <a:off x="12552000" y="666000"/>
            <a:ext cx="2772000" cy="19771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DWIE KARTY: dobra / zła wiadomość (albo dwie strony jednej sprawy). Każda karta: nagłówek (zieleń albo czerwień) i jedno zdanie pod nim. Automat używa tego wzoru, gdy stary slajd ma dwie krótkie myśli typu 'Dobra wiadomość - ... / Zła wiadomość - ...'.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skąd ta teza]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60</a:t>
            </a:r>
          </a:p>
        </p:txBody>
      </p:sp>
      <p:sp>
        <p:nvSpPr>
          <p:cNvPr id="5" name="Tekst: „"/>
          <p:cNvSpPr txBox="1"/>
          <p:nvPr/>
        </p:nvSpPr>
        <p:spPr>
          <a:xfrm>
            <a:off x="864000" y="1415748"/>
            <a:ext cx="1080000" cy="18821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400" b="0" i="0">
                <a:solidFill>
                  <a:schemeClr val="accent1">
                    <a:lumMod val="45000"/>
                    <a:lumOff val="55000"/>
                  </a:schemeClr>
                </a:solidFill>
                <a:latin typeface="+mj-lt"/>
              </a:rPr>
              <a:t>„</a:t>
            </a:r>
          </a:p>
        </p:txBody>
      </p:sp>
      <p:sp>
        <p:nvSpPr>
          <p:cNvPr id="6" name="Tekst: [Cytat w jednym zdaniu, np. z badania al"/>
          <p:cNvSpPr txBox="1"/>
          <p:nvPr/>
        </p:nvSpPr>
        <p:spPr>
          <a:xfrm>
            <a:off x="1958400" y="1908000"/>
            <a:ext cx="9369600" cy="4711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3709"/>
              </a:lnSpc>
            </a:pPr>
            <a:r>
              <a:rPr sz="2650" b="0" i="1">
                <a:solidFill>
                  <a:schemeClr val="tx1"/>
                </a:solidFill>
                <a:latin typeface="+mn-lt"/>
              </a:rPr>
              <a:t>[Cytat w </a:t>
            </a:r>
            <a:r>
              <a:rPr sz="2650" b="0" i="1">
                <a:solidFill>
                  <a:schemeClr val="accent2"/>
                </a:solidFill>
                <a:latin typeface="+mn-lt"/>
              </a:rPr>
              <a:t>jednym zdaniu, </a:t>
            </a:r>
            <a:r>
              <a:rPr sz="2650" b="0" i="1">
                <a:solidFill>
                  <a:schemeClr val="tx1"/>
                </a:solidFill>
                <a:latin typeface="+mn-lt"/>
              </a:rPr>
              <a:t>np. z badania albo od eksperta]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1958400" y="2559170"/>
            <a:ext cx="864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[Imię Nazwisko, firma]"/>
          <p:cNvSpPr txBox="1"/>
          <p:nvPr/>
        </p:nvSpPr>
        <p:spPr>
          <a:xfrm>
            <a:off x="1958400" y="2685170"/>
            <a:ext cx="9369600" cy="28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[Imię Nazwisko, firma]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864000" y="3344400"/>
            <a:ext cx="10464000" cy="2725254"/>
          </a:xfrm>
          <a:prstGeom prst="roundRect">
            <a:avLst>
              <a:gd name="adj" fmla="val 5944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[Hasło 1]"/>
          <p:cNvSpPr txBox="1"/>
          <p:nvPr/>
        </p:nvSpPr>
        <p:spPr>
          <a:xfrm>
            <a:off x="1411200" y="3977100"/>
            <a:ext cx="9369600" cy="3360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646"/>
              </a:lnSpc>
            </a:pPr>
            <a:r>
              <a:rPr sz="2450" b="0" i="0">
                <a:solidFill>
                  <a:schemeClr val="tx1"/>
                </a:solidFill>
                <a:latin typeface="+mj-lt"/>
              </a:rPr>
              <a:t>[Hasło 1]</a:t>
            </a:r>
          </a:p>
        </p:txBody>
      </p:sp>
      <p:sp>
        <p:nvSpPr>
          <p:cNvPr id="11" name="Tekst: [Hasło 2 - najważniejsze]"/>
          <p:cNvSpPr txBox="1"/>
          <p:nvPr/>
        </p:nvSpPr>
        <p:spPr>
          <a:xfrm>
            <a:off x="1411200" y="4484142"/>
            <a:ext cx="9369600" cy="44577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3510"/>
              </a:lnSpc>
            </a:pPr>
            <a:r>
              <a:rPr sz="3250" b="0" i="0">
                <a:solidFill>
                  <a:schemeClr val="tx1"/>
                </a:solidFill>
                <a:latin typeface="+mj-lt"/>
              </a:rPr>
              <a:t>[Hasło 2 - najważniejsze]</a:t>
            </a:r>
          </a:p>
        </p:txBody>
      </p:sp>
      <p:sp>
        <p:nvSpPr>
          <p:cNvPr id="12" name="Tekst: = [Wniosek]"/>
          <p:cNvSpPr txBox="1"/>
          <p:nvPr/>
        </p:nvSpPr>
        <p:spPr>
          <a:xfrm>
            <a:off x="1411200" y="5100912"/>
            <a:ext cx="9369600" cy="3360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646"/>
              </a:lnSpc>
            </a:pPr>
            <a:r>
              <a:rPr sz="2450" b="0" i="0">
                <a:solidFill>
                  <a:schemeClr val="accent2"/>
                </a:solidFill>
                <a:latin typeface="+mj-lt"/>
              </a:rPr>
              <a:t>= [Wniosek]</a:t>
            </a:r>
          </a:p>
        </p:txBody>
      </p:sp>
      <p:sp>
        <p:nvSpPr>
          <p:cNvPr id="1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SLAJD 6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60 - do czego służy</a:t>
            </a:r>
          </a:p>
        </p:txBody>
      </p:sp>
      <p:sp>
        <p:nvSpPr>
          <p:cNvPr id="15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CYTAT + WNIOSEK: cytat z autorem (kursyw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CYTAT + WNIOSEK: cytat z autorem (kursywa, linia marki), pod nim karta z 2-3 wyśrodkowanymi hasłami. Słowa w kolorze zostają kolorem także w cytacie.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wniosek, nie temat]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61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1908000"/>
            <a:ext cx="10464000" cy="2880000"/>
          </a:xfrm>
          <a:prstGeom prst="roundRect">
            <a:avLst>
              <a:gd name="adj" fmla="val 5625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Akapit 1: 2-3 zdania z liczbą i jej źró"/>
          <p:cNvSpPr txBox="1"/>
          <p:nvPr/>
        </p:nvSpPr>
        <p:spPr>
          <a:xfrm>
            <a:off x="1440000" y="2964376"/>
            <a:ext cx="9312000" cy="293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12"/>
              </a:lnSpc>
            </a:pPr>
            <a:r>
              <a:rPr sz="1700" b="0" i="0">
                <a:solidFill>
                  <a:schemeClr val="tx1"/>
                </a:solidFill>
                <a:latin typeface="+mn-lt"/>
              </a:rPr>
              <a:t>[Akapit 1: 2-3 zdania z </a:t>
            </a:r>
            <a:r>
              <a:rPr sz="1700" b="0" i="0">
                <a:solidFill>
                  <a:schemeClr val="accent2"/>
                </a:solidFill>
                <a:latin typeface="+mn-lt"/>
              </a:rPr>
              <a:t>liczbą </a:t>
            </a:r>
            <a:r>
              <a:rPr sz="1700" b="0" i="0">
                <a:solidFill>
                  <a:schemeClr val="tx1"/>
                </a:solidFill>
                <a:latin typeface="+mn-lt"/>
              </a:rPr>
              <a:t>i jej źródłem w stopce.]</a:t>
            </a:r>
          </a:p>
        </p:txBody>
      </p:sp>
      <p:sp>
        <p:nvSpPr>
          <p:cNvPr id="8" name="Tekst: [Akapit 2: dopowiedzenie albo skutek dla"/>
          <p:cNvSpPr txBox="1"/>
          <p:nvPr/>
        </p:nvSpPr>
        <p:spPr>
          <a:xfrm>
            <a:off x="1440000" y="3438000"/>
            <a:ext cx="9312000" cy="293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12"/>
              </a:lnSpc>
            </a:pPr>
            <a:r>
              <a:rPr sz="1700" b="0" i="0">
                <a:solidFill>
                  <a:schemeClr val="tx1"/>
                </a:solidFill>
                <a:latin typeface="+mn-lt"/>
              </a:rPr>
              <a:t>[Akapit 2: dopowiedzenie albo skutek dla marki.]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SLAJD 6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61 -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AKAPIT W KARCIE Z WYRÓŻNIENIEM: 1-3 akap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AKAPIT W KARCIE Z WYRÓŻNIENIEM: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1-3 akapity Lato w kremowej karcie; 2-3 najważniejsze słowa w kolorze (czerwień = akcent, zieleń = marka). Dla tekstu, który musi zostać zdaniami, nie hasłami.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 z trzech faktów]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62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1908000"/>
            <a:ext cx="3272000" cy="1924872"/>
          </a:xfrm>
          <a:prstGeom prst="roundRect">
            <a:avLst>
              <a:gd name="adj" fmla="val 841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kst: [Fakt 1: zdanie z liczbą, np. 7,7 mln os"/>
          <p:cNvSpPr txBox="1"/>
          <p:nvPr/>
        </p:nvSpPr>
        <p:spPr>
          <a:xfrm>
            <a:off x="1296000" y="2340000"/>
            <a:ext cx="2408000" cy="8808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12"/>
              </a:lnSpc>
            </a:pPr>
            <a:r>
              <a:rPr sz="1700" b="0" i="0">
                <a:solidFill>
                  <a:schemeClr val="tx1"/>
                </a:solidFill>
                <a:latin typeface="+mn-lt"/>
              </a:rPr>
              <a:t>[Fakt 1: zdanie z liczbą, np. 7,7 mln osób to 20,6% ludności.]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4460000" y="1908000"/>
            <a:ext cx="3272000" cy="1924872"/>
          </a:xfrm>
          <a:prstGeom prst="roundRect">
            <a:avLst>
              <a:gd name="adj" fmla="val 841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kst: [Fakt 2: zdanie z liczbą, np. 7,7 mln os"/>
          <p:cNvSpPr txBox="1"/>
          <p:nvPr/>
        </p:nvSpPr>
        <p:spPr>
          <a:xfrm>
            <a:off x="4892000" y="2340000"/>
            <a:ext cx="2408000" cy="8808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12"/>
              </a:lnSpc>
            </a:pPr>
            <a:r>
              <a:rPr sz="1700" b="0" i="0">
                <a:solidFill>
                  <a:schemeClr val="tx1"/>
                </a:solidFill>
                <a:latin typeface="+mn-lt"/>
              </a:rPr>
              <a:t>[Fakt 2: zdanie z liczbą, np. 7,7 mln osób to 20,6% ludności.]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8056000" y="1908000"/>
            <a:ext cx="3272000" cy="1924872"/>
          </a:xfrm>
          <a:prstGeom prst="roundRect">
            <a:avLst>
              <a:gd name="adj" fmla="val 841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kst: [Fakt 3: zdanie z liczbą, np. 7,7 mln os"/>
          <p:cNvSpPr txBox="1"/>
          <p:nvPr/>
        </p:nvSpPr>
        <p:spPr>
          <a:xfrm>
            <a:off x="8488000" y="2340000"/>
            <a:ext cx="2408000" cy="8808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312"/>
              </a:lnSpc>
            </a:pPr>
            <a:r>
              <a:rPr sz="1700" b="0" i="0">
                <a:solidFill>
                  <a:schemeClr val="tx1"/>
                </a:solidFill>
                <a:latin typeface="+mn-lt"/>
              </a:rPr>
              <a:t>[Fakt 3: zdanie z liczbą, np. 7,7 mln osób to 20,6% ludności.]</a:t>
            </a:r>
          </a:p>
        </p:txBody>
      </p:sp>
      <p:sp>
        <p:nvSpPr>
          <p:cNvPr id="12" name="Tekst: [Wniosek jednym hasłem]"/>
          <p:cNvSpPr txBox="1"/>
          <p:nvPr/>
        </p:nvSpPr>
        <p:spPr>
          <a:xfrm>
            <a:off x="1146000" y="4156872"/>
            <a:ext cx="9900000" cy="4846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3816"/>
              </a:lnSpc>
            </a:pPr>
            <a:r>
              <a:rPr sz="3600" b="0" i="0">
                <a:solidFill>
                  <a:schemeClr val="tx1"/>
                </a:solidFill>
                <a:latin typeface="+mj-lt"/>
              </a:rPr>
              <a:t>[Wniosek jednym hasłem]</a:t>
            </a:r>
          </a:p>
        </p:txBody>
      </p:sp>
      <p:sp>
        <p:nvSpPr>
          <p:cNvPr id="1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kst: SLAJD 6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62 - do czego służy</a:t>
            </a:r>
          </a:p>
        </p:txBody>
      </p:sp>
      <p:sp>
        <p:nvSpPr>
          <p:cNvPr id="15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kst: TRZY FAKTY W KARTACH: trzy równe karty, 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TRZY FAKTY W KARTACH: trzy równe karty, w każdej jedno zdanie Lato z liczbą w środku zdania (liczba nie wychodzi do osobnego kafla). Pod kartami wniosek jednym hasłem.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co pokazują zrzuty]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63</a:t>
            </a:r>
          </a:p>
        </p:txBody>
      </p:sp>
      <p:pic>
        <p:nvPicPr>
          <p:cNvPr id="6" name="Zdjęcie - prawy klik: Zmień obraz (rogi i rozmiar zostają)" descr="pack_co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611" y="1908000"/>
            <a:ext cx="2614388" cy="3693384"/>
          </a:xfrm>
          <a:prstGeom prst="roundRect">
            <a:avLst>
              <a:gd name="adj" fmla="val 4130"/>
            </a:avLst>
          </a:prstGeom>
        </p:spPr>
      </p:pic>
      <p:pic>
        <p:nvPicPr>
          <p:cNvPr id="7" name="Zdjęcie - prawy klik: Zmień obraz (rogi i rozmiar zostają)" descr="pack_co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000" y="1908000"/>
            <a:ext cx="2614388" cy="3693384"/>
          </a:xfrm>
          <a:prstGeom prst="roundRect">
            <a:avLst>
              <a:gd name="adj" fmla="val 4130"/>
            </a:avLst>
          </a:prstGeom>
        </p:spPr>
      </p:pic>
      <p:sp>
        <p:nvSpPr>
          <p:cNvPr id="8" name="Tekst: [Wniosek pod zrzutami jednym zdaniem]"/>
          <p:cNvSpPr txBox="1"/>
          <p:nvPr/>
        </p:nvSpPr>
        <p:spPr>
          <a:xfrm>
            <a:off x="1146000" y="5781384"/>
            <a:ext cx="9900000" cy="3566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ts val="2808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[Wniosek pod zrzutami jednym zdaniem]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SLAJD 6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63 -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kst: ZRZUTY W CAŁOŚCI + WNIOSEK: dwa obrazy b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ZRZUTY W CAŁOŚCI + WNIOSEK: dwa obrazy bez kadrowania (zrzuty ekranu, wykresy) i pod nimi jedno zdanie Mindsetem w zieleni. Źródło zostaje drobnym drukiem w stopce.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000" y="1512000"/>
            <a:ext cx="2952000" cy="2177100"/>
          </a:xfrm>
          <a:prstGeom prst="rect">
            <a:avLst/>
          </a:prstGeom>
        </p:spPr>
      </p:pic>
      <p:sp>
        <p:nvSpPr>
          <p:cNvPr id="3" name="Tekst: #zawszedobra"/>
          <p:cNvSpPr txBox="1"/>
          <p:nvPr/>
        </p:nvSpPr>
        <p:spPr>
          <a:xfrm>
            <a:off x="0" y="3960000"/>
            <a:ext cx="12192000" cy="648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4000" b="0" i="0">
                <a:solidFill>
                  <a:schemeClr val="bg1"/>
                </a:solidFill>
                <a:latin typeface="+mj-lt"/>
              </a:rPr>
              <a:t>#zawszedobra</a:t>
            </a:r>
          </a:p>
        </p:txBody>
      </p:sp>
      <p:sp>
        <p:nvSpPr>
          <p:cNvPr id="4" name="Tekst: halo@dobrakaloria.pl · dobrakaloria.pl"/>
          <p:cNvSpPr txBox="1"/>
          <p:nvPr/>
        </p:nvSpPr>
        <p:spPr>
          <a:xfrm>
            <a:off x="0" y="4752000"/>
            <a:ext cx="12192000" cy="36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5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halo@dobrakaloria.pl · dobrakaloria.pl</a:t>
            </a:r>
          </a:p>
        </p:txBody>
      </p:sp>
      <p:sp>
        <p:nvSpPr>
          <p:cNvPr id="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kst: SLAJD 6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64 - do czego służy</a:t>
            </a:r>
          </a:p>
        </p:txBody>
      </p:sp>
      <p:sp>
        <p:nvSpPr>
          <p:cNvPr id="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Zakończenie: zieleń marki, logo, #zawsz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Zakończenie: zieleń marki, logo, #zawszedobra. Standardowy ostatni slajd.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ło - zieleń marki (kolor: Projektowanie &gt; Warianty &gt; Kolory)"/>
          <p:cNvSpPr/>
          <p:nvPr/>
        </p:nvSpPr>
        <p:spPr>
          <a:xfrm>
            <a:off x="0" y="4986000"/>
            <a:ext cx="12192000" cy="1872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ytuł slajdu"/>
          <p:cNvSpPr txBox="1"/>
          <p:nvPr/>
        </p:nvSpPr>
        <p:spPr>
          <a:xfrm>
            <a:off x="864000" y="1152000"/>
            <a:ext cx="8640000" cy="1584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600" b="0" i="0">
                <a:solidFill>
                  <a:schemeClr val="tx1"/>
                </a:solidFill>
                <a:latin typeface="+mj-lt"/>
              </a:rPr>
              <a:t>Dziękujemy</a:t>
            </a:r>
          </a:p>
        </p:txBody>
      </p:sp>
      <p:sp>
        <p:nvSpPr>
          <p:cNvPr id="4" name="Tekst: [Jedno zdanie na pożegnanie]"/>
          <p:cNvSpPr txBox="1"/>
          <p:nvPr/>
        </p:nvSpPr>
        <p:spPr>
          <a:xfrm>
            <a:off x="864000" y="2664000"/>
            <a:ext cx="792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 na pożegnanie]</a:t>
            </a:r>
          </a:p>
        </p:txBody>
      </p:sp>
      <p:pic>
        <p:nvPicPr>
          <p:cNvPr id="5" name="Logo marki" descr="logo_whit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5418000"/>
            <a:ext cx="1368000" cy="1008900"/>
          </a:xfrm>
          <a:prstGeom prst="rect">
            <a:avLst/>
          </a:prstGeom>
        </p:spPr>
      </p:pic>
      <p:sp>
        <p:nvSpPr>
          <p:cNvPr id="6" name="Tekst: [Imię Nazwisko] · [telefon] · [e-mail]"/>
          <p:cNvSpPr txBox="1"/>
          <p:nvPr/>
        </p:nvSpPr>
        <p:spPr>
          <a:xfrm>
            <a:off x="2952000" y="5598000"/>
            <a:ext cx="8592000" cy="720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ts val="24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[Imię Nazwisko] · [telefon] · [e-mail]</a:t>
            </a:r>
          </a:p>
        </p:txBody>
      </p:sp>
      <p:sp>
        <p:nvSpPr>
          <p:cNvPr id="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kst: SLAJD 6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65 - do czego służy</a:t>
            </a:r>
          </a:p>
        </p:txBody>
      </p:sp>
      <p:sp>
        <p:nvSpPr>
          <p:cNvPr id="9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kst: Zakończenie z podziękowaniem i kontaktem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Zakończenie z podziękowaniem i kontaktem. Gdy chcesz zostawić dane na ekranie podczas rozmowy.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Dobra Kaloria - sklep">
      <a:dk1>
        <a:srgbClr val="3B2A20"/>
      </a:dk1>
      <a:lt1>
        <a:srgbClr val="FFFFFF"/>
      </a:lt1>
      <a:dk2>
        <a:srgbClr val="0F763E"/>
      </a:dk2>
      <a:lt2>
        <a:srgbClr val="FFFFFF"/>
      </a:lt2>
      <a:accent1>
        <a:srgbClr val="0F763E"/>
      </a:accent1>
      <a:accent2>
        <a:srgbClr val="DA272D"/>
      </a:accent2>
      <a:accent3>
        <a:srgbClr val="FDF8EC"/>
      </a:accent3>
      <a:accent4>
        <a:srgbClr val="E9F2EC"/>
      </a:accent4>
      <a:accent5>
        <a:srgbClr val="AD8767"/>
      </a:accent5>
      <a:accent6>
        <a:srgbClr val="FFD42A"/>
      </a:accent6>
      <a:hlink>
        <a:srgbClr val="0F763E"/>
      </a:hlink>
      <a:folHlink>
        <a:srgbClr val="AD8767"/>
      </a:folHlink>
    </a:clrScheme>
    <a:fontScheme name="Dobra Kaloria">
      <a:majorFont>
        <a:latin typeface="Mindset"/>
        <a:ea typeface=""/>
        <a:cs typeface=""/>
      </a:majorFont>
      <a:minorFont>
        <a:latin typeface="Lato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6867396-5431-4086-94b1-a83fd19b5488" xsi:nil="true"/>
    <lcf76f155ced4ddcb4097134ff3c332f xmlns="94b33eb7-cd84-442f-b122-2f648911b0a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9F761B32350A64EBEC78F2CCFC18C5D" ma:contentTypeVersion="13" ma:contentTypeDescription="Utwórz nowy dokument." ma:contentTypeScope="" ma:versionID="608b8f8d4f5073d701748d7a6747c81d">
  <xsd:schema xmlns:xsd="http://www.w3.org/2001/XMLSchema" xmlns:xs="http://www.w3.org/2001/XMLSchema" xmlns:p="http://schemas.microsoft.com/office/2006/metadata/properties" xmlns:ns2="d6867396-5431-4086-94b1-a83fd19b5488" xmlns:ns3="94b33eb7-cd84-442f-b122-2f648911b0a7" targetNamespace="http://schemas.microsoft.com/office/2006/metadata/properties" ma:root="true" ma:fieldsID="050a7089316fcb85d8f2259e6aaea14d" ns2:_="" ns3:_="">
    <xsd:import namespace="d6867396-5431-4086-94b1-a83fd19b5488"/>
    <xsd:import namespace="94b33eb7-cd84-442f-b122-2f648911b0a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867396-5431-4086-94b1-a83fd19b548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Udostępniani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Udostępnione dla — szczegóły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cf7dbd2-b589-4601-b95c-d39c999dd6a3}" ma:internalName="TaxCatchAll" ma:showField="CatchAllData" ma:web="d6867396-5431-4086-94b1-a83fd19b54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b33eb7-cd84-442f-b122-2f648911b0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Tagi obrazów" ma:readOnly="false" ma:fieldId="{5cf76f15-5ced-4ddc-b409-7134ff3c332f}" ma:taxonomyMulti="true" ma:sspId="2fd26a8e-1c70-4d17-9cd2-54b27e6576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zawartości"/>
        <xsd:element ref="dc:title" minOccurs="0" maxOccurs="1" ma:index="4" ma:displayName="Tytuł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CFB45FE-990D-41E1-A6D4-781B0EEB194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836A581-BEFF-4B9F-99CC-87FDFAC9D739}">
  <ds:schemaRefs>
    <ds:schemaRef ds:uri="http://schemas.microsoft.com/office/2006/metadata/properties"/>
    <ds:schemaRef ds:uri="http://schemas.microsoft.com/office/infopath/2007/PartnerControls"/>
    <ds:schemaRef ds:uri="9d6cbd33-be71-4b15-99ec-0752042eaaae"/>
    <ds:schemaRef ds:uri="d6867396-5431-4086-94b1-a83fd19b5488"/>
    <ds:schemaRef ds:uri="94b33eb7-cd84-442f-b122-2f648911b0a7"/>
  </ds:schemaRefs>
</ds:datastoreItem>
</file>

<file path=customXml/itemProps3.xml><?xml version="1.0" encoding="utf-8"?>
<ds:datastoreItem xmlns:ds="http://schemas.openxmlformats.org/officeDocument/2006/customXml" ds:itemID="{C9F51E23-2C4C-49DC-9EA1-2872BBF7C2F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867396-5431-4086-94b1-a83fd19b5488"/>
    <ds:schemaRef ds:uri="94b33eb7-cd84-442f-b122-2f648911b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20502</TotalTime>
  <Words>56</Words>
  <Application>Microsoft Office PowerPoint</Application>
  <PresentationFormat>Panoramiczny</PresentationFormat>
  <Paragraphs>19</Paragraphs>
  <Slides>5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5</vt:i4>
      </vt:variant>
    </vt:vector>
  </HeadingPairs>
  <TitlesOfParts>
    <vt:vector size="11" baseType="lpstr">
      <vt:lpstr>Mindset</vt:lpstr>
      <vt:lpstr>Calibri</vt:lpstr>
      <vt:lpstr>Arial</vt:lpstr>
      <vt:lpstr>Calibri Light</vt:lpstr>
      <vt:lpstr>Mindset Slim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601579800</dc:creator>
  <cp:lastModifiedBy>Kinga Urbańska</cp:lastModifiedBy>
  <cp:revision>215</cp:revision>
  <dcterms:created xsi:type="dcterms:W3CDTF">2019-03-12T13:50:45Z</dcterms:created>
  <dcterms:modified xsi:type="dcterms:W3CDTF">2026-08-10T08:22:05Z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0x01010029F761B32350A64EBEC78F2CCFC18C5D</vt:lpwstr>
  </property>
</Properties>
</file>